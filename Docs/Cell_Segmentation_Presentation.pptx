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db4465-e908-b050-cae2-381c62c8ce68}">
          <p14:sldIdLst>
            <p14:sldId id="256"/>
            <p14:sldId id="257"/>
            <p14:sldId id="258"/>
            <p14:sldId id="259"/>
          </p14:sldIdLst>
        </p14:section>
        <p14:section name="Development process" id="{476e9cf8-7d61-ce8f-5103-d109be2ec9ce}">
          <p14:sldIdLst>
            <p14:sldId id="260"/>
            <p14:sldId id="261"/>
          </p14:sldIdLst>
        </p14:section>
        <p14:section name="Architecture" id="{64e4059b-15d2-a611-157d-2ac4f231e45c}">
          <p14:sldIdLst>
            <p14:sldId id="262"/>
            <p14:sldId id="263"/>
            <p14:sldId id="264"/>
          </p14:sldIdLst>
        </p14:section>
        <p14:section name="Dataset" id="{f6c3777a-9485-0cda-a8b4-b5c6f6fbd2f0}">
          <p14:sldIdLst>
            <p14:sldId id="265"/>
            <p14:sldId id="266"/>
          </p14:sldIdLst>
        </p14:section>
        <p14:section name="Method" id="{560b1d5a-af20-8977-5038-aab3fb078ae3}">
          <p14:sldIdLst>
            <p14:sldId id="267"/>
            <p14:sldId id="268"/>
            <p14:sldId id="269"/>
            <p14:sldId id="270"/>
            <p14:sldId id="271"/>
            <p14:sldId id="272"/>
          </p14:sldIdLst>
        </p14:section>
        <p14:section name="Parameters" id="{945c796d-8bc6-7d5b-5ed7-f7a4fd22ad9c}">
          <p14:sldIdLst>
            <p14:sldId id="273"/>
            <p14:sldId id="274"/>
            <p14:sldId id="275"/>
          </p14:sldIdLst>
        </p14:section>
        <p14:section name="Results" id="{5c5ac625-00c7-d9fb-b6dc-6898c869b922}">
          <p14:sldIdLst>
            <p14:sldId id="276"/>
            <p14:sldId id="277"/>
          </p14:sldIdLst>
        </p14:section>
        <p14:section name="Software &amp; demo" id="{972ac3b6-190d-98ba-a970-15e7677b11c7}">
          <p14:sldIdLst>
            <p14:sldId id="278"/>
            <p14:sldId id="279"/>
          </p14:sldIdLst>
        </p14:section>
        <p14:section name="Conclusion" id="{c5510de4-3aa4-166a-b163-6dcdafaf3543}">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A33"/>
                </a:solidFill>
                <a:latin typeface="+mn-lt"/>
              </a:defRPr>
            </a:pPr>
            <a:r>
              <a:rPr sz="1400" b="0" i="0" u="none" strike="noStrike">
                <a:solidFill>
                  <a:srgbClr val="1B1A33"/>
                </a:solidFill>
                <a:latin typeface="+mn-lt"/>
              </a:rPr>
              <a:t>Loss (BCE + Dice) per epoch</a:t>
            </a:r>
          </a:p>
        </c:rich>
      </c:tx>
      <c:layout/>
      <c:overlay val="0"/>
    </c:title>
    <c:autoTitleDeleted val="0"/>
    <c:plotArea>
      <c:layout/>
      <c:lineChart>
        <c:varyColors val="0"/>
        <c:ser>
          <c:idx val="0"/>
          <c:order val="0"/>
          <c:tx>
            <c:strRef>
              <c:f>Sheet1!$B$1</c:f>
              <c:strCache>
                <c:ptCount val="1"/>
                <c:pt idx="0">
                  <c:v>Train loss</c:v>
                </c:pt>
              </c:strCache>
            </c:strRef>
          </c:tx>
          <c:spPr>
            <a:solidFill>
              <a:srgbClr val="5B3FD1"/>
            </a:solidFill>
            <a:ln w="25400" cap="flat">
              <a:solidFill>
                <a:srgbClr val="5B3FD1"/>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5B3FD1"/>
              </a:solidFill>
              <a:ln w="9525" cap="flat">
                <a:solidFill>
                  <a:srgbClr val="5B3FD1"/>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Sheet1!$B$2:$B$29</c:f>
              <c:numCache>
                <c:formatCode>General</c:formatCode>
                <c:ptCount val="28"/>
                <c:pt idx="0">
                  <c:v>1.261</c:v>
                </c:pt>
                <c:pt idx="1">
                  <c:v>0.976</c:v>
                </c:pt>
                <c:pt idx="2">
                  <c:v>0.863</c:v>
                </c:pt>
                <c:pt idx="3">
                  <c:v>0.752</c:v>
                </c:pt>
                <c:pt idx="4">
                  <c:v>0.653</c:v>
                </c:pt>
                <c:pt idx="5">
                  <c:v>0.58</c:v>
                </c:pt>
                <c:pt idx="6">
                  <c:v>0.505</c:v>
                </c:pt>
                <c:pt idx="7">
                  <c:v>0.455</c:v>
                </c:pt>
                <c:pt idx="8">
                  <c:v>0.398</c:v>
                </c:pt>
                <c:pt idx="9">
                  <c:v>0.363</c:v>
                </c:pt>
                <c:pt idx="10">
                  <c:v>0.332</c:v>
                </c:pt>
                <c:pt idx="11">
                  <c:v>0.301</c:v>
                </c:pt>
                <c:pt idx="12">
                  <c:v>0.28</c:v>
                </c:pt>
                <c:pt idx="13">
                  <c:v>0.268</c:v>
                </c:pt>
                <c:pt idx="14">
                  <c:v>0.251</c:v>
                </c:pt>
                <c:pt idx="15">
                  <c:v>0.247</c:v>
                </c:pt>
                <c:pt idx="16">
                  <c:v>0.243</c:v>
                </c:pt>
                <c:pt idx="17">
                  <c:v>0.232</c:v>
                </c:pt>
                <c:pt idx="18">
                  <c:v>0.225</c:v>
                </c:pt>
                <c:pt idx="19">
                  <c:v>0.223</c:v>
                </c:pt>
                <c:pt idx="20">
                  <c:v>0.213</c:v>
                </c:pt>
                <c:pt idx="21">
                  <c:v>0.206</c:v>
                </c:pt>
                <c:pt idx="22">
                  <c:v>0.21</c:v>
                </c:pt>
                <c:pt idx="23">
                  <c:v>0.207</c:v>
                </c:pt>
                <c:pt idx="24">
                  <c:v>0.206</c:v>
                </c:pt>
                <c:pt idx="25">
                  <c:v>0.206</c:v>
                </c:pt>
                <c:pt idx="26">
                  <c:v>0.192</c:v>
                </c:pt>
                <c:pt idx="27">
                  <c:v>0.194</c:v>
                </c:pt>
              </c:numCache>
            </c:numRef>
          </c:val>
          <c:smooth val="0"/>
        </c:ser>
        <c:ser>
          <c:idx val="1"/>
          <c:order val="1"/>
          <c:tx>
            <c:strRef>
              <c:f>Sheet1!$C$1</c:f>
              <c:strCache>
                <c:ptCount val="1"/>
                <c:pt idx="0">
                  <c:v>Validation loss</c:v>
                </c:pt>
              </c:strCache>
            </c:strRef>
          </c:tx>
          <c:spPr>
            <a:solidFill>
              <a:srgbClr val="D6457A"/>
            </a:solidFill>
            <a:ln w="25400" cap="flat">
              <a:solidFill>
                <a:srgbClr val="D6457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D6457A"/>
              </a:solidFill>
              <a:ln w="9525" cap="flat">
                <a:solidFill>
                  <a:srgbClr val="D6457A"/>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Sheet1!$C$2:$C$29</c:f>
              <c:numCache>
                <c:formatCode>General</c:formatCode>
                <c:ptCount val="28"/>
                <c:pt idx="0">
                  <c:v>1.092</c:v>
                </c:pt>
                <c:pt idx="1">
                  <c:v>0.924</c:v>
                </c:pt>
                <c:pt idx="2">
                  <c:v>0.825</c:v>
                </c:pt>
                <c:pt idx="3">
                  <c:v>0.676</c:v>
                </c:pt>
                <c:pt idx="4">
                  <c:v>0.621</c:v>
                </c:pt>
                <c:pt idx="5">
                  <c:v>0.539</c:v>
                </c:pt>
                <c:pt idx="6">
                  <c:v>0.487</c:v>
                </c:pt>
                <c:pt idx="7">
                  <c:v>0.412</c:v>
                </c:pt>
                <c:pt idx="8">
                  <c:v>0.387</c:v>
                </c:pt>
                <c:pt idx="9">
                  <c:v>0.339</c:v>
                </c:pt>
                <c:pt idx="10">
                  <c:v>0.31</c:v>
                </c:pt>
                <c:pt idx="11">
                  <c:v>0.291</c:v>
                </c:pt>
                <c:pt idx="12">
                  <c:v>0.279</c:v>
                </c:pt>
                <c:pt idx="13">
                  <c:v>0.269</c:v>
                </c:pt>
                <c:pt idx="14">
                  <c:v>0.25</c:v>
                </c:pt>
                <c:pt idx="15">
                  <c:v>0.24</c:v>
                </c:pt>
                <c:pt idx="16">
                  <c:v>0.235</c:v>
                </c:pt>
                <c:pt idx="17">
                  <c:v>0.233</c:v>
                </c:pt>
                <c:pt idx="18">
                  <c:v>0.232</c:v>
                </c:pt>
                <c:pt idx="19">
                  <c:v>0.23</c:v>
                </c:pt>
                <c:pt idx="20">
                  <c:v>0.226</c:v>
                </c:pt>
                <c:pt idx="21">
                  <c:v>0.225</c:v>
                </c:pt>
                <c:pt idx="22">
                  <c:v>0.22</c:v>
                </c:pt>
                <c:pt idx="23">
                  <c:v>0.214</c:v>
                </c:pt>
                <c:pt idx="24">
                  <c:v>0.22</c:v>
                </c:pt>
                <c:pt idx="25">
                  <c:v>0.229</c:v>
                </c:pt>
                <c:pt idx="26">
                  <c:v>0.217</c:v>
                </c:pt>
                <c:pt idx="27">
                  <c:v>0.215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4748B"/>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6350" cap="flat">
              <a:solidFill>
                <a:srgbClr val="E2E5EC"/>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4748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A33"/>
                </a:solidFill>
                <a:latin typeface="+mn-lt"/>
              </a:defRPr>
            </a:pPr>
            <a:r>
              <a:rPr sz="1400" b="0" i="0" u="none" strike="noStrike">
                <a:solidFill>
                  <a:srgbClr val="1B1A33"/>
                </a:solidFill>
                <a:latin typeface="+mn-lt"/>
              </a:rPr>
              <a:t>Validation accuracy per epoch</a:t>
            </a:r>
          </a:p>
        </c:rich>
      </c:tx>
      <c:layout/>
      <c:overlay val="0"/>
    </c:title>
    <c:autoTitleDeleted val="0"/>
    <c:plotArea>
      <c:layout/>
      <c:lineChart>
        <c:varyColors val="0"/>
        <c:ser>
          <c:idx val="0"/>
          <c:order val="0"/>
          <c:tx>
            <c:strRef>
              <c:f>Sheet1!$B$1</c:f>
              <c:strCache>
                <c:ptCount val="1"/>
                <c:pt idx="0">
                  <c:v>Validation Dice</c:v>
                </c:pt>
              </c:strCache>
            </c:strRef>
          </c:tx>
          <c:spPr>
            <a:solidFill>
              <a:srgbClr val="0E9384"/>
            </a:solidFill>
            <a:ln w="25400" cap="flat">
              <a:solidFill>
                <a:srgbClr val="0E938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E9384"/>
              </a:solidFill>
              <a:ln w="9525" cap="flat">
                <a:solidFill>
                  <a:srgbClr val="0E9384"/>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Sheet1!$B$2:$B$29</c:f>
              <c:numCache>
                <c:formatCode>General</c:formatCode>
                <c:ptCount val="28"/>
                <c:pt idx="0">
                  <c:v>0.639</c:v>
                </c:pt>
                <c:pt idx="1">
                  <c:v>0.75</c:v>
                </c:pt>
                <c:pt idx="2">
                  <c:v>0.803</c:v>
                </c:pt>
                <c:pt idx="3">
                  <c:v>0.852</c:v>
                </c:pt>
                <c:pt idx="4">
                  <c:v>0.855</c:v>
                </c:pt>
                <c:pt idx="5">
                  <c:v>0.871</c:v>
                </c:pt>
                <c:pt idx="6">
                  <c:v>0.877</c:v>
                </c:pt>
                <c:pt idx="7">
                  <c:v>0.888</c:v>
                </c:pt>
                <c:pt idx="8">
                  <c:v>0.881</c:v>
                </c:pt>
                <c:pt idx="9">
                  <c:v>0.89</c:v>
                </c:pt>
                <c:pt idx="10">
                  <c:v>0.89</c:v>
                </c:pt>
                <c:pt idx="11">
                  <c:v>0.896</c:v>
                </c:pt>
                <c:pt idx="12">
                  <c:v>0.893</c:v>
                </c:pt>
                <c:pt idx="13">
                  <c:v>0.89</c:v>
                </c:pt>
                <c:pt idx="14">
                  <c:v>0.897</c:v>
                </c:pt>
                <c:pt idx="15">
                  <c:v>0.9</c:v>
                </c:pt>
                <c:pt idx="16">
                  <c:v>0.897</c:v>
                </c:pt>
                <c:pt idx="17">
                  <c:v>0.899</c:v>
                </c:pt>
                <c:pt idx="18">
                  <c:v>0.896</c:v>
                </c:pt>
                <c:pt idx="19">
                  <c:v>0.902</c:v>
                </c:pt>
                <c:pt idx="20">
                  <c:v>0.898</c:v>
                </c:pt>
                <c:pt idx="21">
                  <c:v>0.899</c:v>
                </c:pt>
                <c:pt idx="22">
                  <c:v>0.902</c:v>
                </c:pt>
                <c:pt idx="23">
                  <c:v>0.902</c:v>
                </c:pt>
                <c:pt idx="24">
                  <c:v>0.902</c:v>
                </c:pt>
                <c:pt idx="25">
                  <c:v>0.894</c:v>
                </c:pt>
                <c:pt idx="26">
                  <c:v>0.897</c:v>
                </c:pt>
                <c:pt idx="27">
                  <c:v>0.899</c:v>
                </c:pt>
              </c:numCache>
            </c:numRef>
          </c:val>
          <c:smooth val="0"/>
        </c:ser>
        <c:ser>
          <c:idx val="1"/>
          <c:order val="1"/>
          <c:tx>
            <c:strRef>
              <c:f>Sheet1!$C$1</c:f>
              <c:strCache>
                <c:ptCount val="1"/>
                <c:pt idx="0">
                  <c:v>Validation IoU</c:v>
                </c:pt>
              </c:strCache>
            </c:strRef>
          </c:tx>
          <c:spPr>
            <a:solidFill>
              <a:srgbClr val="E08A1E"/>
            </a:solidFill>
            <a:ln w="2540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Sheet1!$C$2:$C$29</c:f>
              <c:numCache>
                <c:formatCode>General</c:formatCode>
                <c:ptCount val="28"/>
                <c:pt idx="0">
                  <c:v>0.489</c:v>
                </c:pt>
                <c:pt idx="1">
                  <c:v>0.617</c:v>
                </c:pt>
                <c:pt idx="2">
                  <c:v>0.687</c:v>
                </c:pt>
                <c:pt idx="3">
                  <c:v>0.758</c:v>
                </c:pt>
                <c:pt idx="4">
                  <c:v>0.764</c:v>
                </c:pt>
                <c:pt idx="5">
                  <c:v>0.787</c:v>
                </c:pt>
                <c:pt idx="6">
                  <c:v>0.797</c:v>
                </c:pt>
                <c:pt idx="7">
                  <c:v>0.815</c:v>
                </c:pt>
                <c:pt idx="8">
                  <c:v>0.804</c:v>
                </c:pt>
                <c:pt idx="9">
                  <c:v>0.815</c:v>
                </c:pt>
                <c:pt idx="10">
                  <c:v>0.816</c:v>
                </c:pt>
                <c:pt idx="11">
                  <c:v>0.826</c:v>
                </c:pt>
                <c:pt idx="12">
                  <c:v>0.821</c:v>
                </c:pt>
                <c:pt idx="13">
                  <c:v>0.816</c:v>
                </c:pt>
                <c:pt idx="14">
                  <c:v>0.827</c:v>
                </c:pt>
                <c:pt idx="15">
                  <c:v>0.833</c:v>
                </c:pt>
                <c:pt idx="16">
                  <c:v>0.829</c:v>
                </c:pt>
                <c:pt idx="17">
                  <c:v>0.83</c:v>
                </c:pt>
                <c:pt idx="18">
                  <c:v>0.828</c:v>
                </c:pt>
                <c:pt idx="19">
                  <c:v>0.835</c:v>
                </c:pt>
                <c:pt idx="20">
                  <c:v>0.828</c:v>
                </c:pt>
                <c:pt idx="21">
                  <c:v>0.831</c:v>
                </c:pt>
                <c:pt idx="22">
                  <c:v>0.835</c:v>
                </c:pt>
                <c:pt idx="23">
                  <c:v>0.836</c:v>
                </c:pt>
                <c:pt idx="24">
                  <c:v>0.835</c:v>
                </c:pt>
                <c:pt idx="25">
                  <c:v>0.822</c:v>
                </c:pt>
                <c:pt idx="26">
                  <c:v>0.827</c:v>
                </c:pt>
                <c:pt idx="27">
                  <c:v>0.832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4748B"/>
                </a:solidFill>
                <a:latin typeface="+mn-lt"/>
              </a:defRPr>
            </a:pPr>
            <a:endParaRPr lang="en-US"/>
          </a:p>
        </c:txPr>
        <c:crossAx val="2094734552"/>
        <c:crosses val="autoZero"/>
        <c:auto val="1"/>
        <c:lblAlgn val="ctr"/>
        <c:noMultiLvlLbl val="1"/>
        <c:tickLblSkip val="3"/>
      </c:catAx>
      <c:valAx>
        <c:axId val="2094734552"/>
        <c:scaling>
          <c:orientation val="minMax"/>
          <c:max val="1"/>
          <c:min val="0.4"/>
        </c:scaling>
        <c:delete val="0"/>
        <c:axPos val="l"/>
        <c:majorGridlines>
          <c:spPr>
            <a:ln w="6350" cap="flat">
              <a:solidFill>
                <a:srgbClr val="E2E5EC"/>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100">
              <a:solidFill>
                <a:srgbClr val="64748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A33"/>
                </a:solidFill>
                <a:latin typeface="+mn-lt"/>
              </a:defRPr>
            </a:pPr>
            <a:r>
              <a:rPr sz="1400" b="0" i="0" u="none" strike="noStrike">
                <a:solidFill>
                  <a:srgbClr val="1B1A33"/>
                </a:solidFill>
                <a:latin typeface="+mn-lt"/>
              </a:rPr>
              <a:t>Test split (67 images), before vs after</a:t>
            </a:r>
          </a:p>
        </c:rich>
      </c:tx>
      <c:layout/>
      <c:overlay val="0"/>
    </c:title>
    <c:autoTitleDeleted val="0"/>
    <c:plotArea>
      <c:layout/>
      <c:barChart>
        <c:barDir val="col"/>
        <c:grouping val="clustered"/>
        <c:varyColors val="0"/>
        <c:ser>
          <c:idx val="0"/>
          <c:order val="0"/>
          <c:tx>
            <c:strRef>
              <c:f>Sheet1!$B$1</c:f>
              <c:strCache>
                <c:ptCount val="1"/>
                <c:pt idx="0">
                  <c:v>Mockup defaults</c:v>
                </c:pt>
              </c:strCache>
            </c:strRef>
          </c:tx>
          <c:spPr>
            <a:solidFill>
              <a:srgbClr val="B8B2D6"/>
            </a:solidFill>
            <a:effectLst/>
          </c:spPr>
          <c:invertIfNegative val="0"/>
          <c:dLbls>
            <c:numFmt formatCode="0.000" sourceLinked="0"/>
            <c:txPr>
              <a:bodyPr/>
              <a:lstStyle/>
              <a:p>
                <a:pPr>
                  <a:defRPr b="0" i="0" strike="noStrike" sz="1000" u="none">
                    <a:solidFill>
                      <a:srgbClr val="1B1A33"/>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Cell F1</c:v>
                  </c:pt>
                  <c:pt idx="3">
                    <c:v>Dice</c:v>
                  </c:pt>
                </c:lvl>
              </c:multiLvlStrCache>
            </c:multiLvlStrRef>
          </c:cat>
          <c:val>
            <c:numRef>
              <c:f>Sheet1!$B$2:$B$5</c:f>
              <c:numCache>
                <c:formatCode>General</c:formatCode>
                <c:ptCount val="4"/>
                <c:pt idx="0">
                  <c:v>0.87</c:v>
                </c:pt>
                <c:pt idx="1">
                  <c:v>0.78</c:v>
                </c:pt>
                <c:pt idx="2">
                  <c:v>0.823</c:v>
                </c:pt>
                <c:pt idx="3">
                  <c:v>0.907</c:v>
                </c:pt>
              </c:numCache>
            </c:numRef>
          </c:val>
        </c:ser>
        <c:ser>
          <c:idx val="1"/>
          <c:order val="1"/>
          <c:tx>
            <c:strRef>
              <c:f>Sheet1!$C$1</c:f>
              <c:strCache>
                <c:ptCount val="1"/>
                <c:pt idx="0">
                  <c:v>Tuned defaults</c:v>
                </c:pt>
              </c:strCache>
            </c:strRef>
          </c:tx>
          <c:spPr>
            <a:solidFill>
              <a:srgbClr val="5B3FD1"/>
            </a:solidFill>
            <a:effectLst/>
          </c:spPr>
          <c:invertIfNegative val="0"/>
          <c:dLbls>
            <c:numFmt formatCode="0.000" sourceLinked="0"/>
            <c:txPr>
              <a:bodyPr/>
              <a:lstStyle/>
              <a:p>
                <a:pPr>
                  <a:defRPr b="0" i="0" strike="noStrike" sz="1000" u="none">
                    <a:solidFill>
                      <a:srgbClr val="1B1A33"/>
                    </a:solidFill>
                    <a:latin typeface="+mn-lt"/>
                  </a:defRPr>
                </a:pPr>
              </a:p>
            </c:txPr>
            <c:showLegendKey val="0"/>
            <c:showVal val="1"/>
            <c:showCatName val="0"/>
            <c:showSerName val="0"/>
            <c:showPercent val="0"/>
            <c:showBubbleSize val="0"/>
            <c:showLeaderLines val="0"/>
          </c:dLbls>
          <c:cat>
            <c:multiLvlStrRef>
              <c:f>Sheet1!$A$2:$A$5</c:f>
              <c:multiLvlStrCache>
                <c:ptCount val="4"/>
                <c:lvl>
                  <c:pt idx="0">
                    <c:v>Precision</c:v>
                  </c:pt>
                  <c:pt idx="1">
                    <c:v>Recall</c:v>
                  </c:pt>
                  <c:pt idx="2">
                    <c:v>Cell F1</c:v>
                  </c:pt>
                  <c:pt idx="3">
                    <c:v>Dice</c:v>
                  </c:pt>
                </c:lvl>
              </c:multiLvlStrCache>
            </c:multiLvlStrRef>
          </c:cat>
          <c:val>
            <c:numRef>
              <c:f>Sheet1!$C$2:$C$5</c:f>
              <c:numCache>
                <c:formatCode>General</c:formatCode>
                <c:ptCount val="4"/>
                <c:pt idx="0">
                  <c:v>0.867</c:v>
                </c:pt>
                <c:pt idx="1">
                  <c:v>0.837</c:v>
                </c:pt>
                <c:pt idx="2">
                  <c:v>0.852</c:v>
                </c:pt>
                <c:pt idx="3">
                  <c:v>0.915</c:v>
                </c:pt>
              </c:numCache>
            </c:numRef>
          </c:val>
        </c:ser>
        <c:dLbls>
          <c:numFmt formatCode="0.000" sourceLinked="0"/>
          <c:txPr>
            <a:bodyPr/>
            <a:lstStyle/>
            <a:p>
              <a:pPr>
                <a:defRPr b="0" i="0" strike="noStrike" sz="1000" u="none">
                  <a:solidFill>
                    <a:srgbClr val="1B1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E2E5EC"/>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100">
              <a:solidFill>
                <a:srgbClr val="64748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Topic 3: a system that segments touching cells in microscope images and counts them automatically. In one sentence: you give it a stained microscopy image, and it gives back every cell outlined and numbered, the area of each cell, an area histogram and a CSV file. On the right you can see a real result from my software: 52 nuclei found in a crowded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I pick this topic? First, it is a real problem: in biology and medicine people still count cells by hand, which is slow and subjective. Second, the hard part is cells that touch each other. If you just threshold the image, two touching cells become one blob and the count is wrong, so there is a real technical challenge. Third, the topic mixes deep learning with classical computer vision, which is exactly what this course covers. And fourth, there is a public dataset with ground truth, so I can prove my results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official brief. Input: stained microscope images with many overlapping cells. Output: every cell outlined and numbered, its area, and an area histogram. The required techniques are a pre-trained U-Net, distance transform and watershed. The brief also says I must iterate on the probability threshold and must show the probability heatmap so a human can check it. On the right: the input has 87 nuclei, many touching. The challenge is to split those clumps back into single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the talk: eight parts. I will finish with a live demo of the software running locally on my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required a strict process, and I followed it. I started with a sketch: six design pages for the architecture, the pipeline, the model, the code layout, the UI and error handling. Phase 1 was only structure: folders and typed class signatures, and my instructor approved it. Phase 2: I built fifteen modules one at a time together with an AI coding agent, testing each one before moving on. Then I trained the U-Net on my own GPU. Phase 3 was integration and debugging: error handling and 58 unit tests. Finally I tuned the parameters with a grid search and polished the interface. Every correction was logged: 29 rounds in my iteration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sketch versus final. On the left is the mockup I drew in Phase 1, before writing any code. On the right is the real software today. Everything I planned is there: upload, sliders, intermediate images, statistics and CSV export. During development I added presets for different image types, a layer viewer, a measurements table and a dark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architecture. Left to right: the user works with the web interface built in Gradio. The interface sends the image and slider values to the pipeline controller, which validates input, runs the stages in order and caches the U-Net output so moving a slider is fast. The five core modules are preprocessing, U-Net segmentation, mask refinement, watershed separation and cell analysis. Outputs are numbered contours, areas, a histogram, the count and a CSV. At the bottom: shared utilities for GPU/CPU selection, error handling, logging, visualisation and metrics, and the offline training part that produces the weights file the app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code is organised. Each processing step is its own class with one clear job and a typed run method, so I could build and test them one at a time. The pipeline class chains them together. Three small dataclasses in config.py are the contracts between modules: Params holds all the slider values, CellInfo describes one cell, and PipelineResult carries everything back to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Python with PyTorch for the neural network, and segmentation-models-pytorch to build the U-Net with a pretrained ResNet34 encoder. OpenCV and scikit-image for the classical image processing, Albumentations for data augmentation, Gradio for the web interface, and pytest for testing. I trained on my own RTX 2060 SUPER, but the software also runs on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training I used the Kaggle Data Science Bowl 2018 dataset: 670 images of cell nuclei with a separate mask for every single nucleus, drawn by experts. It mixes fluorescence, bright-field and H&amp;E tissue images, so the model sees many styles. I split it 80/10/10 with a fixed seed: 536 for training, 67 for validation, which I used for choosing parameters, and 67 for the final test. I also picked three sample images that cover the three hard cases: sparse, dense and touching, and low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each image goes through six steps. All nucleus masks are merged into one binary mask, because the U-Net only has to say cell or not cell. Then I run exactly the same preprocessing code that the app uses, resize to 256 by 256, normalise, and apply random augmentation. Using the same preprocessing in training and in the app is important: otherwise the network would see different inputs at run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my software for the dense sample, one per stage. Stage 0 is the input. Stage 1 converts to gray and boosts contrast. Stage 2 is the U-Net probability heatmap: yellow means very likely cell. Stage 3 thresholds it into a binary mask and cleans it. Stage 4 computes the distance map: the brightest point of each blob is the centre of a cell, and the red dots are the seeds. Stage 5 grows a region from each seed with watershed, then numbers and measures the cells. The chips show which slider controls each step. The key idea: deep learning finds where the cells are, and classical vision separates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preprocessing, shown on the hardest sample, an H&amp;E tissue image with faint nuclei. Three operations: grayscale, because colour depends on the stain; CLAHE, which boosts contrast locally so faint cells stand out; and a small Gaussian blur to remove noise. The CLAHE clip limit is a slider in the app for very dim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the U-Net, the deep learning part. The encoder on the left shrinks the image and learns what a nucleus looks like; I used a ResNet34 encoder already pretrained on ImageNet, so it starts with good features. The decoder on the right grows it back to full size. The grey dashed skip connections copy fine detail across, which keeps cell borders sharp. The output is one number per pixel between 0 and 1: the probability that the pixel is part of a cell. To handle any image size, I pad to a multiple of 32, and for very large images I fall back to tiles or the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The loss is binary cross-entropy plus Dice loss: cross-entropy works per pixel, Dice rewards overlap of the whole mask, which helps because background pixels outnumber cell pixels. I used Adam with learning rate 1e-4 and batch size 8. Both losses fall together, so there is no overfitting. Validation Dice reached its best value, 0.902, at epoch 20, and early stopping ended training at epoch 28. On the 67 test images the model never saw, Dice is 0.914. Training took under two minutes on my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three and four solve the touching-cell problem. The mask step thresholds the probability map at tau, then morphological opening and closing clean it up, and tiny blobs are removed. But touching cells are still one blob. So I compute the distance transform: every white pixel gets its distance to the nearest background pixel. The centre of each cell is a local peak, and those peaks become seeds. Then watershed floods outward from each seed like water; where two floods meet, it draws a border. One improvement I made: the peak threshold is relative to each blob's own maximum, not the global maximum, so small cells next to big ones still get a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turns the labelled regions into numbers. Cells are numbered in reading order, top-left to bottom-right, and the number on the image is the same as the id in the CSV, so you can find any cell. For each cell I measure area, centroid and bounding box. The app shows the area histogram with mean and median lines, and you can download the full table as CSV for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parameters. Six of them are sliders in the app, grouped by stage. The most important is the probability threshold tau, which the brief asks us to tune: too low and neighbouring cells merge, too high and cells shrink or disappear. The kernel controls how much the mask is smoothed, peak ratio and min distance control how aggressively watershed splits clumps, and min area removes debris. The two red values were changed by my tuning, which I explain next. For users who do not want to touch sliders, there are presets for common image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Tuning was done in rounds, as the assignment requires. Round 22: the sparse sample found only 8 of 11 cells; the smallest nuclei were deleted by the min-area filter, so I lowered it from 50 to 20 and got all 11. Round 23: in the dense sample a big clump was counted as one cell; the closing kernel of 5 filled the gaps between cells, so I reduced it to 3. Round 24: I tested min distance 5, which helped the dense image but over-split others; on the test split F1 dropped, so I rejected it. That taught me not to tune on a single picture. Round 25: a systematic grid search of 288 combinations on the validation split confirmed the changes. On the test split recall rose from 0.78 to 0.84 and median count error dropped from 10 to 6.9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ablation study I ran the dense sample with four parameter sets and compared each mask to the real ground truth with IoU, Dice, PSNR and SSIM. A is lenient, B is the original mockup default, C is strict, and D is my tuned default. The strict set merges cells: only 33 found. The tuned set finds 52, with the best precision and recall per cell. An honest note: this image is in the training split, so the absolute numbers are a bit optimistic; the fair numbers are on the test split,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results on the 67 test images, which were never used for training or tuning. Pixel Dice is 0.915. Counting each cell as correct when it overlaps a true cell with IoU of at least 0.5, precision is 0.867 and recall 0.837, F1 0.852. The median error in the cell count is 6.9 percent. Below are the three samples: the sparse image is perfect, 11 of 11. The dense image is the hardest: 52 of 87, because many nuclei touch with no visible gap. The H&amp;E image over-splits elongated nuclei: 20 instead of 12. I will come back to these in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 for scientists must not crash. This flow chart was part of my original design and is now fully implemented. Invalid input gives a clear message instead of a crash. No GPU means the app falls back to CPU. If the GPU runs out of memory, it splits the image into tiles and retries, then falls back to CPU; I tested this by forcing the error, and the result matched the normal run on 99.98 percent of pixels. If no cells are found, it suggests which slider to change. There are 58 automated tests, and a normal image is processed in about half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finished software, a web app that runs locally in the browser. On the left you upload an image or pick a sample. In the middle is a summary strip with the count and area statistics, and tabs for the result, every pipeline stage, the per-cell measurements and a short guide. On the right are the settings: a preset dropdown and six sliders, each with a one-line explanation. Now let me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now.] Start the app with the command shown, then open localhost port 7860. Demo plan: 1) choose the dense sample and press Segment cells; the count and histogram appear. 2) Open Pipeline stages to show the heatmap the brief asks for. 3) Move the threshold down to 0.3 and up to 0.7 and show how the count changes: this is the over/under-segmentation trade-off. 4) Choose the Dense clumps preset. 5) Open Measurements and download the CSV. 6) If there is time, upload another image and toggle dark mode. Backup if the demo fails: the screenshots on the previous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The biggest is very dense nuclei that touch without any gap: the U-Net sees one region and the distance transform has only one peak. H&amp;E tissue nuclei are elongated and get over-split. The model learned the cell sizes in the dataset, so a very different magnification fails. Future work: an instance-aware model that also predicts cell borders, more tissue training data, automatic rescaling, faster watershed, and batch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 complete system that goes from a stained microscope image to numbered cells, areas, a histogram and a CSV. It combines a U-Net with distance transform and watershed. I tuned the parameters on validation data and reported honest test results. And it is a usable, robust local app. Thank you for listening.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30936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11880"/>
            <a:ext cx="630936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Microscopic Cell Image  ·  Adhesion Segmentation &amp; Automatic Counting</a:t>
            </a:r>
            <a:endParaRPr lang="en-US" sz="10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9B3D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3.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4.xml"/><Relationship Id="rId6"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914400"/>
            <a:ext cx="630936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INTRODUCTION TO AI  ·  FINAL PROJECT  ·  TOPIC 3</a:t>
            </a:r>
            <a:endParaRPr lang="en-US" sz="1200" dirty="0"/>
          </a:p>
        </p:txBody>
      </p:sp>
      <p:sp>
        <p:nvSpPr>
          <p:cNvPr id="3" name="Text 0"/>
          <p:cNvSpPr/>
          <p:nvPr>
            <p:ph idx="100" type="title" hasCustomPrompt="1"/>
          </p:nvPr>
        </p:nvSpPr>
        <p:spPr>
          <a:xfrm>
            <a:off x="731520" y="1417320"/>
            <a:ext cx="6309360" cy="2011680"/>
          </a:xfrm>
          <a:prstGeom prst="rect">
            <a:avLst/>
          </a:prstGeom>
          <a:noFill/>
          <a:ln/>
        </p:spPr>
        <p:txBody>
          <a:bodyPr wrap="square" lIns="0" tIns="0" rIns="0" bIns="0" rtlCol="0" anchor="b"/>
          <a:lstStyle/>
          <a:p>
            <a:pPr algn="l" indent="0" marL="0">
              <a:buNone/>
            </a:pPr>
            <a:r>
              <a:rPr lang="en-US" sz="4000" b="1" dirty="0">
                <a:solidFill>
                  <a:schemeClr val="bg1"/>
                </a:solidFill>
              </a:rPr>
              <a:t>Microscopic Cell Image</a:t>
            </a:r>
            <a:endParaRPr lang="en-US" sz="4000" dirty="0"/>
          </a:p>
          <a:p>
            <a:pPr algn="l" indent="0" marL="0">
              <a:buNone/>
            </a:pPr>
            <a:r>
              <a:rPr lang="en-US" sz="2800" b="1" dirty="0">
                <a:solidFill>
                  <a:schemeClr val="bg1"/>
                </a:solidFill>
              </a:rPr>
              <a:t>Adhesion Segmentation &amp; Automatic Counting</a:t>
            </a:r>
            <a:endParaRPr lang="en-US" sz="4000" dirty="0"/>
          </a:p>
        </p:txBody>
      </p:sp>
      <p:sp>
        <p:nvSpPr>
          <p:cNvPr id="4" name="Text 0"/>
          <p:cNvSpPr/>
          <p:nvPr>
            <p:ph idx="101" type="body" hasCustomPrompt="1"/>
          </p:nvPr>
        </p:nvSpPr>
        <p:spPr>
          <a:xfrm>
            <a:off x="731520" y="3611880"/>
            <a:ext cx="6309360" cy="822960"/>
          </a:xfrm>
          <a:prstGeom prst="rect">
            <a:avLst/>
          </a:prstGeom>
          <a:noFill/>
          <a:ln/>
        </p:spPr>
        <p:txBody>
          <a:bodyPr wrap="square" lIns="0" tIns="0" rIns="0" bIns="0" rtlCol="0" anchor="t"/>
          <a:lstStyle/>
          <a:p>
            <a:pPr algn="l" indent="0" marL="0">
              <a:buNone/>
            </a:pPr>
            <a:r>
              <a:rPr lang="en-US" sz="1800" dirty="0">
                <a:solidFill>
                  <a:schemeClr val="bg2"/>
                </a:solidFill>
              </a:rPr>
              <a:t>U-Net probability maps + distance transform + watershed, delivered as a local web app</a:t>
            </a:r>
            <a:endParaRPr lang="en-US" sz="1800" dirty="0"/>
          </a:p>
        </p:txBody>
      </p:sp>
      <p:sp>
        <p:nvSpPr>
          <p:cNvPr id="5" name="Text 3"/>
          <p:cNvSpPr txBox="1"/>
          <p:nvPr/>
        </p:nvSpPr>
        <p:spPr>
          <a:xfrm>
            <a:off x="731520" y="4892040"/>
            <a:ext cx="6309360" cy="1005840"/>
          </a:xfrm>
          <a:prstGeom prst="rect">
            <a:avLst/>
          </a:prstGeom>
          <a:noFill/>
          <a:ln/>
        </p:spPr>
        <p:txBody>
          <a:bodyPr wrap="square" lIns="0" tIns="0" rIns="0" bIns="0" rtlCol="0" anchor="t"/>
          <a:lstStyle/>
          <a:p>
            <a:pPr indent="0" marL="0">
              <a:spcAft>
                <a:spcPts val="400"/>
              </a:spcAft>
              <a:buNone/>
            </a:pPr>
            <a:r>
              <a:rPr lang="en-US" sz="1400" dirty="0">
                <a:solidFill>
                  <a:schemeClr val="bg2"/>
                </a:solidFill>
              </a:rPr>
              <a:t>Presented by: Your Name  ·  Student ID</a:t>
            </a:r>
            <a:endParaRPr lang="en-US" sz="1400" dirty="0"/>
          </a:p>
          <a:p>
            <a:pPr indent="0" marL="0">
              <a:spcAft>
                <a:spcPts val="400"/>
              </a:spcAft>
              <a:buNone/>
            </a:pPr>
            <a:r>
              <a:rPr lang="en-US" sz="1400" dirty="0">
                <a:solidFill>
                  <a:schemeClr val="bg2"/>
                </a:solidFill>
              </a:rPr>
              <a:t>Advisor: Huang Qing</a:t>
            </a:r>
            <a:endParaRPr lang="en-US" sz="1400" dirty="0"/>
          </a:p>
          <a:p>
            <a:pPr indent="0" marL="0">
              <a:spcAft>
                <a:spcPts val="400"/>
              </a:spcAft>
              <a:buNone/>
            </a:pPr>
            <a:r>
              <a:rPr lang="en-US" sz="1400" dirty="0">
                <a:solidFill>
                  <a:schemeClr val="bg2"/>
                </a:solidFill>
              </a:rPr>
              <a:t>Wuhan Institute of Technology  ·  October 2026</a:t>
            </a:r>
            <a:endParaRPr lang="en-US" sz="1400" dirty="0"/>
          </a:p>
        </p:txBody>
      </p:sp>
      <p:pic>
        <p:nvPicPr>
          <p:cNvPr id="6" name="result overlay" descr="Segmented and numbered nuclei">    </p:cNvPr>
          <p:cNvPicPr>
            <a:picLocks noChangeAspect="1"/>
          </p:cNvPicPr>
          <p:nvPr/>
        </p:nvPicPr>
        <p:blipFill>
          <a:blip r:embed="rId1"/>
          <a:stretch>
            <a:fillRect/>
          </a:stretch>
        </p:blipFill>
        <p:spPr>
          <a:xfrm>
            <a:off x="7223760" y="1618488"/>
            <a:ext cx="3840480" cy="3072384"/>
          </a:xfrm>
          <a:prstGeom prst="rect">
            <a:avLst/>
          </a:prstGeom>
        </p:spPr>
      </p:pic>
      <p:sp>
        <p:nvSpPr>
          <p:cNvPr id="7" name="count badge"/>
          <p:cNvSpPr/>
          <p:nvPr/>
        </p:nvSpPr>
        <p:spPr>
          <a:xfrm>
            <a:off x="10149840" y="4005072"/>
            <a:ext cx="1371600" cy="1371600"/>
          </a:xfrm>
          <a:prstGeom prst="ellipse">
            <a:avLst/>
          </a:prstGeom>
          <a:solidFill>
            <a:schemeClr val="accent3"/>
          </a:solidFill>
          <a:ln w="38100">
            <a:solidFill>
              <a:schemeClr val="bg1"/>
            </a:solidFill>
            <a:prstDash val="solid"/>
          </a:ln>
        </p:spPr>
      </p:sp>
      <p:sp>
        <p:nvSpPr>
          <p:cNvPr id="8" name="Text 5"/>
          <p:cNvSpPr txBox="1"/>
          <p:nvPr/>
        </p:nvSpPr>
        <p:spPr>
          <a:xfrm>
            <a:off x="10149840" y="4005072"/>
            <a:ext cx="1371600" cy="1371600"/>
          </a:xfrm>
          <a:prstGeom prst="rect">
            <a:avLst/>
          </a:prstGeom>
          <a:noFill/>
          <a:ln/>
        </p:spPr>
        <p:txBody>
          <a:bodyPr wrap="square" lIns="0" tIns="0" rIns="0" bIns="0" rtlCol="0" anchor="ctr"/>
          <a:lstStyle/>
          <a:p>
            <a:pPr algn="ctr" indent="0" marL="0">
              <a:buNone/>
            </a:pPr>
            <a:r>
              <a:rPr lang="en-US" sz="3000" b="1" dirty="0">
                <a:solidFill>
                  <a:schemeClr val="bg1"/>
                </a:solidFill>
              </a:rPr>
              <a:t>52</a:t>
            </a:r>
            <a:endParaRPr lang="en-US" sz="3000" dirty="0"/>
          </a:p>
          <a:p>
            <a:pPr algn="ctr" indent="0" marL="0">
              <a:buNone/>
            </a:pPr>
            <a:r>
              <a:rPr lang="en-US" sz="1100" dirty="0">
                <a:solidFill>
                  <a:schemeClr val="bg1"/>
                </a:solidFill>
              </a:rPr>
              <a:t>cells found</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01  ·  MOTIVATION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Why I chose this topic</a:t>
            </a:r>
            <a:endParaRPr lang="en-US" sz="3200" dirty="0"/>
          </a:p>
        </p:txBody>
      </p:sp>
      <p:sp>
        <p:nvSpPr>
          <p:cNvPr id="4" name="statement card"/>
          <p:cNvSpPr/>
          <p:nvPr/>
        </p:nvSpPr>
        <p:spPr>
          <a:xfrm>
            <a:off x="548640" y="1600200"/>
            <a:ext cx="3383280" cy="4526280"/>
          </a:xfrm>
          <a:prstGeom prst="roundRect">
            <a:avLst>
              <a:gd name="adj" fmla="val 2162"/>
            </a:avLst>
          </a:prstGeom>
          <a:solidFill>
            <a:schemeClr val="tx2"/>
          </a:solidFill>
          <a:ln/>
          <a:effectLst>
            <a:outerShdw sx="100000" sy="100000" kx="0" ky="0" algn="bl" rotWithShape="0" blurRad="127000" dist="25400" dir="5400000">
              <a:srgbClr val="1B1A33">
                <a:alpha val="8000"/>
              </a:srgbClr>
            </a:outerShdw>
          </a:effectLst>
        </p:spPr>
      </p:sp>
      <p:sp>
        <p:nvSpPr>
          <p:cNvPr id="5" name="icon LuMicroscope"/>
          <p:cNvSpPr/>
          <p:nvPr/>
        </p:nvSpPr>
        <p:spPr>
          <a:xfrm>
            <a:off x="868680" y="1920240"/>
            <a:ext cx="685800" cy="685800"/>
          </a:xfrm>
          <a:prstGeom prst="ellipse">
            <a:avLst/>
          </a:prstGeom>
          <a:solidFill>
            <a:schemeClr val="accent3"/>
          </a:solidFill>
          <a:ln/>
        </p:spPr>
      </p:sp>
      <p:pic>
        <p:nvPicPr>
          <p:cNvPr id="6" name="LuMicroscope" descr="preencoded.png">    </p:cNvPr>
          <p:cNvPicPr>
            <a:picLocks noChangeAspect="1"/>
          </p:cNvPicPr>
          <p:nvPr/>
        </p:nvPicPr>
        <p:blipFill>
          <a:blip r:embed="rId1"/>
          <a:stretch>
            <a:fillRect/>
          </a:stretch>
        </p:blipFill>
        <p:spPr>
          <a:xfrm>
            <a:off x="1040130" y="2091690"/>
            <a:ext cx="342900" cy="342900"/>
          </a:xfrm>
          <a:prstGeom prst="rect">
            <a:avLst/>
          </a:prstGeom>
        </p:spPr>
      </p:pic>
      <p:sp>
        <p:nvSpPr>
          <p:cNvPr id="7" name="Text 4"/>
          <p:cNvSpPr txBox="1"/>
          <p:nvPr/>
        </p:nvSpPr>
        <p:spPr>
          <a:xfrm>
            <a:off x="868680" y="2834640"/>
            <a:ext cx="2788920" cy="182880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Counting cells by hand is slow, tiring and different from person to person.</a:t>
            </a:r>
            <a:endParaRPr lang="en-US" sz="2200" dirty="0"/>
          </a:p>
        </p:txBody>
      </p:sp>
      <p:sp>
        <p:nvSpPr>
          <p:cNvPr id="8" name="Text 5"/>
          <p:cNvSpPr txBox="1"/>
          <p:nvPr/>
        </p:nvSpPr>
        <p:spPr>
          <a:xfrm>
            <a:off x="868680" y="4709160"/>
            <a:ext cx="2788920" cy="1188720"/>
          </a:xfrm>
          <a:prstGeom prst="rect">
            <a:avLst/>
          </a:prstGeom>
          <a:noFill/>
          <a:ln/>
        </p:spPr>
        <p:txBody>
          <a:bodyPr wrap="square" lIns="0" tIns="0" rIns="0" bIns="0" rtlCol="0" anchor="t"/>
          <a:lstStyle/>
          <a:p>
            <a:pPr indent="0" marL="0">
              <a:buNone/>
            </a:pPr>
            <a:r>
              <a:rPr lang="en-US" sz="1400" dirty="0">
                <a:solidFill>
                  <a:schemeClr val="bg2"/>
                </a:solidFill>
              </a:rPr>
              <a:t>I wanted to see if AI could do this job in under a second, and show its work so a biologist can trust it.</a:t>
            </a:r>
            <a:endParaRPr lang="en-US" sz="1400" dirty="0"/>
          </a:p>
        </p:txBody>
      </p:sp>
      <p:sp>
        <p:nvSpPr>
          <p:cNvPr id="9" name="reason 1"/>
          <p:cNvSpPr/>
          <p:nvPr/>
        </p:nvSpPr>
        <p:spPr>
          <a:xfrm>
            <a:off x="4206240" y="1600200"/>
            <a:ext cx="3611880" cy="2148840"/>
          </a:xfrm>
          <a:prstGeom prst="roundRect">
            <a:avLst>
              <a:gd name="adj" fmla="val 3404"/>
            </a:avLst>
          </a:prstGeom>
          <a:solidFill>
            <a:schemeClr val="bg1"/>
          </a:solidFill>
          <a:ln/>
          <a:effectLst>
            <a:outerShdw sx="100000" sy="100000" kx="0" ky="0" algn="bl" rotWithShape="0" blurRad="127000" dist="25400" dir="5400000">
              <a:srgbClr val="1B1A33">
                <a:alpha val="8000"/>
              </a:srgbClr>
            </a:outerShdw>
          </a:effectLst>
        </p:spPr>
      </p:sp>
      <p:sp>
        <p:nvSpPr>
          <p:cNvPr id="10" name="icon LuFlaskConical"/>
          <p:cNvSpPr/>
          <p:nvPr/>
        </p:nvSpPr>
        <p:spPr>
          <a:xfrm>
            <a:off x="4480560" y="1874520"/>
            <a:ext cx="548640" cy="548640"/>
          </a:xfrm>
          <a:prstGeom prst="ellipse">
            <a:avLst/>
          </a:prstGeom>
          <a:solidFill>
            <a:schemeClr val="accent1"/>
          </a:solidFill>
          <a:ln/>
        </p:spPr>
      </p:sp>
      <p:pic>
        <p:nvPicPr>
          <p:cNvPr id="11" name="LuFlaskConical" descr="preencoded.png">    </p:cNvPr>
          <p:cNvPicPr>
            <a:picLocks noChangeAspect="1"/>
          </p:cNvPicPr>
          <p:nvPr/>
        </p:nvPicPr>
        <p:blipFill>
          <a:blip r:embed="rId2"/>
          <a:stretch>
            <a:fillRect/>
          </a:stretch>
        </p:blipFill>
        <p:spPr>
          <a:xfrm>
            <a:off x="4617720" y="2011680"/>
            <a:ext cx="274320" cy="274320"/>
          </a:xfrm>
          <a:prstGeom prst="rect">
            <a:avLst/>
          </a:prstGeom>
        </p:spPr>
      </p:pic>
      <p:sp>
        <p:nvSpPr>
          <p:cNvPr id="12" name="Text 8"/>
          <p:cNvSpPr txBox="1"/>
          <p:nvPr/>
        </p:nvSpPr>
        <p:spPr>
          <a:xfrm>
            <a:off x="5166360" y="1874520"/>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A real lab problem</a:t>
            </a:r>
            <a:endParaRPr lang="en-US" sz="1700" dirty="0"/>
          </a:p>
        </p:txBody>
      </p:sp>
      <p:sp>
        <p:nvSpPr>
          <p:cNvPr id="13" name="Text 9"/>
          <p:cNvSpPr txBox="1"/>
          <p:nvPr/>
        </p:nvSpPr>
        <p:spPr>
          <a:xfrm>
            <a:off x="4480560" y="2560320"/>
            <a:ext cx="3108960" cy="1051560"/>
          </a:xfrm>
          <a:prstGeom prst="rect">
            <a:avLst/>
          </a:prstGeom>
          <a:noFill/>
          <a:ln/>
        </p:spPr>
        <p:txBody>
          <a:bodyPr wrap="square" lIns="0" tIns="0" rIns="0" bIns="0" rtlCol="0" anchor="t"/>
          <a:lstStyle/>
          <a:p>
            <a:pPr indent="0" marL="0">
              <a:buNone/>
            </a:pPr>
            <a:r>
              <a:rPr lang="en-US" sz="1400" dirty="0">
                <a:solidFill>
                  <a:schemeClr val="accent5"/>
                </a:solidFill>
              </a:rPr>
              <a:t>Biologists count hundreds of cells for drug tests, cancer grading and growth studies. One image can take minutes by hand.</a:t>
            </a:r>
            <a:endParaRPr lang="en-US" sz="1400" dirty="0"/>
          </a:p>
        </p:txBody>
      </p:sp>
      <p:sp>
        <p:nvSpPr>
          <p:cNvPr id="14" name="reason 2"/>
          <p:cNvSpPr/>
          <p:nvPr/>
        </p:nvSpPr>
        <p:spPr>
          <a:xfrm>
            <a:off x="8001000" y="1600200"/>
            <a:ext cx="3611880" cy="2148840"/>
          </a:xfrm>
          <a:prstGeom prst="roundRect">
            <a:avLst>
              <a:gd name="adj" fmla="val 3404"/>
            </a:avLst>
          </a:prstGeom>
          <a:solidFill>
            <a:schemeClr val="bg1"/>
          </a:solidFill>
          <a:ln/>
          <a:effectLst>
            <a:outerShdw sx="100000" sy="100000" kx="0" ky="0" algn="bl" rotWithShape="0" blurRad="127000" dist="25400" dir="5400000">
              <a:srgbClr val="1B1A33">
                <a:alpha val="8000"/>
              </a:srgbClr>
            </a:outerShdw>
          </a:effectLst>
        </p:spPr>
      </p:sp>
      <p:sp>
        <p:nvSpPr>
          <p:cNvPr id="15" name="icon LuMerge"/>
          <p:cNvSpPr/>
          <p:nvPr/>
        </p:nvSpPr>
        <p:spPr>
          <a:xfrm>
            <a:off x="8275320" y="1874520"/>
            <a:ext cx="548640" cy="548640"/>
          </a:xfrm>
          <a:prstGeom prst="ellipse">
            <a:avLst/>
          </a:prstGeom>
          <a:solidFill>
            <a:schemeClr val="accent1"/>
          </a:solidFill>
          <a:ln/>
        </p:spPr>
      </p:sp>
      <p:pic>
        <p:nvPicPr>
          <p:cNvPr id="16" name="LuMerge" descr="preencoded.png">    </p:cNvPr>
          <p:cNvPicPr>
            <a:picLocks noChangeAspect="1"/>
          </p:cNvPicPr>
          <p:nvPr/>
        </p:nvPicPr>
        <p:blipFill>
          <a:blip r:embed="rId3"/>
          <a:stretch>
            <a:fillRect/>
          </a:stretch>
        </p:blipFill>
        <p:spPr>
          <a:xfrm>
            <a:off x="8412480" y="2011680"/>
            <a:ext cx="274320" cy="274320"/>
          </a:xfrm>
          <a:prstGeom prst="rect">
            <a:avLst/>
          </a:prstGeom>
        </p:spPr>
      </p:pic>
      <p:sp>
        <p:nvSpPr>
          <p:cNvPr id="17" name="Text 12"/>
          <p:cNvSpPr txBox="1"/>
          <p:nvPr/>
        </p:nvSpPr>
        <p:spPr>
          <a:xfrm>
            <a:off x="8961120" y="1874520"/>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Hardest case: touching cells</a:t>
            </a:r>
            <a:endParaRPr lang="en-US" sz="1700" dirty="0"/>
          </a:p>
        </p:txBody>
      </p:sp>
      <p:sp>
        <p:nvSpPr>
          <p:cNvPr id="18" name="Text 13"/>
          <p:cNvSpPr txBox="1"/>
          <p:nvPr/>
        </p:nvSpPr>
        <p:spPr>
          <a:xfrm>
            <a:off x="8275320" y="2560320"/>
            <a:ext cx="3108960" cy="1051560"/>
          </a:xfrm>
          <a:prstGeom prst="rect">
            <a:avLst/>
          </a:prstGeom>
          <a:noFill/>
          <a:ln/>
        </p:spPr>
        <p:txBody>
          <a:bodyPr wrap="square" lIns="0" tIns="0" rIns="0" bIns="0" rtlCol="0" anchor="t"/>
          <a:lstStyle/>
          <a:p>
            <a:pPr indent="0" marL="0">
              <a:buNone/>
            </a:pPr>
            <a:r>
              <a:rPr lang="en-US" sz="1400" dirty="0">
                <a:solidFill>
                  <a:schemeClr val="accent5"/>
                </a:solidFill>
              </a:rPr>
              <a:t>Cells stick together (adhesion). Simple thresholding merges them into one blob, so the count comes out wrong.</a:t>
            </a:r>
            <a:endParaRPr lang="en-US" sz="1400" dirty="0"/>
          </a:p>
        </p:txBody>
      </p:sp>
      <p:sp>
        <p:nvSpPr>
          <p:cNvPr id="19" name="reason 3"/>
          <p:cNvSpPr/>
          <p:nvPr/>
        </p:nvSpPr>
        <p:spPr>
          <a:xfrm>
            <a:off x="4206240" y="3931920"/>
            <a:ext cx="3611880" cy="2148840"/>
          </a:xfrm>
          <a:prstGeom prst="roundRect">
            <a:avLst>
              <a:gd name="adj" fmla="val 3404"/>
            </a:avLst>
          </a:prstGeom>
          <a:solidFill>
            <a:schemeClr val="bg1"/>
          </a:solidFill>
          <a:ln/>
          <a:effectLst>
            <a:outerShdw sx="100000" sy="100000" kx="0" ky="0" algn="bl" rotWithShape="0" blurRad="127000" dist="25400" dir="5400000">
              <a:srgbClr val="1B1A33">
                <a:alpha val="8000"/>
              </a:srgbClr>
            </a:outerShdw>
          </a:effectLst>
        </p:spPr>
      </p:sp>
      <p:sp>
        <p:nvSpPr>
          <p:cNvPr id="20" name="icon LuBrainCircuit"/>
          <p:cNvSpPr/>
          <p:nvPr/>
        </p:nvSpPr>
        <p:spPr>
          <a:xfrm>
            <a:off x="4480560" y="4206240"/>
            <a:ext cx="548640" cy="548640"/>
          </a:xfrm>
          <a:prstGeom prst="ellipse">
            <a:avLst/>
          </a:prstGeom>
          <a:solidFill>
            <a:schemeClr val="accent1"/>
          </a:solidFill>
          <a:ln/>
        </p:spPr>
      </p:sp>
      <p:pic>
        <p:nvPicPr>
          <p:cNvPr id="21" name="LuBrainCircuit" descr="preencoded.png">    </p:cNvPr>
          <p:cNvPicPr>
            <a:picLocks noChangeAspect="1"/>
          </p:cNvPicPr>
          <p:nvPr/>
        </p:nvPicPr>
        <p:blipFill>
          <a:blip r:embed="rId4"/>
          <a:stretch>
            <a:fillRect/>
          </a:stretch>
        </p:blipFill>
        <p:spPr>
          <a:xfrm>
            <a:off x="4617720" y="4343400"/>
            <a:ext cx="274320" cy="274320"/>
          </a:xfrm>
          <a:prstGeom prst="rect">
            <a:avLst/>
          </a:prstGeom>
        </p:spPr>
      </p:pic>
      <p:sp>
        <p:nvSpPr>
          <p:cNvPr id="22" name="Text 16"/>
          <p:cNvSpPr txBox="1"/>
          <p:nvPr/>
        </p:nvSpPr>
        <p:spPr>
          <a:xfrm>
            <a:off x="5166360" y="4206240"/>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Deep learning + classic vision</a:t>
            </a:r>
            <a:endParaRPr lang="en-US" sz="1700" dirty="0"/>
          </a:p>
        </p:txBody>
      </p:sp>
      <p:sp>
        <p:nvSpPr>
          <p:cNvPr id="23" name="Text 17"/>
          <p:cNvSpPr txBox="1"/>
          <p:nvPr/>
        </p:nvSpPr>
        <p:spPr>
          <a:xfrm>
            <a:off x="4480560" y="4892040"/>
            <a:ext cx="3108960" cy="1051560"/>
          </a:xfrm>
          <a:prstGeom prst="rect">
            <a:avLst/>
          </a:prstGeom>
          <a:noFill/>
          <a:ln/>
        </p:spPr>
        <p:txBody>
          <a:bodyPr wrap="square" lIns="0" tIns="0" rIns="0" bIns="0" rtlCol="0" anchor="t"/>
          <a:lstStyle/>
          <a:p>
            <a:pPr indent="0" marL="0">
              <a:buNone/>
            </a:pPr>
            <a:r>
              <a:rPr lang="en-US" sz="1400" dirty="0">
                <a:solidFill>
                  <a:schemeClr val="accent5"/>
                </a:solidFill>
              </a:rPr>
              <a:t>The topic joins a trained U-Net with distance transform and watershed, so I could learn modern AI and classic image processing.</a:t>
            </a:r>
            <a:endParaRPr lang="en-US" sz="1400" dirty="0"/>
          </a:p>
        </p:txBody>
      </p:sp>
      <p:sp>
        <p:nvSpPr>
          <p:cNvPr id="24" name="reason 4"/>
          <p:cNvSpPr/>
          <p:nvPr/>
        </p:nvSpPr>
        <p:spPr>
          <a:xfrm>
            <a:off x="8001000" y="3931920"/>
            <a:ext cx="3611880" cy="2148840"/>
          </a:xfrm>
          <a:prstGeom prst="roundRect">
            <a:avLst>
              <a:gd name="adj" fmla="val 3404"/>
            </a:avLst>
          </a:prstGeom>
          <a:solidFill>
            <a:schemeClr val="bg1"/>
          </a:solidFill>
          <a:ln/>
          <a:effectLst>
            <a:outerShdw sx="100000" sy="100000" kx="0" ky="0" algn="bl" rotWithShape="0" blurRad="127000" dist="25400" dir="5400000">
              <a:srgbClr val="1B1A33">
                <a:alpha val="8000"/>
              </a:srgbClr>
            </a:outerShdw>
          </a:effectLst>
        </p:spPr>
      </p:sp>
      <p:sp>
        <p:nvSpPr>
          <p:cNvPr id="25" name="icon LuChartColumn"/>
          <p:cNvSpPr/>
          <p:nvPr/>
        </p:nvSpPr>
        <p:spPr>
          <a:xfrm>
            <a:off x="8275320" y="4206240"/>
            <a:ext cx="548640" cy="548640"/>
          </a:xfrm>
          <a:prstGeom prst="ellipse">
            <a:avLst/>
          </a:prstGeom>
          <a:solidFill>
            <a:schemeClr val="accent1"/>
          </a:solidFill>
          <a:ln/>
        </p:spPr>
      </p:sp>
      <p:pic>
        <p:nvPicPr>
          <p:cNvPr id="26" name="LuChartColumn" descr="preencoded.png">    </p:cNvPr>
          <p:cNvPicPr>
            <a:picLocks noChangeAspect="1"/>
          </p:cNvPicPr>
          <p:nvPr/>
        </p:nvPicPr>
        <p:blipFill>
          <a:blip r:embed="rId5"/>
          <a:stretch>
            <a:fillRect/>
          </a:stretch>
        </p:blipFill>
        <p:spPr>
          <a:xfrm>
            <a:off x="8412480" y="4343400"/>
            <a:ext cx="274320" cy="274320"/>
          </a:xfrm>
          <a:prstGeom prst="rect">
            <a:avLst/>
          </a:prstGeom>
        </p:spPr>
      </p:pic>
      <p:sp>
        <p:nvSpPr>
          <p:cNvPr id="27" name="Text 20"/>
          <p:cNvSpPr txBox="1"/>
          <p:nvPr/>
        </p:nvSpPr>
        <p:spPr>
          <a:xfrm>
            <a:off x="8961120" y="4206240"/>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Results I can measure</a:t>
            </a:r>
            <a:endParaRPr lang="en-US" sz="1700" dirty="0"/>
          </a:p>
        </p:txBody>
      </p:sp>
      <p:sp>
        <p:nvSpPr>
          <p:cNvPr id="28" name="Text 21"/>
          <p:cNvSpPr txBox="1"/>
          <p:nvPr/>
        </p:nvSpPr>
        <p:spPr>
          <a:xfrm>
            <a:off x="8275320" y="4892040"/>
            <a:ext cx="3108960" cy="1051560"/>
          </a:xfrm>
          <a:prstGeom prst="rect">
            <a:avLst/>
          </a:prstGeom>
          <a:noFill/>
          <a:ln/>
        </p:spPr>
        <p:txBody>
          <a:bodyPr wrap="square" lIns="0" tIns="0" rIns="0" bIns="0" rtlCol="0" anchor="t"/>
          <a:lstStyle/>
          <a:p>
            <a:pPr indent="0" marL="0">
              <a:buNone/>
            </a:pPr>
            <a:r>
              <a:rPr lang="en-US" sz="1400" dirty="0">
                <a:solidFill>
                  <a:schemeClr val="accent5"/>
                </a:solidFill>
              </a:rPr>
              <a:t>The public DSB 2018 dataset has expert-drawn ground truth, so every result can be checked with numbers, not just by eye.</a:t>
            </a:r>
            <a:endParaRPr lang="en-US" sz="14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01  ·  PROBLEM</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The problem: counting cells that touch</a:t>
            </a:r>
            <a:endParaRPr lang="en-US" sz="3200" dirty="0"/>
          </a:p>
        </p:txBody>
      </p:sp>
      <p:sp>
        <p:nvSpPr>
          <p:cNvPr id="4" name="assignment card"/>
          <p:cNvSpPr/>
          <p:nvPr/>
        </p:nvSpPr>
        <p:spPr>
          <a:xfrm>
            <a:off x="548640" y="1600200"/>
            <a:ext cx="539496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sp>
        <p:nvSpPr>
          <p:cNvPr id="5" name="Text 3"/>
          <p:cNvSpPr txBox="1"/>
          <p:nvPr/>
        </p:nvSpPr>
        <p:spPr>
          <a:xfrm>
            <a:off x="868680" y="1828800"/>
            <a:ext cx="4754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ASSIGNMENT BRIEF  ·  TOPIC 3</a:t>
            </a:r>
            <a:endParaRPr lang="en-US" sz="1200" dirty="0"/>
          </a:p>
        </p:txBody>
      </p:sp>
      <p:sp>
        <p:nvSpPr>
          <p:cNvPr id="6" name="Text 4"/>
          <p:cNvSpPr txBox="1"/>
          <p:nvPr/>
        </p:nvSpPr>
        <p:spPr>
          <a:xfrm>
            <a:off x="868680" y="2286000"/>
            <a:ext cx="1463040" cy="822960"/>
          </a:xfrm>
          <a:prstGeom prst="rect">
            <a:avLst/>
          </a:prstGeom>
          <a:noFill/>
          <a:ln/>
        </p:spPr>
        <p:txBody>
          <a:bodyPr wrap="square" lIns="0" tIns="0" rIns="0" bIns="0" rtlCol="0" anchor="t"/>
          <a:lstStyle/>
          <a:p>
            <a:pPr indent="0" marL="0">
              <a:buNone/>
            </a:pPr>
            <a:r>
              <a:rPr lang="en-US" sz="1400" b="1" dirty="0">
                <a:solidFill>
                  <a:schemeClr val="tx1"/>
                </a:solidFill>
              </a:rPr>
              <a:t>Input</a:t>
            </a:r>
            <a:endParaRPr lang="en-US" sz="1400" dirty="0"/>
          </a:p>
        </p:txBody>
      </p:sp>
      <p:sp>
        <p:nvSpPr>
          <p:cNvPr id="7" name="Text 5"/>
          <p:cNvSpPr txBox="1"/>
          <p:nvPr/>
        </p:nvSpPr>
        <p:spPr>
          <a:xfrm>
            <a:off x="2377440" y="2286000"/>
            <a:ext cx="3291840" cy="868680"/>
          </a:xfrm>
          <a:prstGeom prst="rect">
            <a:avLst/>
          </a:prstGeom>
          <a:noFill/>
          <a:ln/>
        </p:spPr>
        <p:txBody>
          <a:bodyPr wrap="square" lIns="0" tIns="0" rIns="0" bIns="0" rtlCol="0" anchor="t"/>
          <a:lstStyle/>
          <a:p>
            <a:pPr indent="0" marL="0">
              <a:buNone/>
            </a:pPr>
            <a:r>
              <a:rPr lang="en-US" sz="1400" dirty="0">
                <a:solidFill>
                  <a:schemeClr val="accent5"/>
                </a:solidFill>
              </a:rPr>
              <a:t>Stained microscopy images with many overlapping cells</a:t>
            </a:r>
            <a:endParaRPr lang="en-US" sz="1400" dirty="0"/>
          </a:p>
        </p:txBody>
      </p:sp>
      <p:sp>
        <p:nvSpPr>
          <p:cNvPr id="8" name="Text 6"/>
          <p:cNvSpPr txBox="1"/>
          <p:nvPr/>
        </p:nvSpPr>
        <p:spPr>
          <a:xfrm>
            <a:off x="868680" y="3154680"/>
            <a:ext cx="1463040" cy="822960"/>
          </a:xfrm>
          <a:prstGeom prst="rect">
            <a:avLst/>
          </a:prstGeom>
          <a:noFill/>
          <a:ln/>
        </p:spPr>
        <p:txBody>
          <a:bodyPr wrap="square" lIns="0" tIns="0" rIns="0" bIns="0" rtlCol="0" anchor="t"/>
          <a:lstStyle/>
          <a:p>
            <a:pPr indent="0" marL="0">
              <a:buNone/>
            </a:pPr>
            <a:r>
              <a:rPr lang="en-US" sz="1400" b="1" dirty="0">
                <a:solidFill>
                  <a:schemeClr val="tx1"/>
                </a:solidFill>
              </a:rPr>
              <a:t>Output</a:t>
            </a:r>
            <a:endParaRPr lang="en-US" sz="1400" dirty="0"/>
          </a:p>
        </p:txBody>
      </p:sp>
      <p:sp>
        <p:nvSpPr>
          <p:cNvPr id="9" name="Text 7"/>
          <p:cNvSpPr txBox="1"/>
          <p:nvPr/>
        </p:nvSpPr>
        <p:spPr>
          <a:xfrm>
            <a:off x="2377440" y="3154680"/>
            <a:ext cx="3291840" cy="868680"/>
          </a:xfrm>
          <a:prstGeom prst="rect">
            <a:avLst/>
          </a:prstGeom>
          <a:noFill/>
          <a:ln/>
        </p:spPr>
        <p:txBody>
          <a:bodyPr wrap="square" lIns="0" tIns="0" rIns="0" bIns="0" rtlCol="0" anchor="t"/>
          <a:lstStyle/>
          <a:p>
            <a:pPr indent="0" marL="0">
              <a:buNone/>
            </a:pPr>
            <a:r>
              <a:rPr lang="en-US" sz="1400" dirty="0">
                <a:solidFill>
                  <a:schemeClr val="accent5"/>
                </a:solidFill>
              </a:rPr>
              <a:t>Numbered cell contours, area of each cell, area histogram</a:t>
            </a:r>
            <a:endParaRPr lang="en-US" sz="1400" dirty="0"/>
          </a:p>
        </p:txBody>
      </p:sp>
      <p:sp>
        <p:nvSpPr>
          <p:cNvPr id="10" name="Text 8"/>
          <p:cNvSpPr txBox="1"/>
          <p:nvPr/>
        </p:nvSpPr>
        <p:spPr>
          <a:xfrm>
            <a:off x="868680" y="4023360"/>
            <a:ext cx="1463040" cy="822960"/>
          </a:xfrm>
          <a:prstGeom prst="rect">
            <a:avLst/>
          </a:prstGeom>
          <a:noFill/>
          <a:ln/>
        </p:spPr>
        <p:txBody>
          <a:bodyPr wrap="square" lIns="0" tIns="0" rIns="0" bIns="0" rtlCol="0" anchor="t"/>
          <a:lstStyle/>
          <a:p>
            <a:pPr indent="0" marL="0">
              <a:buNone/>
            </a:pPr>
            <a:r>
              <a:rPr lang="en-US" sz="1400" b="1" dirty="0">
                <a:solidFill>
                  <a:schemeClr val="tx1"/>
                </a:solidFill>
              </a:rPr>
              <a:t>Technical focus</a:t>
            </a:r>
            <a:endParaRPr lang="en-US" sz="1400" dirty="0"/>
          </a:p>
        </p:txBody>
      </p:sp>
      <p:sp>
        <p:nvSpPr>
          <p:cNvPr id="11" name="Text 9"/>
          <p:cNvSpPr txBox="1"/>
          <p:nvPr/>
        </p:nvSpPr>
        <p:spPr>
          <a:xfrm>
            <a:off x="2377440" y="4023360"/>
            <a:ext cx="3291840" cy="868680"/>
          </a:xfrm>
          <a:prstGeom prst="rect">
            <a:avLst/>
          </a:prstGeom>
          <a:noFill/>
          <a:ln/>
        </p:spPr>
        <p:txBody>
          <a:bodyPr wrap="square" lIns="0" tIns="0" rIns="0" bIns="0" rtlCol="0" anchor="t"/>
          <a:lstStyle/>
          <a:p>
            <a:pPr indent="0" marL="0">
              <a:buNone/>
            </a:pPr>
            <a:r>
              <a:rPr lang="en-US" sz="1400" dirty="0">
                <a:solidFill>
                  <a:schemeClr val="accent5"/>
                </a:solidFill>
              </a:rPr>
              <a:t>Pre-trained U-Net probability map, distance transform, watershed</a:t>
            </a:r>
            <a:endParaRPr lang="en-US" sz="1400" dirty="0"/>
          </a:p>
        </p:txBody>
      </p:sp>
      <p:sp>
        <p:nvSpPr>
          <p:cNvPr id="12" name="Text 10"/>
          <p:cNvSpPr txBox="1"/>
          <p:nvPr/>
        </p:nvSpPr>
        <p:spPr>
          <a:xfrm>
            <a:off x="868680" y="4892040"/>
            <a:ext cx="1463040" cy="822960"/>
          </a:xfrm>
          <a:prstGeom prst="rect">
            <a:avLst/>
          </a:prstGeom>
          <a:noFill/>
          <a:ln/>
        </p:spPr>
        <p:txBody>
          <a:bodyPr wrap="square" lIns="0" tIns="0" rIns="0" bIns="0" rtlCol="0" anchor="t"/>
          <a:lstStyle/>
          <a:p>
            <a:pPr indent="0" marL="0">
              <a:buNone/>
            </a:pPr>
            <a:r>
              <a:rPr lang="en-US" sz="1400" b="1" dirty="0">
                <a:solidFill>
                  <a:schemeClr val="tx1"/>
                </a:solidFill>
              </a:rPr>
              <a:t>Must iterate on</a:t>
            </a:r>
            <a:endParaRPr lang="en-US" sz="1400" dirty="0"/>
          </a:p>
        </p:txBody>
      </p:sp>
      <p:sp>
        <p:nvSpPr>
          <p:cNvPr id="13" name="Text 11"/>
          <p:cNvSpPr txBox="1"/>
          <p:nvPr/>
        </p:nvSpPr>
        <p:spPr>
          <a:xfrm>
            <a:off x="2377440" y="4892040"/>
            <a:ext cx="3291840" cy="868680"/>
          </a:xfrm>
          <a:prstGeom prst="rect">
            <a:avLst/>
          </a:prstGeom>
          <a:noFill/>
          <a:ln/>
        </p:spPr>
        <p:txBody>
          <a:bodyPr wrap="square" lIns="0" tIns="0" rIns="0" bIns="0" rtlCol="0" anchor="t"/>
          <a:lstStyle/>
          <a:p>
            <a:pPr indent="0" marL="0">
              <a:buNone/>
            </a:pPr>
            <a:r>
              <a:rPr lang="en-US" sz="1400" dirty="0">
                <a:solidFill>
                  <a:schemeClr val="accent5"/>
                </a:solidFill>
              </a:rPr>
              <a:t>Threshold tuning to avoid over/under-segmentation; show probability heatmaps for manual review</a:t>
            </a:r>
            <a:endParaRPr lang="en-US" sz="1400" dirty="0"/>
          </a:p>
        </p:txBody>
      </p:sp>
      <p:pic>
        <p:nvPicPr>
          <p:cNvPr id="14" name="input image" descr="C:\Users\admin\AppData\Local\Temp\claude\c--Users-admin-Desktop-Microscopic-Cell-Image\a5404c32-f9e8-462d-b663-48f8cfe84d83\scratchpad\deck\img\02_dense_touching_original.png">    </p:cNvPr>
          <p:cNvPicPr>
            <a:picLocks noChangeAspect="1"/>
          </p:cNvPicPr>
          <p:nvPr/>
        </p:nvPicPr>
        <p:blipFill>
          <a:blip r:embed="rId1"/>
          <a:stretch>
            <a:fillRect/>
          </a:stretch>
        </p:blipFill>
        <p:spPr>
          <a:xfrm>
            <a:off x="6309360" y="1988820"/>
            <a:ext cx="2514600" cy="2011680"/>
          </a:xfrm>
          <a:prstGeom prst="rect">
            <a:avLst/>
          </a:prstGeom>
        </p:spPr>
      </p:pic>
      <p:pic>
        <p:nvPicPr>
          <p:cNvPr id="15" name="output image" descr="C:\Users\admin\AppData\Local\Temp\claude\c--Users-admin-Desktop-Microscopic-Cell-Image\a5404c32-f9e8-462d-b663-48f8cfe84d83\scratchpad\deck\img\02_dense_touching_overlay.png">    </p:cNvPr>
          <p:cNvPicPr>
            <a:picLocks noChangeAspect="1"/>
          </p:cNvPicPr>
          <p:nvPr/>
        </p:nvPicPr>
        <p:blipFill>
          <a:blip r:embed="rId2"/>
          <a:stretch>
            <a:fillRect/>
          </a:stretch>
        </p:blipFill>
        <p:spPr>
          <a:xfrm>
            <a:off x="9098280" y="1988820"/>
            <a:ext cx="2514600" cy="2011680"/>
          </a:xfrm>
          <a:prstGeom prst="rect">
            <a:avLst/>
          </a:prstGeom>
        </p:spPr>
      </p:pic>
      <p:sp>
        <p:nvSpPr>
          <p:cNvPr id="16" name="Shape 12"/>
          <p:cNvSpPr/>
          <p:nvPr/>
        </p:nvSpPr>
        <p:spPr>
          <a:xfrm>
            <a:off x="8851392" y="2857500"/>
            <a:ext cx="228600" cy="274320"/>
          </a:xfrm>
          <a:prstGeom prst="rightArrow">
            <a:avLst/>
          </a:prstGeom>
          <a:solidFill>
            <a:schemeClr val="accent1"/>
          </a:solidFill>
          <a:ln/>
        </p:spPr>
      </p:sp>
      <p:sp>
        <p:nvSpPr>
          <p:cNvPr id="17" name="Text 13"/>
          <p:cNvSpPr txBox="1"/>
          <p:nvPr/>
        </p:nvSpPr>
        <p:spPr>
          <a:xfrm>
            <a:off x="6309360" y="4137660"/>
            <a:ext cx="2514600" cy="640080"/>
          </a:xfrm>
          <a:prstGeom prst="rect">
            <a:avLst/>
          </a:prstGeom>
          <a:noFill/>
          <a:ln/>
        </p:spPr>
        <p:txBody>
          <a:bodyPr wrap="square" lIns="0" tIns="0" rIns="0" bIns="0" rtlCol="0" anchor="t"/>
          <a:lstStyle/>
          <a:p>
            <a:pPr indent="0" marL="0">
              <a:buNone/>
            </a:pPr>
            <a:r>
              <a:rPr lang="en-US" sz="1300" b="1" dirty="0">
                <a:solidFill>
                  <a:schemeClr val="tx1"/>
                </a:solidFill>
              </a:rPr>
              <a:t>Input</a:t>
            </a:r>
            <a:endParaRPr lang="en-US" sz="1300" dirty="0"/>
          </a:p>
          <a:p>
            <a:pPr indent="0" marL="0">
              <a:buNone/>
            </a:pPr>
            <a:r>
              <a:rPr lang="en-US" sz="1300" dirty="0">
                <a:solidFill>
                  <a:schemeClr val="accent5"/>
                </a:solidFill>
              </a:rPr>
              <a:t>87 nuclei, many touching in clumps</a:t>
            </a:r>
            <a:endParaRPr lang="en-US" sz="1300" dirty="0"/>
          </a:p>
        </p:txBody>
      </p:sp>
      <p:sp>
        <p:nvSpPr>
          <p:cNvPr id="18" name="Text 14"/>
          <p:cNvSpPr txBox="1"/>
          <p:nvPr/>
        </p:nvSpPr>
        <p:spPr>
          <a:xfrm>
            <a:off x="9098280" y="4137660"/>
            <a:ext cx="2514600" cy="640080"/>
          </a:xfrm>
          <a:prstGeom prst="rect">
            <a:avLst/>
          </a:prstGeom>
          <a:noFill/>
          <a:ln/>
        </p:spPr>
        <p:txBody>
          <a:bodyPr wrap="square" lIns="0" tIns="0" rIns="0" bIns="0" rtlCol="0" anchor="t"/>
          <a:lstStyle/>
          <a:p>
            <a:pPr indent="0" marL="0">
              <a:buNone/>
            </a:pPr>
            <a:r>
              <a:rPr lang="en-US" sz="1300" b="1" dirty="0">
                <a:solidFill>
                  <a:schemeClr val="tx1"/>
                </a:solidFill>
              </a:rPr>
              <a:t>Output</a:t>
            </a:r>
            <a:endParaRPr lang="en-US" sz="1300" dirty="0"/>
          </a:p>
          <a:p>
            <a:pPr indent="0" marL="0">
              <a:buNone/>
            </a:pPr>
            <a:r>
              <a:rPr lang="en-US" sz="1300" dirty="0">
                <a:solidFill>
                  <a:schemeClr val="accent5"/>
                </a:solidFill>
              </a:rPr>
              <a:t>Each cell outlined and numbered</a:t>
            </a:r>
            <a:endParaRPr lang="en-US" sz="1300" dirty="0"/>
          </a:p>
        </p:txBody>
      </p:sp>
      <p:sp>
        <p:nvSpPr>
          <p:cNvPr id="19" name="challenge"/>
          <p:cNvSpPr/>
          <p:nvPr/>
        </p:nvSpPr>
        <p:spPr>
          <a:xfrm>
            <a:off x="6309360" y="5212080"/>
            <a:ext cx="5303520" cy="914400"/>
          </a:xfrm>
          <a:prstGeom prst="roundRect">
            <a:avLst>
              <a:gd name="adj" fmla="val 8000"/>
            </a:avLst>
          </a:prstGeom>
          <a:solidFill>
            <a:schemeClr val="tx2"/>
          </a:solidFill>
          <a:ln/>
          <a:effectLst>
            <a:outerShdw sx="100000" sy="100000" kx="0" ky="0" algn="bl" rotWithShape="0" blurRad="127000" dist="25400" dir="5400000">
              <a:srgbClr val="1B1A33">
                <a:alpha val="8000"/>
              </a:srgbClr>
            </a:outerShdw>
          </a:effectLst>
        </p:spPr>
      </p:sp>
      <p:sp>
        <p:nvSpPr>
          <p:cNvPr id="20" name="Text 16"/>
          <p:cNvSpPr txBox="1"/>
          <p:nvPr/>
        </p:nvSpPr>
        <p:spPr>
          <a:xfrm>
            <a:off x="6537960" y="5285232"/>
            <a:ext cx="4892040" cy="777240"/>
          </a:xfrm>
          <a:prstGeom prst="rect">
            <a:avLst/>
          </a:prstGeom>
          <a:noFill/>
          <a:ln/>
        </p:spPr>
        <p:txBody>
          <a:bodyPr wrap="square" lIns="0" tIns="0" rIns="0" bIns="0" rtlCol="0" anchor="ctr"/>
          <a:lstStyle/>
          <a:p>
            <a:pPr indent="0" marL="0">
              <a:buNone/>
            </a:pPr>
            <a:r>
              <a:rPr lang="en-US" sz="1400" dirty="0">
                <a:solidFill>
                  <a:schemeClr val="bg1"/>
                </a:solidFill>
              </a:rPr>
              <a:t>Key challenge: after thresholding, touching cells form one white blob. The system must cut each blob back into single cells.</a:t>
            </a:r>
            <a:endParaRPr lang="en-US" sz="14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01  ·  OVERVIEW</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Presentation roadmap</a:t>
            </a:r>
            <a:endParaRPr lang="en-US" sz="3200" dirty="0"/>
          </a:p>
        </p:txBody>
      </p:sp>
      <p:sp>
        <p:nvSpPr>
          <p:cNvPr id="4" name="roadmap 1"/>
          <p:cNvSpPr/>
          <p:nvPr/>
        </p:nvSpPr>
        <p:spPr>
          <a:xfrm>
            <a:off x="548640" y="1737360"/>
            <a:ext cx="2615184" cy="2011680"/>
          </a:xfrm>
          <a:prstGeom prst="roundRect">
            <a:avLst>
              <a:gd name="adj" fmla="val 3636"/>
            </a:avLst>
          </a:prstGeom>
          <a:solidFill>
            <a:schemeClr val="bg1"/>
          </a:solidFill>
          <a:ln/>
          <a:effectLst>
            <a:outerShdw sx="100000" sy="100000" kx="0" ky="0" algn="bl" rotWithShape="0" blurRad="127000" dist="25400" dir="5400000">
              <a:srgbClr val="1B1A33">
                <a:alpha val="8000"/>
              </a:srgbClr>
            </a:outerShdw>
          </a:effectLst>
        </p:spPr>
      </p:sp>
      <p:sp>
        <p:nvSpPr>
          <p:cNvPr id="5" name="num 1"/>
          <p:cNvSpPr/>
          <p:nvPr/>
        </p:nvSpPr>
        <p:spPr>
          <a:xfrm>
            <a:off x="822960" y="2011680"/>
            <a:ext cx="548640" cy="548640"/>
          </a:xfrm>
          <a:prstGeom prst="ellipse">
            <a:avLst/>
          </a:prstGeom>
          <a:solidFill>
            <a:schemeClr val="accent1"/>
          </a:solidFill>
          <a:ln/>
        </p:spPr>
      </p:sp>
      <p:sp>
        <p:nvSpPr>
          <p:cNvPr id="6" name="Text 4"/>
          <p:cNvSpPr txBox="1"/>
          <p:nvPr/>
        </p:nvSpPr>
        <p:spPr>
          <a:xfrm>
            <a:off x="822960" y="2011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822960" y="2697480"/>
            <a:ext cx="2194560" cy="411480"/>
          </a:xfrm>
          <a:prstGeom prst="rect">
            <a:avLst/>
          </a:prstGeom>
          <a:noFill/>
          <a:ln/>
        </p:spPr>
        <p:txBody>
          <a:bodyPr wrap="square" lIns="0" tIns="0" rIns="0" bIns="0" rtlCol="0" anchor="t"/>
          <a:lstStyle/>
          <a:p>
            <a:pPr indent="0" marL="0">
              <a:buNone/>
            </a:pPr>
            <a:r>
              <a:rPr lang="en-US" sz="1700" b="1" dirty="0">
                <a:solidFill>
                  <a:schemeClr val="tx1"/>
                </a:solidFill>
              </a:rPr>
              <a:t>Motivation &amp; problem</a:t>
            </a:r>
            <a:endParaRPr lang="en-US" sz="1700" dirty="0"/>
          </a:p>
        </p:txBody>
      </p:sp>
      <p:sp>
        <p:nvSpPr>
          <p:cNvPr id="8" name="Text 6"/>
          <p:cNvSpPr txBox="1"/>
          <p:nvPr/>
        </p:nvSpPr>
        <p:spPr>
          <a:xfrm>
            <a:off x="822960" y="3108960"/>
            <a:ext cx="2194560" cy="548640"/>
          </a:xfrm>
          <a:prstGeom prst="rect">
            <a:avLst/>
          </a:prstGeom>
          <a:noFill/>
          <a:ln/>
        </p:spPr>
        <p:txBody>
          <a:bodyPr wrap="square" lIns="0" tIns="0" rIns="0" bIns="0" rtlCol="0" anchor="t"/>
          <a:lstStyle/>
          <a:p>
            <a:pPr indent="0" marL="0">
              <a:buNone/>
            </a:pPr>
            <a:r>
              <a:rPr lang="en-US" sz="1300" dirty="0">
                <a:solidFill>
                  <a:schemeClr val="accent5"/>
                </a:solidFill>
              </a:rPr>
              <a:t>Why this topic, what the brief asks</a:t>
            </a:r>
            <a:endParaRPr lang="en-US" sz="1300" dirty="0"/>
          </a:p>
        </p:txBody>
      </p:sp>
      <p:sp>
        <p:nvSpPr>
          <p:cNvPr id="9" name="roadmap 2"/>
          <p:cNvSpPr/>
          <p:nvPr/>
        </p:nvSpPr>
        <p:spPr>
          <a:xfrm>
            <a:off x="3364992" y="1737360"/>
            <a:ext cx="2615184" cy="2011680"/>
          </a:xfrm>
          <a:prstGeom prst="roundRect">
            <a:avLst>
              <a:gd name="adj" fmla="val 3636"/>
            </a:avLst>
          </a:prstGeom>
          <a:solidFill>
            <a:schemeClr val="bg1"/>
          </a:solidFill>
          <a:ln/>
          <a:effectLst>
            <a:outerShdw sx="100000" sy="100000" kx="0" ky="0" algn="bl" rotWithShape="0" blurRad="127000" dist="25400" dir="5400000">
              <a:srgbClr val="1B1A33">
                <a:alpha val="8000"/>
              </a:srgbClr>
            </a:outerShdw>
          </a:effectLst>
        </p:spPr>
      </p:sp>
      <p:sp>
        <p:nvSpPr>
          <p:cNvPr id="10" name="num 2"/>
          <p:cNvSpPr/>
          <p:nvPr/>
        </p:nvSpPr>
        <p:spPr>
          <a:xfrm>
            <a:off x="3639312" y="2011680"/>
            <a:ext cx="548640" cy="548640"/>
          </a:xfrm>
          <a:prstGeom prst="ellipse">
            <a:avLst/>
          </a:prstGeom>
          <a:solidFill>
            <a:schemeClr val="accent1"/>
          </a:solidFill>
          <a:ln/>
        </p:spPr>
      </p:sp>
      <p:sp>
        <p:nvSpPr>
          <p:cNvPr id="11" name="Text 9"/>
          <p:cNvSpPr txBox="1"/>
          <p:nvPr/>
        </p:nvSpPr>
        <p:spPr>
          <a:xfrm>
            <a:off x="3639312" y="2011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3639312" y="2697480"/>
            <a:ext cx="2194560" cy="411480"/>
          </a:xfrm>
          <a:prstGeom prst="rect">
            <a:avLst/>
          </a:prstGeom>
          <a:noFill/>
          <a:ln/>
        </p:spPr>
        <p:txBody>
          <a:bodyPr wrap="square" lIns="0" tIns="0" rIns="0" bIns="0" rtlCol="0" anchor="t"/>
          <a:lstStyle/>
          <a:p>
            <a:pPr indent="0" marL="0">
              <a:buNone/>
            </a:pPr>
            <a:r>
              <a:rPr lang="en-US" sz="1700" b="1" dirty="0">
                <a:solidFill>
                  <a:schemeClr val="tx1"/>
                </a:solidFill>
              </a:rPr>
              <a:t>Development process</a:t>
            </a:r>
            <a:endParaRPr lang="en-US" sz="1700" dirty="0"/>
          </a:p>
        </p:txBody>
      </p:sp>
      <p:sp>
        <p:nvSpPr>
          <p:cNvPr id="13" name="Text 11"/>
          <p:cNvSpPr txBox="1"/>
          <p:nvPr/>
        </p:nvSpPr>
        <p:spPr>
          <a:xfrm>
            <a:off x="3639312" y="3108960"/>
            <a:ext cx="2194560" cy="548640"/>
          </a:xfrm>
          <a:prstGeom prst="rect">
            <a:avLst/>
          </a:prstGeom>
          <a:noFill/>
          <a:ln/>
        </p:spPr>
        <p:txBody>
          <a:bodyPr wrap="square" lIns="0" tIns="0" rIns="0" bIns="0" rtlCol="0" anchor="t"/>
          <a:lstStyle/>
          <a:p>
            <a:pPr indent="0" marL="0">
              <a:buNone/>
            </a:pPr>
            <a:r>
              <a:rPr lang="en-US" sz="1300" dirty="0">
                <a:solidFill>
                  <a:schemeClr val="accent5"/>
                </a:solidFill>
              </a:rPr>
              <a:t>From the first sketch to working software</a:t>
            </a:r>
            <a:endParaRPr lang="en-US" sz="1300" dirty="0"/>
          </a:p>
        </p:txBody>
      </p:sp>
      <p:sp>
        <p:nvSpPr>
          <p:cNvPr id="14" name="roadmap 3"/>
          <p:cNvSpPr/>
          <p:nvPr/>
        </p:nvSpPr>
        <p:spPr>
          <a:xfrm>
            <a:off x="6181344" y="1737360"/>
            <a:ext cx="2615184" cy="2011680"/>
          </a:xfrm>
          <a:prstGeom prst="roundRect">
            <a:avLst>
              <a:gd name="adj" fmla="val 3636"/>
            </a:avLst>
          </a:prstGeom>
          <a:solidFill>
            <a:schemeClr val="bg1"/>
          </a:solidFill>
          <a:ln/>
          <a:effectLst>
            <a:outerShdw sx="100000" sy="100000" kx="0" ky="0" algn="bl" rotWithShape="0" blurRad="127000" dist="25400" dir="5400000">
              <a:srgbClr val="1B1A33">
                <a:alpha val="8000"/>
              </a:srgbClr>
            </a:outerShdw>
          </a:effectLst>
        </p:spPr>
      </p:sp>
      <p:sp>
        <p:nvSpPr>
          <p:cNvPr id="15" name="num 3"/>
          <p:cNvSpPr/>
          <p:nvPr/>
        </p:nvSpPr>
        <p:spPr>
          <a:xfrm>
            <a:off x="6455664" y="2011680"/>
            <a:ext cx="548640" cy="548640"/>
          </a:xfrm>
          <a:prstGeom prst="ellipse">
            <a:avLst/>
          </a:prstGeom>
          <a:solidFill>
            <a:schemeClr val="accent1"/>
          </a:solidFill>
          <a:ln/>
        </p:spPr>
      </p:sp>
      <p:sp>
        <p:nvSpPr>
          <p:cNvPr id="16" name="Text 14"/>
          <p:cNvSpPr txBox="1"/>
          <p:nvPr/>
        </p:nvSpPr>
        <p:spPr>
          <a:xfrm>
            <a:off x="6455664" y="2011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6455664" y="2697480"/>
            <a:ext cx="2194560" cy="411480"/>
          </a:xfrm>
          <a:prstGeom prst="rect">
            <a:avLst/>
          </a:prstGeom>
          <a:noFill/>
          <a:ln/>
        </p:spPr>
        <p:txBody>
          <a:bodyPr wrap="square" lIns="0" tIns="0" rIns="0" bIns="0" rtlCol="0" anchor="t"/>
          <a:lstStyle/>
          <a:p>
            <a:pPr indent="0" marL="0">
              <a:buNone/>
            </a:pPr>
            <a:r>
              <a:rPr lang="en-US" sz="1700" b="1" dirty="0">
                <a:solidFill>
                  <a:schemeClr val="tx1"/>
                </a:solidFill>
              </a:rPr>
              <a:t>Architecture design</a:t>
            </a:r>
            <a:endParaRPr lang="en-US" sz="1700" dirty="0"/>
          </a:p>
        </p:txBody>
      </p:sp>
      <p:sp>
        <p:nvSpPr>
          <p:cNvPr id="18" name="Text 16"/>
          <p:cNvSpPr txBox="1"/>
          <p:nvPr/>
        </p:nvSpPr>
        <p:spPr>
          <a:xfrm>
            <a:off x="6455664" y="3108960"/>
            <a:ext cx="2194560" cy="548640"/>
          </a:xfrm>
          <a:prstGeom prst="rect">
            <a:avLst/>
          </a:prstGeom>
          <a:noFill/>
          <a:ln/>
        </p:spPr>
        <p:txBody>
          <a:bodyPr wrap="square" lIns="0" tIns="0" rIns="0" bIns="0" rtlCol="0" anchor="t"/>
          <a:lstStyle/>
          <a:p>
            <a:pPr indent="0" marL="0">
              <a:buNone/>
            </a:pPr>
            <a:r>
              <a:rPr lang="en-US" sz="1300" dirty="0">
                <a:solidFill>
                  <a:schemeClr val="accent5"/>
                </a:solidFill>
              </a:rPr>
              <a:t>Layers, modules and interfaces</a:t>
            </a:r>
            <a:endParaRPr lang="en-US" sz="1300" dirty="0"/>
          </a:p>
        </p:txBody>
      </p:sp>
      <p:sp>
        <p:nvSpPr>
          <p:cNvPr id="19" name="roadmap 4"/>
          <p:cNvSpPr/>
          <p:nvPr/>
        </p:nvSpPr>
        <p:spPr>
          <a:xfrm>
            <a:off x="8997696" y="1737360"/>
            <a:ext cx="2615184" cy="2011680"/>
          </a:xfrm>
          <a:prstGeom prst="roundRect">
            <a:avLst>
              <a:gd name="adj" fmla="val 3636"/>
            </a:avLst>
          </a:prstGeom>
          <a:solidFill>
            <a:schemeClr val="bg1"/>
          </a:solidFill>
          <a:ln/>
          <a:effectLst>
            <a:outerShdw sx="100000" sy="100000" kx="0" ky="0" algn="bl" rotWithShape="0" blurRad="127000" dist="25400" dir="5400000">
              <a:srgbClr val="1B1A33">
                <a:alpha val="8000"/>
              </a:srgbClr>
            </a:outerShdw>
          </a:effectLst>
        </p:spPr>
      </p:sp>
      <p:sp>
        <p:nvSpPr>
          <p:cNvPr id="20" name="num 4"/>
          <p:cNvSpPr/>
          <p:nvPr/>
        </p:nvSpPr>
        <p:spPr>
          <a:xfrm>
            <a:off x="9272016" y="2011680"/>
            <a:ext cx="548640" cy="548640"/>
          </a:xfrm>
          <a:prstGeom prst="ellipse">
            <a:avLst/>
          </a:prstGeom>
          <a:solidFill>
            <a:schemeClr val="accent1"/>
          </a:solidFill>
          <a:ln/>
        </p:spPr>
      </p:sp>
      <p:sp>
        <p:nvSpPr>
          <p:cNvPr id="21" name="Text 19"/>
          <p:cNvSpPr txBox="1"/>
          <p:nvPr/>
        </p:nvSpPr>
        <p:spPr>
          <a:xfrm>
            <a:off x="9272016" y="2011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20"/>
          <p:cNvSpPr txBox="1"/>
          <p:nvPr/>
        </p:nvSpPr>
        <p:spPr>
          <a:xfrm>
            <a:off x="9272016" y="2697480"/>
            <a:ext cx="2194560" cy="411480"/>
          </a:xfrm>
          <a:prstGeom prst="rect">
            <a:avLst/>
          </a:prstGeom>
          <a:noFill/>
          <a:ln/>
        </p:spPr>
        <p:txBody>
          <a:bodyPr wrap="square" lIns="0" tIns="0" rIns="0" bIns="0" rtlCol="0" anchor="t"/>
          <a:lstStyle/>
          <a:p>
            <a:pPr indent="0" marL="0">
              <a:buNone/>
            </a:pPr>
            <a:r>
              <a:rPr lang="en-US" sz="1700" b="1" dirty="0">
                <a:solidFill>
                  <a:schemeClr val="tx1"/>
                </a:solidFill>
              </a:rPr>
              <a:t>Dataset</a:t>
            </a:r>
            <a:endParaRPr lang="en-US" sz="1700" dirty="0"/>
          </a:p>
        </p:txBody>
      </p:sp>
      <p:sp>
        <p:nvSpPr>
          <p:cNvPr id="23" name="Text 21"/>
          <p:cNvSpPr txBox="1"/>
          <p:nvPr/>
        </p:nvSpPr>
        <p:spPr>
          <a:xfrm>
            <a:off x="9272016" y="3108960"/>
            <a:ext cx="2194560" cy="548640"/>
          </a:xfrm>
          <a:prstGeom prst="rect">
            <a:avLst/>
          </a:prstGeom>
          <a:noFill/>
          <a:ln/>
        </p:spPr>
        <p:txBody>
          <a:bodyPr wrap="square" lIns="0" tIns="0" rIns="0" bIns="0" rtlCol="0" anchor="t"/>
          <a:lstStyle/>
          <a:p>
            <a:pPr indent="0" marL="0">
              <a:buNone/>
            </a:pPr>
            <a:r>
              <a:rPr lang="en-US" sz="1300" dirty="0">
                <a:solidFill>
                  <a:schemeClr val="accent5"/>
                </a:solidFill>
              </a:rPr>
              <a:t>DSB 2018 nuclei, split and augmentation</a:t>
            </a:r>
            <a:endParaRPr lang="en-US" sz="1300" dirty="0"/>
          </a:p>
        </p:txBody>
      </p:sp>
      <p:sp>
        <p:nvSpPr>
          <p:cNvPr id="24" name="roadmap 5"/>
          <p:cNvSpPr/>
          <p:nvPr/>
        </p:nvSpPr>
        <p:spPr>
          <a:xfrm>
            <a:off x="548640" y="3977640"/>
            <a:ext cx="2615184" cy="2011680"/>
          </a:xfrm>
          <a:prstGeom prst="roundRect">
            <a:avLst>
              <a:gd name="adj" fmla="val 3636"/>
            </a:avLst>
          </a:prstGeom>
          <a:solidFill>
            <a:schemeClr val="bg1"/>
          </a:solidFill>
          <a:ln/>
          <a:effectLst>
            <a:outerShdw sx="100000" sy="100000" kx="0" ky="0" algn="bl" rotWithShape="0" blurRad="127000" dist="25400" dir="5400000">
              <a:srgbClr val="1B1A33">
                <a:alpha val="8000"/>
              </a:srgbClr>
            </a:outerShdw>
          </a:effectLst>
        </p:spPr>
      </p:sp>
      <p:sp>
        <p:nvSpPr>
          <p:cNvPr id="25" name="num 5"/>
          <p:cNvSpPr/>
          <p:nvPr/>
        </p:nvSpPr>
        <p:spPr>
          <a:xfrm>
            <a:off x="822960" y="4251960"/>
            <a:ext cx="548640" cy="548640"/>
          </a:xfrm>
          <a:prstGeom prst="ellipse">
            <a:avLst/>
          </a:prstGeom>
          <a:solidFill>
            <a:schemeClr val="accent1"/>
          </a:solidFill>
          <a:ln/>
        </p:spPr>
      </p:sp>
      <p:sp>
        <p:nvSpPr>
          <p:cNvPr id="26" name="Text 24"/>
          <p:cNvSpPr txBox="1"/>
          <p:nvPr/>
        </p:nvSpPr>
        <p:spPr>
          <a:xfrm>
            <a:off x="822960" y="42519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5"/>
          <p:cNvSpPr txBox="1"/>
          <p:nvPr/>
        </p:nvSpPr>
        <p:spPr>
          <a:xfrm>
            <a:off x="822960" y="4937760"/>
            <a:ext cx="2194560" cy="411480"/>
          </a:xfrm>
          <a:prstGeom prst="rect">
            <a:avLst/>
          </a:prstGeom>
          <a:noFill/>
          <a:ln/>
        </p:spPr>
        <p:txBody>
          <a:bodyPr wrap="square" lIns="0" tIns="0" rIns="0" bIns="0" rtlCol="0" anchor="t"/>
          <a:lstStyle/>
          <a:p>
            <a:pPr indent="0" marL="0">
              <a:buNone/>
            </a:pPr>
            <a:r>
              <a:rPr lang="en-US" sz="1700" b="1" dirty="0">
                <a:solidFill>
                  <a:schemeClr val="tx1"/>
                </a:solidFill>
              </a:rPr>
              <a:t>Pipeline &amp; model</a:t>
            </a:r>
            <a:endParaRPr lang="en-US" sz="1700" dirty="0"/>
          </a:p>
        </p:txBody>
      </p:sp>
      <p:sp>
        <p:nvSpPr>
          <p:cNvPr id="28" name="Text 26"/>
          <p:cNvSpPr txBox="1"/>
          <p:nvPr/>
        </p:nvSpPr>
        <p:spPr>
          <a:xfrm>
            <a:off x="822960" y="5349240"/>
            <a:ext cx="2194560" cy="548640"/>
          </a:xfrm>
          <a:prstGeom prst="rect">
            <a:avLst/>
          </a:prstGeom>
          <a:noFill/>
          <a:ln/>
        </p:spPr>
        <p:txBody>
          <a:bodyPr wrap="square" lIns="0" tIns="0" rIns="0" bIns="0" rtlCol="0" anchor="t"/>
          <a:lstStyle/>
          <a:p>
            <a:pPr indent="0" marL="0">
              <a:buNone/>
            </a:pPr>
            <a:r>
              <a:rPr lang="en-US" sz="1300" dirty="0">
                <a:solidFill>
                  <a:schemeClr val="accent5"/>
                </a:solidFill>
              </a:rPr>
              <a:t>Preprocess, U-Net, watershed, analysis</a:t>
            </a:r>
            <a:endParaRPr lang="en-US" sz="1300" dirty="0"/>
          </a:p>
        </p:txBody>
      </p:sp>
      <p:sp>
        <p:nvSpPr>
          <p:cNvPr id="29" name="roadmap 6"/>
          <p:cNvSpPr/>
          <p:nvPr/>
        </p:nvSpPr>
        <p:spPr>
          <a:xfrm>
            <a:off x="3364992" y="3977640"/>
            <a:ext cx="2615184" cy="2011680"/>
          </a:xfrm>
          <a:prstGeom prst="roundRect">
            <a:avLst>
              <a:gd name="adj" fmla="val 3636"/>
            </a:avLst>
          </a:prstGeom>
          <a:solidFill>
            <a:schemeClr val="bg1"/>
          </a:solidFill>
          <a:ln/>
          <a:effectLst>
            <a:outerShdw sx="100000" sy="100000" kx="0" ky="0" algn="bl" rotWithShape="0" blurRad="127000" dist="25400" dir="5400000">
              <a:srgbClr val="1B1A33">
                <a:alpha val="8000"/>
              </a:srgbClr>
            </a:outerShdw>
          </a:effectLst>
        </p:spPr>
      </p:sp>
      <p:sp>
        <p:nvSpPr>
          <p:cNvPr id="30" name="num 6"/>
          <p:cNvSpPr/>
          <p:nvPr/>
        </p:nvSpPr>
        <p:spPr>
          <a:xfrm>
            <a:off x="3639312" y="4251960"/>
            <a:ext cx="548640" cy="548640"/>
          </a:xfrm>
          <a:prstGeom prst="ellipse">
            <a:avLst/>
          </a:prstGeom>
          <a:solidFill>
            <a:schemeClr val="accent1"/>
          </a:solidFill>
          <a:ln/>
        </p:spPr>
      </p:sp>
      <p:sp>
        <p:nvSpPr>
          <p:cNvPr id="31" name="Text 29"/>
          <p:cNvSpPr txBox="1"/>
          <p:nvPr/>
        </p:nvSpPr>
        <p:spPr>
          <a:xfrm>
            <a:off x="3639312" y="42519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30"/>
          <p:cNvSpPr txBox="1"/>
          <p:nvPr/>
        </p:nvSpPr>
        <p:spPr>
          <a:xfrm>
            <a:off x="3639312" y="4937760"/>
            <a:ext cx="2194560" cy="411480"/>
          </a:xfrm>
          <a:prstGeom prst="rect">
            <a:avLst/>
          </a:prstGeom>
          <a:noFill/>
          <a:ln/>
        </p:spPr>
        <p:txBody>
          <a:bodyPr wrap="square" lIns="0" tIns="0" rIns="0" bIns="0" rtlCol="0" anchor="t"/>
          <a:lstStyle/>
          <a:p>
            <a:pPr indent="0" marL="0">
              <a:buNone/>
            </a:pPr>
            <a:r>
              <a:rPr lang="en-US" sz="1700" b="1" dirty="0">
                <a:solidFill>
                  <a:schemeClr val="tx1"/>
                </a:solidFill>
              </a:rPr>
              <a:t>Parameters &amp; tuning</a:t>
            </a:r>
            <a:endParaRPr lang="en-US" sz="1700" dirty="0"/>
          </a:p>
        </p:txBody>
      </p:sp>
      <p:sp>
        <p:nvSpPr>
          <p:cNvPr id="33" name="Text 31"/>
          <p:cNvSpPr txBox="1"/>
          <p:nvPr/>
        </p:nvSpPr>
        <p:spPr>
          <a:xfrm>
            <a:off x="3639312" y="5349240"/>
            <a:ext cx="2194560" cy="548640"/>
          </a:xfrm>
          <a:prstGeom prst="rect">
            <a:avLst/>
          </a:prstGeom>
          <a:noFill/>
          <a:ln/>
        </p:spPr>
        <p:txBody>
          <a:bodyPr wrap="square" lIns="0" tIns="0" rIns="0" bIns="0" rtlCol="0" anchor="t"/>
          <a:lstStyle/>
          <a:p>
            <a:pPr indent="0" marL="0">
              <a:buNone/>
            </a:pPr>
            <a:r>
              <a:rPr lang="en-US" sz="1300" dirty="0">
                <a:solidFill>
                  <a:schemeClr val="accent5"/>
                </a:solidFill>
              </a:rPr>
              <a:t>What each slider does, how I tuned them</a:t>
            </a:r>
            <a:endParaRPr lang="en-US" sz="1300" dirty="0"/>
          </a:p>
        </p:txBody>
      </p:sp>
      <p:sp>
        <p:nvSpPr>
          <p:cNvPr id="34" name="roadmap 7"/>
          <p:cNvSpPr/>
          <p:nvPr/>
        </p:nvSpPr>
        <p:spPr>
          <a:xfrm>
            <a:off x="6181344" y="3977640"/>
            <a:ext cx="2615184" cy="2011680"/>
          </a:xfrm>
          <a:prstGeom prst="roundRect">
            <a:avLst>
              <a:gd name="adj" fmla="val 3636"/>
            </a:avLst>
          </a:prstGeom>
          <a:solidFill>
            <a:schemeClr val="bg1"/>
          </a:solidFill>
          <a:ln/>
          <a:effectLst>
            <a:outerShdw sx="100000" sy="100000" kx="0" ky="0" algn="bl" rotWithShape="0" blurRad="127000" dist="25400" dir="5400000">
              <a:srgbClr val="1B1A33">
                <a:alpha val="8000"/>
              </a:srgbClr>
            </a:outerShdw>
          </a:effectLst>
        </p:spPr>
      </p:sp>
      <p:sp>
        <p:nvSpPr>
          <p:cNvPr id="35" name="num 7"/>
          <p:cNvSpPr/>
          <p:nvPr/>
        </p:nvSpPr>
        <p:spPr>
          <a:xfrm>
            <a:off x="6455664" y="4251960"/>
            <a:ext cx="548640" cy="548640"/>
          </a:xfrm>
          <a:prstGeom prst="ellipse">
            <a:avLst/>
          </a:prstGeom>
          <a:solidFill>
            <a:schemeClr val="accent1"/>
          </a:solidFill>
          <a:ln/>
        </p:spPr>
      </p:sp>
      <p:sp>
        <p:nvSpPr>
          <p:cNvPr id="36" name="Text 34"/>
          <p:cNvSpPr txBox="1"/>
          <p:nvPr/>
        </p:nvSpPr>
        <p:spPr>
          <a:xfrm>
            <a:off x="6455664" y="42519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7" name="Text 35"/>
          <p:cNvSpPr txBox="1"/>
          <p:nvPr/>
        </p:nvSpPr>
        <p:spPr>
          <a:xfrm>
            <a:off x="6455664" y="4937760"/>
            <a:ext cx="2194560" cy="411480"/>
          </a:xfrm>
          <a:prstGeom prst="rect">
            <a:avLst/>
          </a:prstGeom>
          <a:noFill/>
          <a:ln/>
        </p:spPr>
        <p:txBody>
          <a:bodyPr wrap="square" lIns="0" tIns="0" rIns="0" bIns="0" rtlCol="0" anchor="t"/>
          <a:lstStyle/>
          <a:p>
            <a:pPr indent="0" marL="0">
              <a:buNone/>
            </a:pPr>
            <a:r>
              <a:rPr lang="en-US" sz="1700" b="1" dirty="0">
                <a:solidFill>
                  <a:schemeClr val="tx1"/>
                </a:solidFill>
              </a:rPr>
              <a:t>Results &amp; robustness</a:t>
            </a:r>
            <a:endParaRPr lang="en-US" sz="1700" dirty="0"/>
          </a:p>
        </p:txBody>
      </p:sp>
      <p:sp>
        <p:nvSpPr>
          <p:cNvPr id="38" name="Text 36"/>
          <p:cNvSpPr txBox="1"/>
          <p:nvPr/>
        </p:nvSpPr>
        <p:spPr>
          <a:xfrm>
            <a:off x="6455664" y="5349240"/>
            <a:ext cx="2194560" cy="548640"/>
          </a:xfrm>
          <a:prstGeom prst="rect">
            <a:avLst/>
          </a:prstGeom>
          <a:noFill/>
          <a:ln/>
        </p:spPr>
        <p:txBody>
          <a:bodyPr wrap="square" lIns="0" tIns="0" rIns="0" bIns="0" rtlCol="0" anchor="t"/>
          <a:lstStyle/>
          <a:p>
            <a:pPr indent="0" marL="0">
              <a:buNone/>
            </a:pPr>
            <a:r>
              <a:rPr lang="en-US" sz="1300" dirty="0">
                <a:solidFill>
                  <a:schemeClr val="accent5"/>
                </a:solidFill>
              </a:rPr>
              <a:t>Test-set numbers, error handling, tests</a:t>
            </a:r>
            <a:endParaRPr lang="en-US" sz="1300" dirty="0"/>
          </a:p>
        </p:txBody>
      </p:sp>
      <p:sp>
        <p:nvSpPr>
          <p:cNvPr id="39" name="roadmap 8"/>
          <p:cNvSpPr/>
          <p:nvPr/>
        </p:nvSpPr>
        <p:spPr>
          <a:xfrm>
            <a:off x="8997696" y="3977640"/>
            <a:ext cx="2615184" cy="2011680"/>
          </a:xfrm>
          <a:prstGeom prst="roundRect">
            <a:avLst>
              <a:gd name="adj" fmla="val 3636"/>
            </a:avLst>
          </a:prstGeom>
          <a:solidFill>
            <a:schemeClr val="tx2"/>
          </a:solidFill>
          <a:ln/>
          <a:effectLst>
            <a:outerShdw sx="100000" sy="100000" kx="0" ky="0" algn="bl" rotWithShape="0" blurRad="127000" dist="25400" dir="5400000">
              <a:srgbClr val="1B1A33">
                <a:alpha val="8000"/>
              </a:srgbClr>
            </a:outerShdw>
          </a:effectLst>
        </p:spPr>
      </p:sp>
      <p:sp>
        <p:nvSpPr>
          <p:cNvPr id="40" name="num 8"/>
          <p:cNvSpPr/>
          <p:nvPr/>
        </p:nvSpPr>
        <p:spPr>
          <a:xfrm>
            <a:off x="9272016" y="4251960"/>
            <a:ext cx="548640" cy="548640"/>
          </a:xfrm>
          <a:prstGeom prst="ellipse">
            <a:avLst/>
          </a:prstGeom>
          <a:solidFill>
            <a:schemeClr val="accent3"/>
          </a:solidFill>
          <a:ln/>
        </p:spPr>
      </p:sp>
      <p:sp>
        <p:nvSpPr>
          <p:cNvPr id="41" name="Text 39"/>
          <p:cNvSpPr txBox="1"/>
          <p:nvPr/>
        </p:nvSpPr>
        <p:spPr>
          <a:xfrm>
            <a:off x="9272016" y="42519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42" name="Text 40"/>
          <p:cNvSpPr txBox="1"/>
          <p:nvPr/>
        </p:nvSpPr>
        <p:spPr>
          <a:xfrm>
            <a:off x="9272016" y="4937760"/>
            <a:ext cx="2194560" cy="411480"/>
          </a:xfrm>
          <a:prstGeom prst="rect">
            <a:avLst/>
          </a:prstGeom>
          <a:noFill/>
          <a:ln/>
        </p:spPr>
        <p:txBody>
          <a:bodyPr wrap="square" lIns="0" tIns="0" rIns="0" bIns="0" rtlCol="0" anchor="t"/>
          <a:lstStyle/>
          <a:p>
            <a:pPr indent="0" marL="0">
              <a:buNone/>
            </a:pPr>
            <a:r>
              <a:rPr lang="en-US" sz="1700" b="1" dirty="0">
                <a:solidFill>
                  <a:schemeClr val="bg1"/>
                </a:solidFill>
              </a:rPr>
              <a:t>Live demo &amp; conclusion</a:t>
            </a:r>
            <a:endParaRPr lang="en-US" sz="1700" dirty="0"/>
          </a:p>
        </p:txBody>
      </p:sp>
      <p:sp>
        <p:nvSpPr>
          <p:cNvPr id="43" name="Text 41"/>
          <p:cNvSpPr txBox="1"/>
          <p:nvPr/>
        </p:nvSpPr>
        <p:spPr>
          <a:xfrm>
            <a:off x="9272016" y="5349240"/>
            <a:ext cx="2194560" cy="548640"/>
          </a:xfrm>
          <a:prstGeom prst="rect">
            <a:avLst/>
          </a:prstGeom>
          <a:noFill/>
          <a:ln/>
        </p:spPr>
        <p:txBody>
          <a:bodyPr wrap="square" lIns="0" tIns="0" rIns="0" bIns="0" rtlCol="0" anchor="t"/>
          <a:lstStyle/>
          <a:p>
            <a:pPr indent="0" marL="0">
              <a:buNone/>
            </a:pPr>
            <a:r>
              <a:rPr lang="en-US" sz="1300" dirty="0">
                <a:solidFill>
                  <a:schemeClr val="bg2"/>
                </a:solidFill>
              </a:rPr>
              <a:t>The software running on my laptop</a:t>
            </a:r>
            <a:endParaRPr lang="en-US" sz="13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02  ·  DEVELOPMENT PROCESS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From sketch to software: how the project was built</a:t>
            </a:r>
            <a:endParaRPr lang="en-US" sz="3200" dirty="0"/>
          </a:p>
        </p:txBody>
      </p:sp>
      <p:sp>
        <p:nvSpPr>
          <p:cNvPr id="4" name="Shape 2"/>
          <p:cNvSpPr/>
          <p:nvPr/>
        </p:nvSpPr>
        <p:spPr>
          <a:xfrm>
            <a:off x="1051560" y="2148840"/>
            <a:ext cx="9235440" cy="0"/>
          </a:xfrm>
          <a:prstGeom prst="line">
            <a:avLst/>
          </a:prstGeom>
          <a:noFill/>
          <a:ln w="25400">
            <a:solidFill>
              <a:schemeClr val="accent1"/>
            </a:solidFill>
            <a:prstDash val="solid"/>
          </a:ln>
        </p:spPr>
      </p:sp>
      <p:sp>
        <p:nvSpPr>
          <p:cNvPr id="5" name="num 1"/>
          <p:cNvSpPr/>
          <p:nvPr/>
        </p:nvSpPr>
        <p:spPr>
          <a:xfrm>
            <a:off x="731520" y="1828800"/>
            <a:ext cx="640080" cy="640080"/>
          </a:xfrm>
          <a:prstGeom prst="ellipse">
            <a:avLst/>
          </a:prstGeom>
          <a:solidFill>
            <a:schemeClr val="accent1"/>
          </a:solidFill>
          <a:ln/>
        </p:spPr>
      </p:sp>
      <p:sp>
        <p:nvSpPr>
          <p:cNvPr id="6" name="Text 4"/>
          <p:cNvSpPr txBox="1"/>
          <p:nvPr/>
        </p:nvSpPr>
        <p:spPr>
          <a:xfrm>
            <a:off x="731520" y="18288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731520" y="2651760"/>
            <a:ext cx="1645920" cy="365760"/>
          </a:xfrm>
          <a:prstGeom prst="rect">
            <a:avLst/>
          </a:prstGeom>
          <a:noFill/>
          <a:ln/>
        </p:spPr>
        <p:txBody>
          <a:bodyPr wrap="square" lIns="0" tIns="0" rIns="0" bIns="0" rtlCol="0" anchor="t"/>
          <a:lstStyle/>
          <a:p>
            <a:pPr indent="0" marL="0">
              <a:buNone/>
            </a:pPr>
            <a:r>
              <a:rPr lang="en-US" sz="1700" b="1" dirty="0">
                <a:solidFill>
                  <a:schemeClr val="tx1"/>
                </a:solidFill>
              </a:rPr>
              <a:t>Sketch</a:t>
            </a:r>
            <a:endParaRPr lang="en-US" sz="1700" dirty="0"/>
          </a:p>
        </p:txBody>
      </p:sp>
      <p:sp>
        <p:nvSpPr>
          <p:cNvPr id="8" name="Text 6"/>
          <p:cNvSpPr txBox="1"/>
          <p:nvPr/>
        </p:nvSpPr>
        <p:spPr>
          <a:xfrm>
            <a:off x="731520" y="3063240"/>
            <a:ext cx="1554480" cy="1005840"/>
          </a:xfrm>
          <a:prstGeom prst="rect">
            <a:avLst/>
          </a:prstGeom>
          <a:noFill/>
          <a:ln/>
        </p:spPr>
        <p:txBody>
          <a:bodyPr wrap="square" lIns="0" tIns="0" rIns="0" bIns="0" rtlCol="0" anchor="t"/>
          <a:lstStyle/>
          <a:p>
            <a:pPr indent="0" marL="0">
              <a:buNone/>
            </a:pPr>
            <a:r>
              <a:rPr lang="en-US" sz="1300" dirty="0">
                <a:solidFill>
                  <a:schemeClr val="accent5"/>
                </a:solidFill>
              </a:rPr>
              <a:t>Architecture and UI drawn first: 6 design pages</a:t>
            </a:r>
            <a:endParaRPr lang="en-US" sz="1300" dirty="0"/>
          </a:p>
        </p:txBody>
      </p:sp>
      <p:sp>
        <p:nvSpPr>
          <p:cNvPr id="9" name="num 2"/>
          <p:cNvSpPr/>
          <p:nvPr/>
        </p:nvSpPr>
        <p:spPr>
          <a:xfrm>
            <a:off x="2578608" y="1828800"/>
            <a:ext cx="640080" cy="640080"/>
          </a:xfrm>
          <a:prstGeom prst="ellipse">
            <a:avLst/>
          </a:prstGeom>
          <a:solidFill>
            <a:schemeClr val="accent1"/>
          </a:solidFill>
          <a:ln/>
        </p:spPr>
      </p:sp>
      <p:sp>
        <p:nvSpPr>
          <p:cNvPr id="10" name="Text 8"/>
          <p:cNvSpPr txBox="1"/>
          <p:nvPr/>
        </p:nvSpPr>
        <p:spPr>
          <a:xfrm>
            <a:off x="2578608" y="18288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2578608" y="2651760"/>
            <a:ext cx="1645920" cy="365760"/>
          </a:xfrm>
          <a:prstGeom prst="rect">
            <a:avLst/>
          </a:prstGeom>
          <a:noFill/>
          <a:ln/>
        </p:spPr>
        <p:txBody>
          <a:bodyPr wrap="square" lIns="0" tIns="0" rIns="0" bIns="0" rtlCol="0" anchor="t"/>
          <a:lstStyle/>
          <a:p>
            <a:pPr indent="0" marL="0">
              <a:buNone/>
            </a:pPr>
            <a:r>
              <a:rPr lang="en-US" sz="1700" b="1" dirty="0">
                <a:solidFill>
                  <a:schemeClr val="tx1"/>
                </a:solidFill>
              </a:rPr>
              <a:t>Phase 1</a:t>
            </a:r>
            <a:endParaRPr lang="en-US" sz="1700" dirty="0"/>
          </a:p>
        </p:txBody>
      </p:sp>
      <p:sp>
        <p:nvSpPr>
          <p:cNvPr id="12" name="Text 10"/>
          <p:cNvSpPr txBox="1"/>
          <p:nvPr/>
        </p:nvSpPr>
        <p:spPr>
          <a:xfrm>
            <a:off x="2578608" y="3063240"/>
            <a:ext cx="1554480" cy="1005840"/>
          </a:xfrm>
          <a:prstGeom prst="rect">
            <a:avLst/>
          </a:prstGeom>
          <a:noFill/>
          <a:ln/>
        </p:spPr>
        <p:txBody>
          <a:bodyPr wrap="square" lIns="0" tIns="0" rIns="0" bIns="0" rtlCol="0" anchor="t"/>
          <a:lstStyle/>
          <a:p>
            <a:pPr indent="0" marL="0">
              <a:buNone/>
            </a:pPr>
            <a:r>
              <a:rPr lang="en-US" sz="1300" dirty="0">
                <a:solidFill>
                  <a:schemeClr val="accent5"/>
                </a:solidFill>
              </a:rPr>
              <a:t>Folder layout + typed class signatures, approved by instructor</a:t>
            </a:r>
            <a:endParaRPr lang="en-US" sz="1300" dirty="0"/>
          </a:p>
        </p:txBody>
      </p:sp>
      <p:sp>
        <p:nvSpPr>
          <p:cNvPr id="13" name="num 3"/>
          <p:cNvSpPr/>
          <p:nvPr/>
        </p:nvSpPr>
        <p:spPr>
          <a:xfrm>
            <a:off x="4425696" y="1828800"/>
            <a:ext cx="640080" cy="640080"/>
          </a:xfrm>
          <a:prstGeom prst="ellipse">
            <a:avLst/>
          </a:prstGeom>
          <a:solidFill>
            <a:schemeClr val="accent1"/>
          </a:solidFill>
          <a:ln/>
        </p:spPr>
      </p:sp>
      <p:sp>
        <p:nvSpPr>
          <p:cNvPr id="14" name="Text 12"/>
          <p:cNvSpPr txBox="1"/>
          <p:nvPr/>
        </p:nvSpPr>
        <p:spPr>
          <a:xfrm>
            <a:off x="4425696" y="18288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4425696" y="2651760"/>
            <a:ext cx="1645920" cy="365760"/>
          </a:xfrm>
          <a:prstGeom prst="rect">
            <a:avLst/>
          </a:prstGeom>
          <a:noFill/>
          <a:ln/>
        </p:spPr>
        <p:txBody>
          <a:bodyPr wrap="square" lIns="0" tIns="0" rIns="0" bIns="0" rtlCol="0" anchor="t"/>
          <a:lstStyle/>
          <a:p>
            <a:pPr indent="0" marL="0">
              <a:buNone/>
            </a:pPr>
            <a:r>
              <a:rPr lang="en-US" sz="1700" b="1" dirty="0">
                <a:solidFill>
                  <a:schemeClr val="tx1"/>
                </a:solidFill>
              </a:rPr>
              <a:t>Phase 2</a:t>
            </a:r>
            <a:endParaRPr lang="en-US" sz="1700" dirty="0"/>
          </a:p>
        </p:txBody>
      </p:sp>
      <p:sp>
        <p:nvSpPr>
          <p:cNvPr id="16" name="Text 14"/>
          <p:cNvSpPr txBox="1"/>
          <p:nvPr/>
        </p:nvSpPr>
        <p:spPr>
          <a:xfrm>
            <a:off x="4425696" y="3063240"/>
            <a:ext cx="1554480" cy="1005840"/>
          </a:xfrm>
          <a:prstGeom prst="rect">
            <a:avLst/>
          </a:prstGeom>
          <a:noFill/>
          <a:ln/>
        </p:spPr>
        <p:txBody>
          <a:bodyPr wrap="square" lIns="0" tIns="0" rIns="0" bIns="0" rtlCol="0" anchor="t"/>
          <a:lstStyle/>
          <a:p>
            <a:pPr indent="0" marL="0">
              <a:buNone/>
            </a:pPr>
            <a:r>
              <a:rPr lang="en-US" sz="1300" dirty="0">
                <a:solidFill>
                  <a:schemeClr val="accent5"/>
                </a:solidFill>
              </a:rPr>
              <a:t>15 modules (M1–M15) coded one by one with the AI agent</a:t>
            </a:r>
            <a:endParaRPr lang="en-US" sz="1300" dirty="0"/>
          </a:p>
        </p:txBody>
      </p:sp>
      <p:sp>
        <p:nvSpPr>
          <p:cNvPr id="17" name="num 4"/>
          <p:cNvSpPr/>
          <p:nvPr/>
        </p:nvSpPr>
        <p:spPr>
          <a:xfrm>
            <a:off x="6272784" y="1828800"/>
            <a:ext cx="640080" cy="640080"/>
          </a:xfrm>
          <a:prstGeom prst="ellipse">
            <a:avLst/>
          </a:prstGeom>
          <a:solidFill>
            <a:schemeClr val="accent1"/>
          </a:solidFill>
          <a:ln/>
        </p:spPr>
      </p:sp>
      <p:sp>
        <p:nvSpPr>
          <p:cNvPr id="18" name="Text 16"/>
          <p:cNvSpPr txBox="1"/>
          <p:nvPr/>
        </p:nvSpPr>
        <p:spPr>
          <a:xfrm>
            <a:off x="6272784" y="18288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7"/>
          <p:cNvSpPr txBox="1"/>
          <p:nvPr/>
        </p:nvSpPr>
        <p:spPr>
          <a:xfrm>
            <a:off x="6272784" y="2651760"/>
            <a:ext cx="1645920" cy="365760"/>
          </a:xfrm>
          <a:prstGeom prst="rect">
            <a:avLst/>
          </a:prstGeom>
          <a:noFill/>
          <a:ln/>
        </p:spPr>
        <p:txBody>
          <a:bodyPr wrap="square" lIns="0" tIns="0" rIns="0" bIns="0" rtlCol="0" anchor="t"/>
          <a:lstStyle/>
          <a:p>
            <a:pPr indent="0" marL="0">
              <a:buNone/>
            </a:pPr>
            <a:r>
              <a:rPr lang="en-US" sz="1700" b="1" dirty="0">
                <a:solidFill>
                  <a:schemeClr val="tx1"/>
                </a:solidFill>
              </a:rPr>
              <a:t>Training</a:t>
            </a:r>
            <a:endParaRPr lang="en-US" sz="1700" dirty="0"/>
          </a:p>
        </p:txBody>
      </p:sp>
      <p:sp>
        <p:nvSpPr>
          <p:cNvPr id="20" name="Text 18"/>
          <p:cNvSpPr txBox="1"/>
          <p:nvPr/>
        </p:nvSpPr>
        <p:spPr>
          <a:xfrm>
            <a:off x="6272784" y="3063240"/>
            <a:ext cx="1554480" cy="1005840"/>
          </a:xfrm>
          <a:prstGeom prst="rect">
            <a:avLst/>
          </a:prstGeom>
          <a:noFill/>
          <a:ln/>
        </p:spPr>
        <p:txBody>
          <a:bodyPr wrap="square" lIns="0" tIns="0" rIns="0" bIns="0" rtlCol="0" anchor="t"/>
          <a:lstStyle/>
          <a:p>
            <a:pPr indent="0" marL="0">
              <a:buNone/>
            </a:pPr>
            <a:r>
              <a:rPr lang="en-US" sz="1300" dirty="0">
                <a:solidFill>
                  <a:schemeClr val="accent5"/>
                </a:solidFill>
              </a:rPr>
              <a:t>U-Net trained on my GPU, best val Dice 0.902</a:t>
            </a:r>
            <a:endParaRPr lang="en-US" sz="1300" dirty="0"/>
          </a:p>
        </p:txBody>
      </p:sp>
      <p:sp>
        <p:nvSpPr>
          <p:cNvPr id="21" name="num 5"/>
          <p:cNvSpPr/>
          <p:nvPr/>
        </p:nvSpPr>
        <p:spPr>
          <a:xfrm>
            <a:off x="8119872" y="1828800"/>
            <a:ext cx="640080" cy="640080"/>
          </a:xfrm>
          <a:prstGeom prst="ellipse">
            <a:avLst/>
          </a:prstGeom>
          <a:solidFill>
            <a:schemeClr val="accent1"/>
          </a:solidFill>
          <a:ln/>
        </p:spPr>
      </p:sp>
      <p:sp>
        <p:nvSpPr>
          <p:cNvPr id="22" name="Text 20"/>
          <p:cNvSpPr txBox="1"/>
          <p:nvPr/>
        </p:nvSpPr>
        <p:spPr>
          <a:xfrm>
            <a:off x="8119872" y="18288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1"/>
          <p:cNvSpPr txBox="1"/>
          <p:nvPr/>
        </p:nvSpPr>
        <p:spPr>
          <a:xfrm>
            <a:off x="8119872" y="2651760"/>
            <a:ext cx="1645920" cy="365760"/>
          </a:xfrm>
          <a:prstGeom prst="rect">
            <a:avLst/>
          </a:prstGeom>
          <a:noFill/>
          <a:ln/>
        </p:spPr>
        <p:txBody>
          <a:bodyPr wrap="square" lIns="0" tIns="0" rIns="0" bIns="0" rtlCol="0" anchor="t"/>
          <a:lstStyle/>
          <a:p>
            <a:pPr indent="0" marL="0">
              <a:buNone/>
            </a:pPr>
            <a:r>
              <a:rPr lang="en-US" sz="1700" b="1" dirty="0">
                <a:solidFill>
                  <a:schemeClr val="tx1"/>
                </a:solidFill>
              </a:rPr>
              <a:t>Phase 3</a:t>
            </a:r>
            <a:endParaRPr lang="en-US" sz="1700" dirty="0"/>
          </a:p>
        </p:txBody>
      </p:sp>
      <p:sp>
        <p:nvSpPr>
          <p:cNvPr id="24" name="Text 22"/>
          <p:cNvSpPr txBox="1"/>
          <p:nvPr/>
        </p:nvSpPr>
        <p:spPr>
          <a:xfrm>
            <a:off x="8119872" y="3063240"/>
            <a:ext cx="1554480" cy="1005840"/>
          </a:xfrm>
          <a:prstGeom prst="rect">
            <a:avLst/>
          </a:prstGeom>
          <a:noFill/>
          <a:ln/>
        </p:spPr>
        <p:txBody>
          <a:bodyPr wrap="square" lIns="0" tIns="0" rIns="0" bIns="0" rtlCol="0" anchor="t"/>
          <a:lstStyle/>
          <a:p>
            <a:pPr indent="0" marL="0">
              <a:buNone/>
            </a:pPr>
            <a:r>
              <a:rPr lang="en-US" sz="1300" dirty="0">
                <a:solidFill>
                  <a:schemeClr val="accent5"/>
                </a:solidFill>
              </a:rPr>
              <a:t>Integration, error handling, 58 unit tests</a:t>
            </a:r>
            <a:endParaRPr lang="en-US" sz="1300" dirty="0"/>
          </a:p>
        </p:txBody>
      </p:sp>
      <p:sp>
        <p:nvSpPr>
          <p:cNvPr id="25" name="num 6"/>
          <p:cNvSpPr/>
          <p:nvPr/>
        </p:nvSpPr>
        <p:spPr>
          <a:xfrm>
            <a:off x="9966960" y="1828800"/>
            <a:ext cx="640080" cy="640080"/>
          </a:xfrm>
          <a:prstGeom prst="ellipse">
            <a:avLst/>
          </a:prstGeom>
          <a:solidFill>
            <a:schemeClr val="accent3"/>
          </a:solidFill>
          <a:ln/>
        </p:spPr>
      </p:sp>
      <p:sp>
        <p:nvSpPr>
          <p:cNvPr id="26" name="Text 24"/>
          <p:cNvSpPr txBox="1"/>
          <p:nvPr/>
        </p:nvSpPr>
        <p:spPr>
          <a:xfrm>
            <a:off x="9966960" y="18288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5"/>
          <p:cNvSpPr txBox="1"/>
          <p:nvPr/>
        </p:nvSpPr>
        <p:spPr>
          <a:xfrm>
            <a:off x="9966960" y="2651760"/>
            <a:ext cx="1645920" cy="365760"/>
          </a:xfrm>
          <a:prstGeom prst="rect">
            <a:avLst/>
          </a:prstGeom>
          <a:noFill/>
          <a:ln/>
        </p:spPr>
        <p:txBody>
          <a:bodyPr wrap="square" lIns="0" tIns="0" rIns="0" bIns="0" rtlCol="0" anchor="t"/>
          <a:lstStyle/>
          <a:p>
            <a:pPr indent="0" marL="0">
              <a:buNone/>
            </a:pPr>
            <a:r>
              <a:rPr lang="en-US" sz="1700" b="1" dirty="0">
                <a:solidFill>
                  <a:schemeClr val="tx1"/>
                </a:solidFill>
              </a:rPr>
              <a:t>Tuning &amp; UI</a:t>
            </a:r>
            <a:endParaRPr lang="en-US" sz="1700" dirty="0"/>
          </a:p>
        </p:txBody>
      </p:sp>
      <p:sp>
        <p:nvSpPr>
          <p:cNvPr id="28" name="Text 26"/>
          <p:cNvSpPr txBox="1"/>
          <p:nvPr/>
        </p:nvSpPr>
        <p:spPr>
          <a:xfrm>
            <a:off x="9966960" y="3063240"/>
            <a:ext cx="1554480" cy="1005840"/>
          </a:xfrm>
          <a:prstGeom prst="rect">
            <a:avLst/>
          </a:prstGeom>
          <a:noFill/>
          <a:ln/>
        </p:spPr>
        <p:txBody>
          <a:bodyPr wrap="square" lIns="0" tIns="0" rIns="0" bIns="0" rtlCol="0" anchor="t"/>
          <a:lstStyle/>
          <a:p>
            <a:pPr indent="0" marL="0">
              <a:buNone/>
            </a:pPr>
            <a:r>
              <a:rPr lang="en-US" sz="1300" dirty="0">
                <a:solidFill>
                  <a:schemeClr val="accent5"/>
                </a:solidFill>
              </a:rPr>
              <a:t>288-setting grid search, final dashboard</a:t>
            </a:r>
            <a:endParaRPr lang="en-US" sz="1300" dirty="0"/>
          </a:p>
        </p:txBody>
      </p:sp>
      <p:sp>
        <p:nvSpPr>
          <p:cNvPr id="29" name="stat 15"/>
          <p:cNvSpPr/>
          <p:nvPr/>
        </p:nvSpPr>
        <p:spPr>
          <a:xfrm>
            <a:off x="548640" y="4434840"/>
            <a:ext cx="2615184" cy="16916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30" name="Text 28"/>
          <p:cNvSpPr txBox="1"/>
          <p:nvPr/>
        </p:nvSpPr>
        <p:spPr>
          <a:xfrm>
            <a:off x="822960" y="4572000"/>
            <a:ext cx="219456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15</a:t>
            </a:r>
            <a:endParaRPr lang="en-US" sz="4400" dirty="0"/>
          </a:p>
        </p:txBody>
      </p:sp>
      <p:sp>
        <p:nvSpPr>
          <p:cNvPr id="31" name="Text 29"/>
          <p:cNvSpPr txBox="1"/>
          <p:nvPr/>
        </p:nvSpPr>
        <p:spPr>
          <a:xfrm>
            <a:off x="822960" y="5394960"/>
            <a:ext cx="2194560" cy="548640"/>
          </a:xfrm>
          <a:prstGeom prst="rect">
            <a:avLst/>
          </a:prstGeom>
          <a:noFill/>
          <a:ln/>
        </p:spPr>
        <p:txBody>
          <a:bodyPr wrap="square" lIns="0" tIns="0" rIns="0" bIns="0" rtlCol="0" anchor="t"/>
          <a:lstStyle/>
          <a:p>
            <a:pPr indent="0" marL="0">
              <a:buNone/>
            </a:pPr>
            <a:r>
              <a:rPr lang="en-US" sz="1400" dirty="0">
                <a:solidFill>
                  <a:schemeClr val="accent5"/>
                </a:solidFill>
              </a:rPr>
              <a:t>modules built step by step</a:t>
            </a:r>
            <a:endParaRPr lang="en-US" sz="1400" dirty="0"/>
          </a:p>
        </p:txBody>
      </p:sp>
      <p:sp>
        <p:nvSpPr>
          <p:cNvPr id="32" name="stat 29"/>
          <p:cNvSpPr/>
          <p:nvPr/>
        </p:nvSpPr>
        <p:spPr>
          <a:xfrm>
            <a:off x="3364992" y="4434840"/>
            <a:ext cx="2615184" cy="16916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33" name="Text 31"/>
          <p:cNvSpPr txBox="1"/>
          <p:nvPr/>
        </p:nvSpPr>
        <p:spPr>
          <a:xfrm>
            <a:off x="3639312" y="4572000"/>
            <a:ext cx="2194560" cy="82296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29</a:t>
            </a:r>
            <a:endParaRPr lang="en-US" sz="4400" dirty="0"/>
          </a:p>
        </p:txBody>
      </p:sp>
      <p:sp>
        <p:nvSpPr>
          <p:cNvPr id="34" name="Text 32"/>
          <p:cNvSpPr txBox="1"/>
          <p:nvPr/>
        </p:nvSpPr>
        <p:spPr>
          <a:xfrm>
            <a:off x="3639312" y="5394960"/>
            <a:ext cx="2194560" cy="548640"/>
          </a:xfrm>
          <a:prstGeom prst="rect">
            <a:avLst/>
          </a:prstGeom>
          <a:noFill/>
          <a:ln/>
        </p:spPr>
        <p:txBody>
          <a:bodyPr wrap="square" lIns="0" tIns="0" rIns="0" bIns="0" rtlCol="0" anchor="t"/>
          <a:lstStyle/>
          <a:p>
            <a:pPr indent="0" marL="0">
              <a:buNone/>
            </a:pPr>
            <a:r>
              <a:rPr lang="en-US" sz="1400" dirty="0">
                <a:solidFill>
                  <a:schemeClr val="accent5"/>
                </a:solidFill>
              </a:rPr>
              <a:t>logged agent iteration rounds</a:t>
            </a:r>
            <a:endParaRPr lang="en-US" sz="1400" dirty="0"/>
          </a:p>
        </p:txBody>
      </p:sp>
      <p:sp>
        <p:nvSpPr>
          <p:cNvPr id="35" name="stat 58"/>
          <p:cNvSpPr/>
          <p:nvPr/>
        </p:nvSpPr>
        <p:spPr>
          <a:xfrm>
            <a:off x="6181344" y="4434840"/>
            <a:ext cx="2615184" cy="16916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36" name="Text 34"/>
          <p:cNvSpPr txBox="1"/>
          <p:nvPr/>
        </p:nvSpPr>
        <p:spPr>
          <a:xfrm>
            <a:off x="6455664" y="4572000"/>
            <a:ext cx="219456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58</a:t>
            </a:r>
            <a:endParaRPr lang="en-US" sz="4400" dirty="0"/>
          </a:p>
        </p:txBody>
      </p:sp>
      <p:sp>
        <p:nvSpPr>
          <p:cNvPr id="37" name="Text 35"/>
          <p:cNvSpPr txBox="1"/>
          <p:nvPr/>
        </p:nvSpPr>
        <p:spPr>
          <a:xfrm>
            <a:off x="6455664" y="5394960"/>
            <a:ext cx="2194560" cy="548640"/>
          </a:xfrm>
          <a:prstGeom prst="rect">
            <a:avLst/>
          </a:prstGeom>
          <a:noFill/>
          <a:ln/>
        </p:spPr>
        <p:txBody>
          <a:bodyPr wrap="square" lIns="0" tIns="0" rIns="0" bIns="0" rtlCol="0" anchor="t"/>
          <a:lstStyle/>
          <a:p>
            <a:pPr indent="0" marL="0">
              <a:buNone/>
            </a:pPr>
            <a:r>
              <a:rPr lang="en-US" sz="1400" dirty="0">
                <a:solidFill>
                  <a:schemeClr val="accent5"/>
                </a:solidFill>
              </a:rPr>
              <a:t>automated unit tests</a:t>
            </a:r>
            <a:endParaRPr lang="en-US" sz="1400" dirty="0"/>
          </a:p>
        </p:txBody>
      </p:sp>
      <p:sp>
        <p:nvSpPr>
          <p:cNvPr id="38" name="stat 288"/>
          <p:cNvSpPr/>
          <p:nvPr/>
        </p:nvSpPr>
        <p:spPr>
          <a:xfrm>
            <a:off x="8997696" y="4434840"/>
            <a:ext cx="2615184" cy="16916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39" name="Text 37"/>
          <p:cNvSpPr txBox="1"/>
          <p:nvPr/>
        </p:nvSpPr>
        <p:spPr>
          <a:xfrm>
            <a:off x="9272016" y="4572000"/>
            <a:ext cx="219456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288</a:t>
            </a:r>
            <a:endParaRPr lang="en-US" sz="4400" dirty="0"/>
          </a:p>
        </p:txBody>
      </p:sp>
      <p:sp>
        <p:nvSpPr>
          <p:cNvPr id="40" name="Text 38"/>
          <p:cNvSpPr txBox="1"/>
          <p:nvPr/>
        </p:nvSpPr>
        <p:spPr>
          <a:xfrm>
            <a:off x="9272016" y="5394960"/>
            <a:ext cx="2194560" cy="548640"/>
          </a:xfrm>
          <a:prstGeom prst="rect">
            <a:avLst/>
          </a:prstGeom>
          <a:noFill/>
          <a:ln/>
        </p:spPr>
        <p:txBody>
          <a:bodyPr wrap="square" lIns="0" tIns="0" rIns="0" bIns="0" rtlCol="0" anchor="t"/>
          <a:lstStyle/>
          <a:p>
            <a:pPr indent="0" marL="0">
              <a:buNone/>
            </a:pPr>
            <a:r>
              <a:rPr lang="en-US" sz="1400" dirty="0">
                <a:solidFill>
                  <a:schemeClr val="accent5"/>
                </a:solidFill>
              </a:rPr>
              <a:t>parameter settings searched</a:t>
            </a:r>
            <a:endParaRPr lang="en-US" sz="14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02  ·  DEVELOPMENT PROCESS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Design sketch vs. final software</a:t>
            </a:r>
            <a:endParaRPr lang="en-US" sz="3200" dirty="0"/>
          </a:p>
        </p:txBody>
      </p:sp>
      <p:sp>
        <p:nvSpPr>
          <p:cNvPr id="4" name="sketch card"/>
          <p:cNvSpPr/>
          <p:nvPr/>
        </p:nvSpPr>
        <p:spPr>
          <a:xfrm>
            <a:off x="548640" y="1600200"/>
            <a:ext cx="544068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sp>
        <p:nvSpPr>
          <p:cNvPr id="5" name="final card"/>
          <p:cNvSpPr/>
          <p:nvPr/>
        </p:nvSpPr>
        <p:spPr>
          <a:xfrm>
            <a:off x="6172200" y="1600200"/>
            <a:ext cx="544068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sp>
        <p:nvSpPr>
          <p:cNvPr id="6" name="Text 4"/>
          <p:cNvSpPr txBox="1"/>
          <p:nvPr/>
        </p:nvSpPr>
        <p:spPr>
          <a:xfrm>
            <a:off x="777240" y="1783080"/>
            <a:ext cx="49377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BEFORE  ·  PHASE 1 MOCKUP</a:t>
            </a:r>
            <a:endParaRPr lang="en-US" sz="1200" dirty="0"/>
          </a:p>
        </p:txBody>
      </p:sp>
      <p:sp>
        <p:nvSpPr>
          <p:cNvPr id="7" name="Text 5"/>
          <p:cNvSpPr txBox="1"/>
          <p:nvPr/>
        </p:nvSpPr>
        <p:spPr>
          <a:xfrm>
            <a:off x="6400800" y="1783080"/>
            <a:ext cx="4937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AFTER  ·  RUNNING SOFTWARE</a:t>
            </a:r>
            <a:endParaRPr lang="en-US" sz="1200" dirty="0"/>
          </a:p>
        </p:txBody>
      </p:sp>
      <p:pic>
        <p:nvPicPr>
          <p:cNvPr id="8" name="UI mockup" descr="Phase 1 UI mockup">    </p:cNvPr>
          <p:cNvPicPr>
            <a:picLocks noChangeAspect="1"/>
          </p:cNvPicPr>
          <p:nvPr/>
        </p:nvPicPr>
        <p:blipFill>
          <a:blip r:embed="rId1"/>
          <a:stretch>
            <a:fillRect/>
          </a:stretch>
        </p:blipFill>
        <p:spPr>
          <a:xfrm>
            <a:off x="777240" y="2385063"/>
            <a:ext cx="4983480" cy="2179314"/>
          </a:xfrm>
          <a:prstGeom prst="rect">
            <a:avLst/>
          </a:prstGeom>
        </p:spPr>
      </p:pic>
      <p:pic>
        <p:nvPicPr>
          <p:cNvPr id="9" name="UI screenshot" descr="Final Gradio interface">    </p:cNvPr>
          <p:cNvPicPr>
            <a:picLocks noChangeAspect="1"/>
          </p:cNvPicPr>
          <p:nvPr/>
        </p:nvPicPr>
        <p:blipFill>
          <a:blip r:embed="rId2"/>
          <a:stretch>
            <a:fillRect/>
          </a:stretch>
        </p:blipFill>
        <p:spPr>
          <a:xfrm>
            <a:off x="6400800" y="2150840"/>
            <a:ext cx="4983480" cy="2803208"/>
          </a:xfrm>
          <a:prstGeom prst="rect">
            <a:avLst/>
          </a:prstGeom>
        </p:spPr>
      </p:pic>
      <p:sp>
        <p:nvSpPr>
          <p:cNvPr id="10" name="Text 6"/>
          <p:cNvSpPr txBox="1"/>
          <p:nvPr/>
        </p:nvSpPr>
        <p:spPr>
          <a:xfrm>
            <a:off x="777240" y="5120640"/>
            <a:ext cx="4983480" cy="822960"/>
          </a:xfrm>
          <a:prstGeom prst="rect">
            <a:avLst/>
          </a:prstGeom>
          <a:noFill/>
          <a:ln/>
        </p:spPr>
        <p:txBody>
          <a:bodyPr wrap="square" lIns="0" tIns="0" rIns="0" bIns="0" rtlCol="0" anchor="t"/>
          <a:lstStyle/>
          <a:p>
            <a:pPr indent="0" marL="0">
              <a:buNone/>
            </a:pPr>
            <a:r>
              <a:rPr lang="en-US" sz="1400" b="1" dirty="0">
                <a:solidFill>
                  <a:schemeClr val="tx1"/>
                </a:solidFill>
              </a:rPr>
              <a:t>Planned: </a:t>
            </a:r>
            <a:pPr indent="0" marL="0">
              <a:buNone/>
            </a:pPr>
            <a:r>
              <a:rPr lang="en-US" sz="1400" dirty="0">
                <a:solidFill>
                  <a:schemeClr val="accent5"/>
                </a:solidFill>
              </a:rPr>
              <a:t>upload, 6 sliders, intermediate views, count, mean/median area, CSV download</a:t>
            </a:r>
            <a:endParaRPr lang="en-US" sz="1400" dirty="0"/>
          </a:p>
        </p:txBody>
      </p:sp>
      <p:sp>
        <p:nvSpPr>
          <p:cNvPr id="11" name="Text 7"/>
          <p:cNvSpPr txBox="1"/>
          <p:nvPr/>
        </p:nvSpPr>
        <p:spPr>
          <a:xfrm>
            <a:off x="6400800" y="5120640"/>
            <a:ext cx="4983480" cy="822960"/>
          </a:xfrm>
          <a:prstGeom prst="rect">
            <a:avLst/>
          </a:prstGeom>
          <a:noFill/>
          <a:ln/>
        </p:spPr>
        <p:txBody>
          <a:bodyPr wrap="square" lIns="0" tIns="0" rIns="0" bIns="0" rtlCol="0" anchor="t"/>
          <a:lstStyle/>
          <a:p>
            <a:pPr indent="0" marL="0">
              <a:buNone/>
            </a:pPr>
            <a:r>
              <a:rPr lang="en-US" sz="1400" b="1" dirty="0">
                <a:solidFill>
                  <a:schemeClr val="tx1"/>
                </a:solidFill>
              </a:rPr>
              <a:t>Delivered + added: </a:t>
            </a:r>
            <a:pPr indent="0" marL="0">
              <a:buNone/>
            </a:pPr>
            <a:r>
              <a:rPr lang="en-US" sz="1400" dirty="0">
                <a:solidFill>
                  <a:schemeClr val="accent5"/>
                </a:solidFill>
              </a:rPr>
              <a:t>image-type presets, layer viewer, measurements tab, 5 summary statistics, dark mode</a:t>
            </a:r>
            <a:endParaRPr lang="en-US" sz="14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03  ·  ARCHITECTURE DESIGN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a:t>
            </a:r>
            <a:endParaRPr lang="en-US" sz="3200" dirty="0"/>
          </a:p>
        </p:txBody>
      </p:sp>
      <p:pic>
        <p:nvPicPr>
          <p:cNvPr id="4" name="architecture diagram" descr="Layered system architecture">    </p:cNvPr>
          <p:cNvPicPr>
            <a:picLocks noChangeAspect="1"/>
          </p:cNvPicPr>
          <p:nvPr/>
        </p:nvPicPr>
        <p:blipFill>
          <a:blip r:embed="rId1"/>
          <a:stretch>
            <a:fillRect/>
          </a:stretch>
        </p:blipFill>
        <p:spPr>
          <a:xfrm>
            <a:off x="548640" y="1486656"/>
            <a:ext cx="11064240" cy="4753368"/>
          </a:xfrm>
          <a:prstGeom prst="rect">
            <a:avLst/>
          </a:prstGeom>
        </p:spPr>
      </p:pic>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03  ·  ARCHITECTURE DESIGN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Code organisation and module interfaces</a:t>
            </a:r>
            <a:endParaRPr lang="en-US" sz="3200" dirty="0"/>
          </a:p>
        </p:txBody>
      </p:sp>
      <p:sp>
        <p:nvSpPr>
          <p:cNvPr id="4" name="tree card"/>
          <p:cNvSpPr/>
          <p:nvPr/>
        </p:nvSpPr>
        <p:spPr>
          <a:xfrm>
            <a:off x="548640" y="1600200"/>
            <a:ext cx="3749040" cy="4526280"/>
          </a:xfrm>
          <a:prstGeom prst="roundRect">
            <a:avLst>
              <a:gd name="adj" fmla="val 1951"/>
            </a:avLst>
          </a:prstGeom>
          <a:solidFill>
            <a:schemeClr val="bg2"/>
          </a:solidFill>
          <a:ln/>
          <a:effectLst>
            <a:outerShdw sx="100000" sy="100000" kx="0" ky="0" algn="bl" rotWithShape="0" blurRad="127000" dist="25400" dir="5400000">
              <a:srgbClr val="1B1A33">
                <a:alpha val="8000"/>
              </a:srgbClr>
            </a:outerShdw>
          </a:effectLst>
        </p:spPr>
      </p:sp>
      <p:pic>
        <p:nvPicPr>
          <p:cNvPr id="5" name="directory tree" descr="C:\Users\admin\AppData\Local\Temp\claude\c--Users-admin-Desktop-Microscopic-Cell-Image\a5404c32-f9e8-462d-b663-48f8cfe84d83\scratchpad\deck\img\arch4_c.png">    </p:cNvPr>
          <p:cNvPicPr>
            <a:picLocks noChangeAspect="1"/>
          </p:cNvPicPr>
          <p:nvPr/>
        </p:nvPicPr>
        <p:blipFill>
          <a:blip r:embed="rId1"/>
          <a:stretch>
            <a:fillRect/>
          </a:stretch>
        </p:blipFill>
        <p:spPr>
          <a:xfrm>
            <a:off x="849598" y="1691640"/>
            <a:ext cx="3147125" cy="434340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0" y="1600200"/>
          <a:ext cx="7040880" cy="914400"/>
        </p:xfrm>
        <a:graphic>
          <a:graphicData uri="http://schemas.openxmlformats.org/drawingml/2006/table">
            <a:tbl>
              <a:tblPr/>
              <a:tblGrid>
                <a:gridCol w="2240280"/>
                <a:gridCol w="2057400"/>
                <a:gridCol w="2743200"/>
              </a:tblGrid>
              <a:tr h="438912">
                <a:tc>
                  <a:txBody>
                    <a:bodyPr/>
                    <a:lstStyle/>
                    <a:p>
                      <a:pPr indent="0" marL="0">
                        <a:buNone/>
                      </a:pPr>
                      <a:r>
                        <a:rPr lang="en-US" sz="1300" b="1" dirty="0">
                          <a:solidFill>
                            <a:schemeClr val="bg1"/>
                          </a:solidFill>
                        </a:rPr>
                        <a:t>Class</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File</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Input → output</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r>
              <a:tr h="438912">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Preprocessor</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5"/>
                          </a:solidFill>
                          <a:latin typeface="Consolas" pitchFamily="34" charset="0"/>
                          <a:ea typeface="Consolas" pitchFamily="34" charset="-122"/>
                          <a:cs typeface="Consolas" pitchFamily="34" charset="-120"/>
                        </a:rPr>
                        <a:t>core/preprocess.py</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image → grayscale, CLAHE, blur</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UNetSegmenter</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5"/>
                          </a:solidFill>
                          <a:latin typeface="Consolas" pitchFamily="34" charset="0"/>
                          <a:ea typeface="Consolas" pitchFamily="34" charset="-122"/>
                          <a:cs typeface="Consolas" pitchFamily="34" charset="-120"/>
                        </a:rPr>
                        <a:t>core/unet_model.py</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image → probability map (0–1)</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MaskRefiner</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5"/>
                          </a:solidFill>
                          <a:latin typeface="Consolas" pitchFamily="34" charset="0"/>
                          <a:ea typeface="Consolas" pitchFamily="34" charset="-122"/>
                          <a:cs typeface="Consolas" pitchFamily="34" charset="-120"/>
                        </a:rPr>
                        <a:t>core/postprocess.py</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probability → clean binary mask</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WatershedSplitter</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5"/>
                          </a:solidFill>
                          <a:latin typeface="Consolas" pitchFamily="34" charset="0"/>
                          <a:ea typeface="Consolas" pitchFamily="34" charset="-122"/>
                          <a:cs typeface="Consolas" pitchFamily="34" charset="-120"/>
                        </a:rPr>
                        <a:t>core/watershed.py</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mask → distance map + labels</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CellAnalyzer</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5"/>
                          </a:solidFill>
                          <a:latin typeface="Consolas" pitchFamily="34" charset="0"/>
                          <a:ea typeface="Consolas" pitchFamily="34" charset="-122"/>
                          <a:cs typeface="Consolas" pitchFamily="34" charset="-120"/>
                        </a:rPr>
                        <a:t>core/analysis.py</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labels → cell list + histogram</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latin typeface="Consolas" pitchFamily="34" charset="0"/>
                          <a:ea typeface="Consolas" pitchFamily="34" charset="-122"/>
                          <a:cs typeface="Consolas" pitchFamily="34" charset="-120"/>
                        </a:rPr>
                        <a:t>CellCountingPipeline</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5"/>
                          </a:solidFill>
                          <a:latin typeface="Consolas" pitchFamily="34" charset="0"/>
                          <a:ea typeface="Consolas" pitchFamily="34" charset="-122"/>
                          <a:cs typeface="Consolas" pitchFamily="34" charset="-120"/>
                        </a:rPr>
                        <a:t>core/pipeline.py</a:t>
                      </a:r>
                      <a:endParaRPr lang="en-US" sz="1300" dirty="0">
                        <a:latin typeface="Consolas" charset="0"/>
                        <a:ea typeface="Consolas" charset="0"/>
                        <a:cs typeface="Consolas" charset="0"/>
                      </a:endParaRPr>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image + Params → PipelineResult</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bl>
          </a:graphicData>
        </a:graphic>
      </p:graphicFrame>
      <p:sp>
        <p:nvSpPr>
          <p:cNvPr id="7" name="dataclasses card"/>
          <p:cNvSpPr/>
          <p:nvPr/>
        </p:nvSpPr>
        <p:spPr>
          <a:xfrm>
            <a:off x="4572000" y="4937760"/>
            <a:ext cx="7040880" cy="1188720"/>
          </a:xfrm>
          <a:prstGeom prst="roundRect">
            <a:avLst>
              <a:gd name="adj" fmla="val 6154"/>
            </a:avLst>
          </a:prstGeom>
          <a:solidFill>
            <a:schemeClr val="tx2"/>
          </a:solidFill>
          <a:ln/>
          <a:effectLst>
            <a:outerShdw sx="100000" sy="100000" kx="0" ky="0" algn="bl" rotWithShape="0" blurRad="127000" dist="25400" dir="5400000">
              <a:srgbClr val="1B1A33">
                <a:alpha val="8000"/>
              </a:srgbClr>
            </a:outerShdw>
          </a:effectLst>
        </p:spPr>
      </p:sp>
      <p:sp>
        <p:nvSpPr>
          <p:cNvPr id="8" name="Text 4"/>
          <p:cNvSpPr txBox="1"/>
          <p:nvPr/>
        </p:nvSpPr>
        <p:spPr>
          <a:xfrm>
            <a:off x="4846320" y="5029200"/>
            <a:ext cx="6492240" cy="1005840"/>
          </a:xfrm>
          <a:prstGeom prst="rect">
            <a:avLst/>
          </a:prstGeom>
          <a:noFill/>
          <a:ln/>
        </p:spPr>
        <p:txBody>
          <a:bodyPr wrap="square" lIns="0" tIns="0" rIns="0" bIns="0" rtlCol="0" anchor="ctr"/>
          <a:lstStyle/>
          <a:p>
            <a:pPr indent="0" marL="0">
              <a:buNone/>
            </a:pPr>
            <a:r>
              <a:rPr lang="en-US" sz="1400" b="1" dirty="0">
                <a:solidFill>
                  <a:schemeClr val="bg1"/>
                </a:solidFill>
              </a:rPr>
              <a:t>Shared data types in config.py  </a:t>
            </a:r>
            <a:endParaRPr lang="en-US" sz="1400" dirty="0"/>
          </a:p>
          <a:p>
            <a:pPr indent="0" marL="0">
              <a:buNone/>
            </a:pPr>
            <a:r>
              <a:rPr lang="en-US" sz="1400" dirty="0">
                <a:solidFill>
                  <a:schemeClr val="bg2"/>
                </a:solidFill>
              </a:rPr>
              <a:t>Params (all slider values)  ·  CellInfo (id, area, centroid, bbox)  ·  PipelineResult (images, cells, count, raw arrays, warnings)</a:t>
            </a:r>
            <a:endParaRPr lang="en-US" sz="14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03  ·  ARCHITECTURE DESIGN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Technology stack</a:t>
            </a:r>
            <a:endParaRPr lang="en-US" sz="3200" dirty="0"/>
          </a:p>
        </p:txBody>
      </p:sp>
      <p:sp>
        <p:nvSpPr>
          <p:cNvPr id="4" name="tile Python 3.11"/>
          <p:cNvSpPr/>
          <p:nvPr/>
        </p:nvSpPr>
        <p:spPr>
          <a:xfrm>
            <a:off x="548640" y="1600200"/>
            <a:ext cx="2615184" cy="1600200"/>
          </a:xfrm>
          <a:prstGeom prst="roundRect">
            <a:avLst>
              <a:gd name="adj" fmla="val 4571"/>
            </a:avLst>
          </a:prstGeom>
          <a:solidFill>
            <a:schemeClr val="bg1"/>
          </a:solidFill>
          <a:ln/>
          <a:effectLst>
            <a:outerShdw sx="100000" sy="100000" kx="0" ky="0" algn="bl" rotWithShape="0" blurRad="127000" dist="25400" dir="5400000">
              <a:srgbClr val="1B1A33">
                <a:alpha val="8000"/>
              </a:srgbClr>
            </a:outerShdw>
          </a:effectLst>
        </p:spPr>
      </p:sp>
      <p:sp>
        <p:nvSpPr>
          <p:cNvPr id="5" name="icon LuCode"/>
          <p:cNvSpPr/>
          <p:nvPr/>
        </p:nvSpPr>
        <p:spPr>
          <a:xfrm>
            <a:off x="777240" y="1828800"/>
            <a:ext cx="502920" cy="502920"/>
          </a:xfrm>
          <a:prstGeom prst="ellipse">
            <a:avLst/>
          </a:prstGeom>
          <a:solidFill>
            <a:schemeClr val="accent1"/>
          </a:solidFill>
          <a:ln/>
        </p:spPr>
      </p:sp>
      <p:pic>
        <p:nvPicPr>
          <p:cNvPr id="6" name="LuCode" descr="preencoded.png">    </p:cNvPr>
          <p:cNvPicPr>
            <a:picLocks noChangeAspect="1"/>
          </p:cNvPicPr>
          <p:nvPr/>
        </p:nvPicPr>
        <p:blipFill>
          <a:blip r:embed="rId1"/>
          <a:stretch>
            <a:fillRect/>
          </a:stretch>
        </p:blipFill>
        <p:spPr>
          <a:xfrm>
            <a:off x="902970" y="1954530"/>
            <a:ext cx="251460" cy="251460"/>
          </a:xfrm>
          <a:prstGeom prst="rect">
            <a:avLst/>
          </a:prstGeom>
        </p:spPr>
      </p:pic>
      <p:sp>
        <p:nvSpPr>
          <p:cNvPr id="7" name="Text 4"/>
          <p:cNvSpPr txBox="1"/>
          <p:nvPr/>
        </p:nvSpPr>
        <p:spPr>
          <a:xfrm>
            <a:off x="777240" y="24231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Python 3.11</a:t>
            </a:r>
            <a:endParaRPr lang="en-US" sz="1500" dirty="0"/>
          </a:p>
        </p:txBody>
      </p:sp>
      <p:sp>
        <p:nvSpPr>
          <p:cNvPr id="8" name="Text 5"/>
          <p:cNvSpPr txBox="1"/>
          <p:nvPr/>
        </p:nvSpPr>
        <p:spPr>
          <a:xfrm>
            <a:off x="777240" y="2724912"/>
            <a:ext cx="2286000" cy="411480"/>
          </a:xfrm>
          <a:prstGeom prst="rect">
            <a:avLst/>
          </a:prstGeom>
          <a:noFill/>
          <a:ln/>
        </p:spPr>
        <p:txBody>
          <a:bodyPr wrap="square" lIns="0" tIns="0" rIns="0" bIns="0" rtlCol="0" anchor="t"/>
          <a:lstStyle/>
          <a:p>
            <a:pPr indent="0" marL="0">
              <a:buNone/>
            </a:pPr>
            <a:r>
              <a:rPr lang="en-US" sz="1200" dirty="0">
                <a:solidFill>
                  <a:schemeClr val="accent5"/>
                </a:solidFill>
              </a:rPr>
              <a:t>Language, conda environment</a:t>
            </a:r>
            <a:endParaRPr lang="en-US" sz="1200" dirty="0"/>
          </a:p>
        </p:txBody>
      </p:sp>
      <p:sp>
        <p:nvSpPr>
          <p:cNvPr id="9" name="tile PyTorch 2.6 + CUDA"/>
          <p:cNvSpPr/>
          <p:nvPr/>
        </p:nvSpPr>
        <p:spPr>
          <a:xfrm>
            <a:off x="3364992" y="1600200"/>
            <a:ext cx="2615184" cy="1600200"/>
          </a:xfrm>
          <a:prstGeom prst="roundRect">
            <a:avLst>
              <a:gd name="adj" fmla="val 4571"/>
            </a:avLst>
          </a:prstGeom>
          <a:solidFill>
            <a:schemeClr val="bg1"/>
          </a:solidFill>
          <a:ln/>
          <a:effectLst>
            <a:outerShdw sx="100000" sy="100000" kx="0" ky="0" algn="bl" rotWithShape="0" blurRad="127000" dist="25400" dir="5400000">
              <a:srgbClr val="1B1A33">
                <a:alpha val="8000"/>
              </a:srgbClr>
            </a:outerShdw>
          </a:effectLst>
        </p:spPr>
      </p:sp>
      <p:sp>
        <p:nvSpPr>
          <p:cNvPr id="10" name="icon LuFlame"/>
          <p:cNvSpPr/>
          <p:nvPr/>
        </p:nvSpPr>
        <p:spPr>
          <a:xfrm>
            <a:off x="3593592" y="1828800"/>
            <a:ext cx="502920" cy="502920"/>
          </a:xfrm>
          <a:prstGeom prst="ellipse">
            <a:avLst/>
          </a:prstGeom>
          <a:solidFill>
            <a:schemeClr val="accent2"/>
          </a:solidFill>
          <a:ln/>
        </p:spPr>
      </p:sp>
      <p:pic>
        <p:nvPicPr>
          <p:cNvPr id="11" name="LuFlame" descr="preencoded.png">    </p:cNvPr>
          <p:cNvPicPr>
            <a:picLocks noChangeAspect="1"/>
          </p:cNvPicPr>
          <p:nvPr/>
        </p:nvPicPr>
        <p:blipFill>
          <a:blip r:embed="rId2"/>
          <a:stretch>
            <a:fillRect/>
          </a:stretch>
        </p:blipFill>
        <p:spPr>
          <a:xfrm>
            <a:off x="3719322" y="1954530"/>
            <a:ext cx="251460" cy="251460"/>
          </a:xfrm>
          <a:prstGeom prst="rect">
            <a:avLst/>
          </a:prstGeom>
        </p:spPr>
      </p:pic>
      <p:sp>
        <p:nvSpPr>
          <p:cNvPr id="12" name="Text 8"/>
          <p:cNvSpPr txBox="1"/>
          <p:nvPr/>
        </p:nvSpPr>
        <p:spPr>
          <a:xfrm>
            <a:off x="3593592" y="24231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PyTorch 2.6 + CUDA</a:t>
            </a:r>
            <a:endParaRPr lang="en-US" sz="1500" dirty="0"/>
          </a:p>
        </p:txBody>
      </p:sp>
      <p:sp>
        <p:nvSpPr>
          <p:cNvPr id="13" name="Text 9"/>
          <p:cNvSpPr txBox="1"/>
          <p:nvPr/>
        </p:nvSpPr>
        <p:spPr>
          <a:xfrm>
            <a:off x="3593592" y="2724912"/>
            <a:ext cx="2286000" cy="411480"/>
          </a:xfrm>
          <a:prstGeom prst="rect">
            <a:avLst/>
          </a:prstGeom>
          <a:noFill/>
          <a:ln/>
        </p:spPr>
        <p:txBody>
          <a:bodyPr wrap="square" lIns="0" tIns="0" rIns="0" bIns="0" rtlCol="0" anchor="t"/>
          <a:lstStyle/>
          <a:p>
            <a:pPr indent="0" marL="0">
              <a:buNone/>
            </a:pPr>
            <a:r>
              <a:rPr lang="en-US" sz="1200" dirty="0">
                <a:solidFill>
                  <a:schemeClr val="accent5"/>
                </a:solidFill>
              </a:rPr>
              <a:t>U-Net training and inference</a:t>
            </a:r>
            <a:endParaRPr lang="en-US" sz="1200" dirty="0"/>
          </a:p>
        </p:txBody>
      </p:sp>
      <p:sp>
        <p:nvSpPr>
          <p:cNvPr id="14" name="tile SMP library"/>
          <p:cNvSpPr/>
          <p:nvPr/>
        </p:nvSpPr>
        <p:spPr>
          <a:xfrm>
            <a:off x="6181344" y="1600200"/>
            <a:ext cx="2615184" cy="1600200"/>
          </a:xfrm>
          <a:prstGeom prst="roundRect">
            <a:avLst>
              <a:gd name="adj" fmla="val 4571"/>
            </a:avLst>
          </a:prstGeom>
          <a:solidFill>
            <a:schemeClr val="bg1"/>
          </a:solidFill>
          <a:ln/>
          <a:effectLst>
            <a:outerShdw sx="100000" sy="100000" kx="0" ky="0" algn="bl" rotWithShape="0" blurRad="127000" dist="25400" dir="5400000">
              <a:srgbClr val="1B1A33">
                <a:alpha val="8000"/>
              </a:srgbClr>
            </a:outerShdw>
          </a:effectLst>
        </p:spPr>
      </p:sp>
      <p:sp>
        <p:nvSpPr>
          <p:cNvPr id="15" name="icon LuNetwork"/>
          <p:cNvSpPr/>
          <p:nvPr/>
        </p:nvSpPr>
        <p:spPr>
          <a:xfrm>
            <a:off x="6409944" y="1828800"/>
            <a:ext cx="502920" cy="502920"/>
          </a:xfrm>
          <a:prstGeom prst="ellipse">
            <a:avLst/>
          </a:prstGeom>
          <a:solidFill>
            <a:schemeClr val="accent1"/>
          </a:solidFill>
          <a:ln/>
        </p:spPr>
      </p:sp>
      <p:pic>
        <p:nvPicPr>
          <p:cNvPr id="16" name="LuNetwork" descr="preencoded.png">    </p:cNvPr>
          <p:cNvPicPr>
            <a:picLocks noChangeAspect="1"/>
          </p:cNvPicPr>
          <p:nvPr/>
        </p:nvPicPr>
        <p:blipFill>
          <a:blip r:embed="rId3"/>
          <a:stretch>
            <a:fillRect/>
          </a:stretch>
        </p:blipFill>
        <p:spPr>
          <a:xfrm>
            <a:off x="6535674" y="1954530"/>
            <a:ext cx="251460" cy="251460"/>
          </a:xfrm>
          <a:prstGeom prst="rect">
            <a:avLst/>
          </a:prstGeom>
        </p:spPr>
      </p:pic>
      <p:sp>
        <p:nvSpPr>
          <p:cNvPr id="17" name="Text 12"/>
          <p:cNvSpPr txBox="1"/>
          <p:nvPr/>
        </p:nvSpPr>
        <p:spPr>
          <a:xfrm>
            <a:off x="6409944" y="24231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SMP library</a:t>
            </a:r>
            <a:endParaRPr lang="en-US" sz="1500" dirty="0"/>
          </a:p>
        </p:txBody>
      </p:sp>
      <p:sp>
        <p:nvSpPr>
          <p:cNvPr id="18" name="Text 13"/>
          <p:cNvSpPr txBox="1"/>
          <p:nvPr/>
        </p:nvSpPr>
        <p:spPr>
          <a:xfrm>
            <a:off x="6409944" y="2724912"/>
            <a:ext cx="2286000" cy="411480"/>
          </a:xfrm>
          <a:prstGeom prst="rect">
            <a:avLst/>
          </a:prstGeom>
          <a:noFill/>
          <a:ln/>
        </p:spPr>
        <p:txBody>
          <a:bodyPr wrap="square" lIns="0" tIns="0" rIns="0" bIns="0" rtlCol="0" anchor="t"/>
          <a:lstStyle/>
          <a:p>
            <a:pPr indent="0" marL="0">
              <a:buNone/>
            </a:pPr>
            <a:r>
              <a:rPr lang="en-US" sz="1200" dirty="0">
                <a:solidFill>
                  <a:schemeClr val="accent5"/>
                </a:solidFill>
              </a:rPr>
              <a:t>segmentation-models-pytorch: U-Net builder</a:t>
            </a:r>
            <a:endParaRPr lang="en-US" sz="1200" dirty="0"/>
          </a:p>
        </p:txBody>
      </p:sp>
      <p:sp>
        <p:nvSpPr>
          <p:cNvPr id="19" name="tile OpenCV"/>
          <p:cNvSpPr/>
          <p:nvPr/>
        </p:nvSpPr>
        <p:spPr>
          <a:xfrm>
            <a:off x="8997696" y="1600200"/>
            <a:ext cx="2615184" cy="1600200"/>
          </a:xfrm>
          <a:prstGeom prst="roundRect">
            <a:avLst>
              <a:gd name="adj" fmla="val 4571"/>
            </a:avLst>
          </a:prstGeom>
          <a:solidFill>
            <a:schemeClr val="bg1"/>
          </a:solidFill>
          <a:ln/>
          <a:effectLst>
            <a:outerShdw sx="100000" sy="100000" kx="0" ky="0" algn="bl" rotWithShape="0" blurRad="127000" dist="25400" dir="5400000">
              <a:srgbClr val="1B1A33">
                <a:alpha val="8000"/>
              </a:srgbClr>
            </a:outerShdw>
          </a:effectLst>
        </p:spPr>
      </p:sp>
      <p:sp>
        <p:nvSpPr>
          <p:cNvPr id="20" name="icon LuScanEye"/>
          <p:cNvSpPr/>
          <p:nvPr/>
        </p:nvSpPr>
        <p:spPr>
          <a:xfrm>
            <a:off x="9226296" y="1828800"/>
            <a:ext cx="502920" cy="502920"/>
          </a:xfrm>
          <a:prstGeom prst="ellipse">
            <a:avLst/>
          </a:prstGeom>
          <a:solidFill>
            <a:schemeClr val="accent2"/>
          </a:solidFill>
          <a:ln/>
        </p:spPr>
      </p:sp>
      <p:pic>
        <p:nvPicPr>
          <p:cNvPr id="21" name="LuScanEye" descr="preencoded.png">    </p:cNvPr>
          <p:cNvPicPr>
            <a:picLocks noChangeAspect="1"/>
          </p:cNvPicPr>
          <p:nvPr/>
        </p:nvPicPr>
        <p:blipFill>
          <a:blip r:embed="rId4"/>
          <a:stretch>
            <a:fillRect/>
          </a:stretch>
        </p:blipFill>
        <p:spPr>
          <a:xfrm>
            <a:off x="9352026" y="1954530"/>
            <a:ext cx="251460" cy="251460"/>
          </a:xfrm>
          <a:prstGeom prst="rect">
            <a:avLst/>
          </a:prstGeom>
        </p:spPr>
      </p:pic>
      <p:sp>
        <p:nvSpPr>
          <p:cNvPr id="22" name="Text 16"/>
          <p:cNvSpPr txBox="1"/>
          <p:nvPr/>
        </p:nvSpPr>
        <p:spPr>
          <a:xfrm>
            <a:off x="9226296" y="24231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OpenCV</a:t>
            </a:r>
            <a:endParaRPr lang="en-US" sz="1500" dirty="0"/>
          </a:p>
        </p:txBody>
      </p:sp>
      <p:sp>
        <p:nvSpPr>
          <p:cNvPr id="23" name="Text 17"/>
          <p:cNvSpPr txBox="1"/>
          <p:nvPr/>
        </p:nvSpPr>
        <p:spPr>
          <a:xfrm>
            <a:off x="9226296" y="2724912"/>
            <a:ext cx="2286000" cy="411480"/>
          </a:xfrm>
          <a:prstGeom prst="rect">
            <a:avLst/>
          </a:prstGeom>
          <a:noFill/>
          <a:ln/>
        </p:spPr>
        <p:txBody>
          <a:bodyPr wrap="square" lIns="0" tIns="0" rIns="0" bIns="0" rtlCol="0" anchor="t"/>
          <a:lstStyle/>
          <a:p>
            <a:pPr indent="0" marL="0">
              <a:buNone/>
            </a:pPr>
            <a:r>
              <a:rPr lang="en-US" sz="1200" dirty="0">
                <a:solidFill>
                  <a:schemeClr val="accent5"/>
                </a:solidFill>
              </a:rPr>
              <a:t>CLAHE, blur, morphology, distance transform</a:t>
            </a:r>
            <a:endParaRPr lang="en-US" sz="1200" dirty="0"/>
          </a:p>
        </p:txBody>
      </p:sp>
      <p:sp>
        <p:nvSpPr>
          <p:cNvPr id="24" name="tile scikit-image + SciPy"/>
          <p:cNvSpPr/>
          <p:nvPr/>
        </p:nvSpPr>
        <p:spPr>
          <a:xfrm>
            <a:off x="548640" y="3383280"/>
            <a:ext cx="2615184" cy="1600200"/>
          </a:xfrm>
          <a:prstGeom prst="roundRect">
            <a:avLst>
              <a:gd name="adj" fmla="val 4571"/>
            </a:avLst>
          </a:prstGeom>
          <a:solidFill>
            <a:schemeClr val="bg1"/>
          </a:solidFill>
          <a:ln/>
          <a:effectLst>
            <a:outerShdw sx="100000" sy="100000" kx="0" ky="0" algn="bl" rotWithShape="0" blurRad="127000" dist="25400" dir="5400000">
              <a:srgbClr val="1B1A33">
                <a:alpha val="8000"/>
              </a:srgbClr>
            </a:outerShdw>
          </a:effectLst>
        </p:spPr>
      </p:sp>
      <p:sp>
        <p:nvSpPr>
          <p:cNvPr id="25" name="icon LuShapes"/>
          <p:cNvSpPr/>
          <p:nvPr/>
        </p:nvSpPr>
        <p:spPr>
          <a:xfrm>
            <a:off x="777240" y="3611880"/>
            <a:ext cx="502920" cy="502920"/>
          </a:xfrm>
          <a:prstGeom prst="ellipse">
            <a:avLst/>
          </a:prstGeom>
          <a:solidFill>
            <a:schemeClr val="accent1"/>
          </a:solidFill>
          <a:ln/>
        </p:spPr>
      </p:sp>
      <p:pic>
        <p:nvPicPr>
          <p:cNvPr id="26" name="LuShapes" descr="preencoded.png">    </p:cNvPr>
          <p:cNvPicPr>
            <a:picLocks noChangeAspect="1"/>
          </p:cNvPicPr>
          <p:nvPr/>
        </p:nvPicPr>
        <p:blipFill>
          <a:blip r:embed="rId5"/>
          <a:stretch>
            <a:fillRect/>
          </a:stretch>
        </p:blipFill>
        <p:spPr>
          <a:xfrm>
            <a:off x="902970" y="3737610"/>
            <a:ext cx="251460" cy="251460"/>
          </a:xfrm>
          <a:prstGeom prst="rect">
            <a:avLst/>
          </a:prstGeom>
        </p:spPr>
      </p:pic>
      <p:sp>
        <p:nvSpPr>
          <p:cNvPr id="27" name="Text 20"/>
          <p:cNvSpPr txBox="1"/>
          <p:nvPr/>
        </p:nvSpPr>
        <p:spPr>
          <a:xfrm>
            <a:off x="777240" y="4206240"/>
            <a:ext cx="2286000" cy="320040"/>
          </a:xfrm>
          <a:prstGeom prst="rect">
            <a:avLst/>
          </a:prstGeom>
          <a:noFill/>
          <a:ln/>
        </p:spPr>
        <p:txBody>
          <a:bodyPr wrap="square" lIns="0" tIns="0" rIns="0" bIns="0" rtlCol="0" anchor="t"/>
          <a:lstStyle/>
          <a:p>
            <a:pPr indent="0" marL="0">
              <a:buNone/>
            </a:pPr>
            <a:r>
              <a:rPr lang="en-US" sz="1500" b="1" dirty="0">
                <a:solidFill>
                  <a:schemeClr val="tx1"/>
                </a:solidFill>
              </a:rPr>
              <a:t>scikit-image + SciPy</a:t>
            </a:r>
            <a:endParaRPr lang="en-US" sz="1500" dirty="0"/>
          </a:p>
        </p:txBody>
      </p:sp>
      <p:sp>
        <p:nvSpPr>
          <p:cNvPr id="28" name="Text 21"/>
          <p:cNvSpPr txBox="1"/>
          <p:nvPr/>
        </p:nvSpPr>
        <p:spPr>
          <a:xfrm>
            <a:off x="777240" y="4507992"/>
            <a:ext cx="2286000" cy="411480"/>
          </a:xfrm>
          <a:prstGeom prst="rect">
            <a:avLst/>
          </a:prstGeom>
          <a:noFill/>
          <a:ln/>
        </p:spPr>
        <p:txBody>
          <a:bodyPr wrap="square" lIns="0" tIns="0" rIns="0" bIns="0" rtlCol="0" anchor="t"/>
          <a:lstStyle/>
          <a:p>
            <a:pPr indent="0" marL="0">
              <a:buNone/>
            </a:pPr>
            <a:r>
              <a:rPr lang="en-US" sz="1200" dirty="0">
                <a:solidFill>
                  <a:schemeClr val="accent5"/>
                </a:solidFill>
              </a:rPr>
              <a:t>Watershed, peak finding, region measures</a:t>
            </a:r>
            <a:endParaRPr lang="en-US" sz="1200" dirty="0"/>
          </a:p>
        </p:txBody>
      </p:sp>
      <p:sp>
        <p:nvSpPr>
          <p:cNvPr id="29" name="tile Albumentations"/>
          <p:cNvSpPr/>
          <p:nvPr/>
        </p:nvSpPr>
        <p:spPr>
          <a:xfrm>
            <a:off x="3364992" y="3383280"/>
            <a:ext cx="2615184" cy="1600200"/>
          </a:xfrm>
          <a:prstGeom prst="roundRect">
            <a:avLst>
              <a:gd name="adj" fmla="val 4571"/>
            </a:avLst>
          </a:prstGeom>
          <a:solidFill>
            <a:schemeClr val="bg1"/>
          </a:solidFill>
          <a:ln/>
          <a:effectLst>
            <a:outerShdw sx="100000" sy="100000" kx="0" ky="0" algn="bl" rotWithShape="0" blurRad="127000" dist="25400" dir="5400000">
              <a:srgbClr val="1B1A33">
                <a:alpha val="8000"/>
              </a:srgbClr>
            </a:outerShdw>
          </a:effectLst>
        </p:spPr>
      </p:sp>
      <p:sp>
        <p:nvSpPr>
          <p:cNvPr id="30" name="icon LuShuffle"/>
          <p:cNvSpPr/>
          <p:nvPr/>
        </p:nvSpPr>
        <p:spPr>
          <a:xfrm>
            <a:off x="3593592" y="3611880"/>
            <a:ext cx="502920" cy="502920"/>
          </a:xfrm>
          <a:prstGeom prst="ellipse">
            <a:avLst/>
          </a:prstGeom>
          <a:solidFill>
            <a:schemeClr val="accent2"/>
          </a:solidFill>
          <a:ln/>
        </p:spPr>
      </p:sp>
      <p:pic>
        <p:nvPicPr>
          <p:cNvPr id="31" name="LuShuffle" descr="preencoded.png">    </p:cNvPr>
          <p:cNvPicPr>
            <a:picLocks noChangeAspect="1"/>
          </p:cNvPicPr>
          <p:nvPr/>
        </p:nvPicPr>
        <p:blipFill>
          <a:blip r:embed="rId6"/>
          <a:stretch>
            <a:fillRect/>
          </a:stretch>
        </p:blipFill>
        <p:spPr>
          <a:xfrm>
            <a:off x="3719322" y="3737610"/>
            <a:ext cx="251460" cy="251460"/>
          </a:xfrm>
          <a:prstGeom prst="rect">
            <a:avLst/>
          </a:prstGeom>
        </p:spPr>
      </p:pic>
      <p:sp>
        <p:nvSpPr>
          <p:cNvPr id="32" name="Text 24"/>
          <p:cNvSpPr txBox="1"/>
          <p:nvPr/>
        </p:nvSpPr>
        <p:spPr>
          <a:xfrm>
            <a:off x="3593592" y="4206240"/>
            <a:ext cx="2286000" cy="320040"/>
          </a:xfrm>
          <a:prstGeom prst="rect">
            <a:avLst/>
          </a:prstGeom>
          <a:noFill/>
          <a:ln/>
        </p:spPr>
        <p:txBody>
          <a:bodyPr wrap="square" lIns="0" tIns="0" rIns="0" bIns="0" rtlCol="0" anchor="t"/>
          <a:lstStyle/>
          <a:p>
            <a:pPr indent="0" marL="0">
              <a:buNone/>
            </a:pPr>
            <a:r>
              <a:rPr lang="en-US" sz="1500" b="1" dirty="0">
                <a:solidFill>
                  <a:schemeClr val="tx1"/>
                </a:solidFill>
              </a:rPr>
              <a:t>Albumentations</a:t>
            </a:r>
            <a:endParaRPr lang="en-US" sz="1500" dirty="0"/>
          </a:p>
        </p:txBody>
      </p:sp>
      <p:sp>
        <p:nvSpPr>
          <p:cNvPr id="33" name="Text 25"/>
          <p:cNvSpPr txBox="1"/>
          <p:nvPr/>
        </p:nvSpPr>
        <p:spPr>
          <a:xfrm>
            <a:off x="3593592" y="4507992"/>
            <a:ext cx="2286000" cy="411480"/>
          </a:xfrm>
          <a:prstGeom prst="rect">
            <a:avLst/>
          </a:prstGeom>
          <a:noFill/>
          <a:ln/>
        </p:spPr>
        <p:txBody>
          <a:bodyPr wrap="square" lIns="0" tIns="0" rIns="0" bIns="0" rtlCol="0" anchor="t"/>
          <a:lstStyle/>
          <a:p>
            <a:pPr indent="0" marL="0">
              <a:buNone/>
            </a:pPr>
            <a:r>
              <a:rPr lang="en-US" sz="1200" dirty="0">
                <a:solidFill>
                  <a:schemeClr val="accent5"/>
                </a:solidFill>
              </a:rPr>
              <a:t>Training data augmentation</a:t>
            </a:r>
            <a:endParaRPr lang="en-US" sz="1200" dirty="0"/>
          </a:p>
        </p:txBody>
      </p:sp>
      <p:sp>
        <p:nvSpPr>
          <p:cNvPr id="34" name="tile Gradio 6"/>
          <p:cNvSpPr/>
          <p:nvPr/>
        </p:nvSpPr>
        <p:spPr>
          <a:xfrm>
            <a:off x="6181344" y="3383280"/>
            <a:ext cx="2615184" cy="1600200"/>
          </a:xfrm>
          <a:prstGeom prst="roundRect">
            <a:avLst>
              <a:gd name="adj" fmla="val 4571"/>
            </a:avLst>
          </a:prstGeom>
          <a:solidFill>
            <a:schemeClr val="bg1"/>
          </a:solidFill>
          <a:ln/>
          <a:effectLst>
            <a:outerShdw sx="100000" sy="100000" kx="0" ky="0" algn="bl" rotWithShape="0" blurRad="127000" dist="25400" dir="5400000">
              <a:srgbClr val="1B1A33">
                <a:alpha val="8000"/>
              </a:srgbClr>
            </a:outerShdw>
          </a:effectLst>
        </p:spPr>
      </p:sp>
      <p:sp>
        <p:nvSpPr>
          <p:cNvPr id="35" name="icon LuLayoutDashboard"/>
          <p:cNvSpPr/>
          <p:nvPr/>
        </p:nvSpPr>
        <p:spPr>
          <a:xfrm>
            <a:off x="6409944" y="3611880"/>
            <a:ext cx="502920" cy="502920"/>
          </a:xfrm>
          <a:prstGeom prst="ellipse">
            <a:avLst/>
          </a:prstGeom>
          <a:solidFill>
            <a:schemeClr val="accent1"/>
          </a:solidFill>
          <a:ln/>
        </p:spPr>
      </p:sp>
      <p:pic>
        <p:nvPicPr>
          <p:cNvPr id="36" name="LuLayoutDashboard" descr="preencoded.png">    </p:cNvPr>
          <p:cNvPicPr>
            <a:picLocks noChangeAspect="1"/>
          </p:cNvPicPr>
          <p:nvPr/>
        </p:nvPicPr>
        <p:blipFill>
          <a:blip r:embed="rId7"/>
          <a:stretch>
            <a:fillRect/>
          </a:stretch>
        </p:blipFill>
        <p:spPr>
          <a:xfrm>
            <a:off x="6535674" y="3737610"/>
            <a:ext cx="251460" cy="251460"/>
          </a:xfrm>
          <a:prstGeom prst="rect">
            <a:avLst/>
          </a:prstGeom>
        </p:spPr>
      </p:pic>
      <p:sp>
        <p:nvSpPr>
          <p:cNvPr id="37" name="Text 28"/>
          <p:cNvSpPr txBox="1"/>
          <p:nvPr/>
        </p:nvSpPr>
        <p:spPr>
          <a:xfrm>
            <a:off x="6409944" y="4206240"/>
            <a:ext cx="2286000" cy="320040"/>
          </a:xfrm>
          <a:prstGeom prst="rect">
            <a:avLst/>
          </a:prstGeom>
          <a:noFill/>
          <a:ln/>
        </p:spPr>
        <p:txBody>
          <a:bodyPr wrap="square" lIns="0" tIns="0" rIns="0" bIns="0" rtlCol="0" anchor="t"/>
          <a:lstStyle/>
          <a:p>
            <a:pPr indent="0" marL="0">
              <a:buNone/>
            </a:pPr>
            <a:r>
              <a:rPr lang="en-US" sz="1500" b="1" dirty="0">
                <a:solidFill>
                  <a:schemeClr val="tx1"/>
                </a:solidFill>
              </a:rPr>
              <a:t>Gradio 6</a:t>
            </a:r>
            <a:endParaRPr lang="en-US" sz="1500" dirty="0"/>
          </a:p>
        </p:txBody>
      </p:sp>
      <p:sp>
        <p:nvSpPr>
          <p:cNvPr id="38" name="Text 29"/>
          <p:cNvSpPr txBox="1"/>
          <p:nvPr/>
        </p:nvSpPr>
        <p:spPr>
          <a:xfrm>
            <a:off x="6409944" y="4507992"/>
            <a:ext cx="2286000" cy="411480"/>
          </a:xfrm>
          <a:prstGeom prst="rect">
            <a:avLst/>
          </a:prstGeom>
          <a:noFill/>
          <a:ln/>
        </p:spPr>
        <p:txBody>
          <a:bodyPr wrap="square" lIns="0" tIns="0" rIns="0" bIns="0" rtlCol="0" anchor="t"/>
          <a:lstStyle/>
          <a:p>
            <a:pPr indent="0" marL="0">
              <a:buNone/>
            </a:pPr>
            <a:r>
              <a:rPr lang="en-US" sz="1200" dirty="0">
                <a:solidFill>
                  <a:schemeClr val="accent5"/>
                </a:solidFill>
              </a:rPr>
              <a:t>Web interface on localhost</a:t>
            </a:r>
            <a:endParaRPr lang="en-US" sz="1200" dirty="0"/>
          </a:p>
        </p:txBody>
      </p:sp>
      <p:sp>
        <p:nvSpPr>
          <p:cNvPr id="39" name="tile pytest"/>
          <p:cNvSpPr/>
          <p:nvPr/>
        </p:nvSpPr>
        <p:spPr>
          <a:xfrm>
            <a:off x="8997696" y="3383280"/>
            <a:ext cx="2615184" cy="1600200"/>
          </a:xfrm>
          <a:prstGeom prst="roundRect">
            <a:avLst>
              <a:gd name="adj" fmla="val 4571"/>
            </a:avLst>
          </a:prstGeom>
          <a:solidFill>
            <a:schemeClr val="bg1"/>
          </a:solidFill>
          <a:ln/>
          <a:effectLst>
            <a:outerShdw sx="100000" sy="100000" kx="0" ky="0" algn="bl" rotWithShape="0" blurRad="127000" dist="25400" dir="5400000">
              <a:srgbClr val="1B1A33">
                <a:alpha val="8000"/>
              </a:srgbClr>
            </a:outerShdw>
          </a:effectLst>
        </p:spPr>
      </p:sp>
      <p:sp>
        <p:nvSpPr>
          <p:cNvPr id="40" name="icon LuFlaskConical"/>
          <p:cNvSpPr/>
          <p:nvPr/>
        </p:nvSpPr>
        <p:spPr>
          <a:xfrm>
            <a:off x="9226296" y="3611880"/>
            <a:ext cx="502920" cy="502920"/>
          </a:xfrm>
          <a:prstGeom prst="ellipse">
            <a:avLst/>
          </a:prstGeom>
          <a:solidFill>
            <a:schemeClr val="accent2"/>
          </a:solidFill>
          <a:ln/>
        </p:spPr>
      </p:sp>
      <p:pic>
        <p:nvPicPr>
          <p:cNvPr id="41" name="LuFlaskConical" descr="preencoded.png">    </p:cNvPr>
          <p:cNvPicPr>
            <a:picLocks noChangeAspect="1"/>
          </p:cNvPicPr>
          <p:nvPr/>
        </p:nvPicPr>
        <p:blipFill>
          <a:blip r:embed="rId8"/>
          <a:stretch>
            <a:fillRect/>
          </a:stretch>
        </p:blipFill>
        <p:spPr>
          <a:xfrm>
            <a:off x="9352026" y="3737610"/>
            <a:ext cx="251460" cy="251460"/>
          </a:xfrm>
          <a:prstGeom prst="rect">
            <a:avLst/>
          </a:prstGeom>
        </p:spPr>
      </p:pic>
      <p:sp>
        <p:nvSpPr>
          <p:cNvPr id="42" name="Text 32"/>
          <p:cNvSpPr txBox="1"/>
          <p:nvPr/>
        </p:nvSpPr>
        <p:spPr>
          <a:xfrm>
            <a:off x="9226296" y="4206240"/>
            <a:ext cx="2286000" cy="320040"/>
          </a:xfrm>
          <a:prstGeom prst="rect">
            <a:avLst/>
          </a:prstGeom>
          <a:noFill/>
          <a:ln/>
        </p:spPr>
        <p:txBody>
          <a:bodyPr wrap="square" lIns="0" tIns="0" rIns="0" bIns="0" rtlCol="0" anchor="t"/>
          <a:lstStyle/>
          <a:p>
            <a:pPr indent="0" marL="0">
              <a:buNone/>
            </a:pPr>
            <a:r>
              <a:rPr lang="en-US" sz="1500" b="1" dirty="0">
                <a:solidFill>
                  <a:schemeClr val="tx1"/>
                </a:solidFill>
              </a:rPr>
              <a:t>pytest</a:t>
            </a:r>
            <a:endParaRPr lang="en-US" sz="1500" dirty="0"/>
          </a:p>
        </p:txBody>
      </p:sp>
      <p:sp>
        <p:nvSpPr>
          <p:cNvPr id="43" name="Text 33"/>
          <p:cNvSpPr txBox="1"/>
          <p:nvPr/>
        </p:nvSpPr>
        <p:spPr>
          <a:xfrm>
            <a:off x="9226296" y="4507992"/>
            <a:ext cx="2286000" cy="411480"/>
          </a:xfrm>
          <a:prstGeom prst="rect">
            <a:avLst/>
          </a:prstGeom>
          <a:noFill/>
          <a:ln/>
        </p:spPr>
        <p:txBody>
          <a:bodyPr wrap="square" lIns="0" tIns="0" rIns="0" bIns="0" rtlCol="0" anchor="t"/>
          <a:lstStyle/>
          <a:p>
            <a:pPr indent="0" marL="0">
              <a:buNone/>
            </a:pPr>
            <a:r>
              <a:rPr lang="en-US" sz="1200" dirty="0">
                <a:solidFill>
                  <a:schemeClr val="accent5"/>
                </a:solidFill>
              </a:rPr>
              <a:t>58 automated unit tests</a:t>
            </a:r>
            <a:endParaRPr lang="en-US" sz="1200" dirty="0"/>
          </a:p>
        </p:txBody>
      </p:sp>
      <p:sp>
        <p:nvSpPr>
          <p:cNvPr id="44" name="hardware"/>
          <p:cNvSpPr/>
          <p:nvPr/>
        </p:nvSpPr>
        <p:spPr>
          <a:xfrm>
            <a:off x="548640" y="5257800"/>
            <a:ext cx="11064240" cy="868680"/>
          </a:xfrm>
          <a:prstGeom prst="roundRect">
            <a:avLst>
              <a:gd name="adj" fmla="val 8421"/>
            </a:avLst>
          </a:prstGeom>
          <a:solidFill>
            <a:schemeClr val="tx2"/>
          </a:solidFill>
          <a:ln/>
          <a:effectLst>
            <a:outerShdw sx="100000" sy="100000" kx="0" ky="0" algn="bl" rotWithShape="0" blurRad="127000" dist="25400" dir="5400000">
              <a:srgbClr val="1B1A33">
                <a:alpha val="8000"/>
              </a:srgbClr>
            </a:outerShdw>
          </a:effectLst>
        </p:spPr>
      </p:sp>
      <p:sp>
        <p:nvSpPr>
          <p:cNvPr id="45" name="icon LuCpu"/>
          <p:cNvSpPr/>
          <p:nvPr/>
        </p:nvSpPr>
        <p:spPr>
          <a:xfrm>
            <a:off x="777240" y="5413248"/>
            <a:ext cx="548640" cy="548640"/>
          </a:xfrm>
          <a:prstGeom prst="ellipse">
            <a:avLst/>
          </a:prstGeom>
          <a:solidFill>
            <a:schemeClr val="accent3"/>
          </a:solidFill>
          <a:ln/>
        </p:spPr>
      </p:sp>
      <p:pic>
        <p:nvPicPr>
          <p:cNvPr id="46" name="LuCpu" descr="preencoded.png">    </p:cNvPr>
          <p:cNvPicPr>
            <a:picLocks noChangeAspect="1"/>
          </p:cNvPicPr>
          <p:nvPr/>
        </p:nvPicPr>
        <p:blipFill>
          <a:blip r:embed="rId9"/>
          <a:stretch>
            <a:fillRect/>
          </a:stretch>
        </p:blipFill>
        <p:spPr>
          <a:xfrm>
            <a:off x="914400" y="5550408"/>
            <a:ext cx="274320" cy="274320"/>
          </a:xfrm>
          <a:prstGeom prst="rect">
            <a:avLst/>
          </a:prstGeom>
        </p:spPr>
      </p:pic>
      <p:sp>
        <p:nvSpPr>
          <p:cNvPr id="47" name="Text 36"/>
          <p:cNvSpPr txBox="1"/>
          <p:nvPr/>
        </p:nvSpPr>
        <p:spPr>
          <a:xfrm>
            <a:off x="1508760" y="5257800"/>
            <a:ext cx="9875520" cy="868680"/>
          </a:xfrm>
          <a:prstGeom prst="rect">
            <a:avLst/>
          </a:prstGeom>
          <a:noFill/>
          <a:ln/>
        </p:spPr>
        <p:txBody>
          <a:bodyPr wrap="square" lIns="0" tIns="0" rIns="0" bIns="0" rtlCol="0" anchor="ctr"/>
          <a:lstStyle/>
          <a:p>
            <a:pPr indent="0" marL="0">
              <a:buNone/>
            </a:pPr>
            <a:r>
              <a:rPr lang="en-US" sz="1500" b="1" dirty="0">
                <a:solidFill>
                  <a:schemeClr val="bg1"/>
                </a:solidFill>
              </a:rPr>
              <a:t>Hardware:  </a:t>
            </a:r>
            <a:pPr indent="0" marL="0">
              <a:buNone/>
            </a:pPr>
            <a:r>
              <a:rPr lang="en-US" sz="1500" dirty="0">
                <a:solidFill>
                  <a:schemeClr val="bg1"/>
                </a:solidFill>
              </a:rPr>
              <a:t>NVIDIA RTX 2060 SUPER (8 GB), Windows 10. GPU used automatically, CPU fallback if none is found.</a:t>
            </a:r>
            <a:endParaRPr lang="en-US" sz="15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04  ·  DATASET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Dataset: Data Science Bowl 2018</a:t>
            </a:r>
            <a:endParaRPr lang="en-US" sz="3200" dirty="0"/>
          </a:p>
        </p:txBody>
      </p:sp>
      <p:sp>
        <p:nvSpPr>
          <p:cNvPr id="4" name="stat 0"/>
          <p:cNvSpPr/>
          <p:nvPr/>
        </p:nvSpPr>
        <p:spPr>
          <a:xfrm>
            <a:off x="548640" y="1600200"/>
            <a:ext cx="3931920" cy="1143000"/>
          </a:xfrm>
          <a:prstGeom prst="roundRect">
            <a:avLst>
              <a:gd name="adj" fmla="val 6400"/>
            </a:avLst>
          </a:prstGeom>
          <a:solidFill>
            <a:schemeClr val="bg1"/>
          </a:solidFill>
          <a:ln/>
          <a:effectLst>
            <a:outerShdw sx="100000" sy="100000" kx="0" ky="0" algn="bl" rotWithShape="0" blurRad="127000" dist="25400" dir="5400000">
              <a:srgbClr val="1B1A33">
                <a:alpha val="8000"/>
              </a:srgbClr>
            </a:outerShdw>
          </a:effectLst>
        </p:spPr>
      </p:sp>
      <p:sp>
        <p:nvSpPr>
          <p:cNvPr id="5" name="Text 3"/>
          <p:cNvSpPr txBox="1"/>
          <p:nvPr/>
        </p:nvSpPr>
        <p:spPr>
          <a:xfrm>
            <a:off x="822960" y="1709928"/>
            <a:ext cx="34747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670</a:t>
            </a:r>
            <a:endParaRPr lang="en-US" sz="3000" dirty="0"/>
          </a:p>
        </p:txBody>
      </p:sp>
      <p:sp>
        <p:nvSpPr>
          <p:cNvPr id="6" name="Text 4"/>
          <p:cNvSpPr txBox="1"/>
          <p:nvPr/>
        </p:nvSpPr>
        <p:spPr>
          <a:xfrm>
            <a:off x="822960" y="2258568"/>
            <a:ext cx="3474720" cy="365760"/>
          </a:xfrm>
          <a:prstGeom prst="rect">
            <a:avLst/>
          </a:prstGeom>
          <a:noFill/>
          <a:ln/>
        </p:spPr>
        <p:txBody>
          <a:bodyPr wrap="square" lIns="0" tIns="0" rIns="0" bIns="0" rtlCol="0" anchor="t"/>
          <a:lstStyle/>
          <a:p>
            <a:pPr indent="0" marL="0">
              <a:buNone/>
            </a:pPr>
            <a:r>
              <a:rPr lang="en-US" sz="1300" dirty="0">
                <a:solidFill>
                  <a:schemeClr val="accent5"/>
                </a:solidFill>
              </a:rPr>
              <a:t>stained nucleus images (stage1_train)</a:t>
            </a:r>
            <a:endParaRPr lang="en-US" sz="1300" dirty="0"/>
          </a:p>
        </p:txBody>
      </p:sp>
      <p:sp>
        <p:nvSpPr>
          <p:cNvPr id="7" name="stat 1"/>
          <p:cNvSpPr/>
          <p:nvPr/>
        </p:nvSpPr>
        <p:spPr>
          <a:xfrm>
            <a:off x="548640" y="2880360"/>
            <a:ext cx="3931920" cy="1143000"/>
          </a:xfrm>
          <a:prstGeom prst="roundRect">
            <a:avLst>
              <a:gd name="adj" fmla="val 6400"/>
            </a:avLst>
          </a:prstGeom>
          <a:solidFill>
            <a:schemeClr val="bg1"/>
          </a:solidFill>
          <a:ln/>
          <a:effectLst>
            <a:outerShdw sx="100000" sy="100000" kx="0" ky="0" algn="bl" rotWithShape="0" blurRad="127000" dist="25400" dir="5400000">
              <a:srgbClr val="1B1A33">
                <a:alpha val="8000"/>
              </a:srgbClr>
            </a:outerShdw>
          </a:effectLst>
        </p:spPr>
      </p:sp>
      <p:sp>
        <p:nvSpPr>
          <p:cNvPr id="8" name="Text 6"/>
          <p:cNvSpPr txBox="1"/>
          <p:nvPr/>
        </p:nvSpPr>
        <p:spPr>
          <a:xfrm>
            <a:off x="822960" y="2990088"/>
            <a:ext cx="34747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 types</a:t>
            </a:r>
            <a:endParaRPr lang="en-US" sz="3000" dirty="0"/>
          </a:p>
        </p:txBody>
      </p:sp>
      <p:sp>
        <p:nvSpPr>
          <p:cNvPr id="9" name="Text 7"/>
          <p:cNvSpPr txBox="1"/>
          <p:nvPr/>
        </p:nvSpPr>
        <p:spPr>
          <a:xfrm>
            <a:off x="822960" y="3538728"/>
            <a:ext cx="3474720" cy="365760"/>
          </a:xfrm>
          <a:prstGeom prst="rect">
            <a:avLst/>
          </a:prstGeom>
          <a:noFill/>
          <a:ln/>
        </p:spPr>
        <p:txBody>
          <a:bodyPr wrap="square" lIns="0" tIns="0" rIns="0" bIns="0" rtlCol="0" anchor="t"/>
          <a:lstStyle/>
          <a:p>
            <a:pPr indent="0" marL="0">
              <a:buNone/>
            </a:pPr>
            <a:r>
              <a:rPr lang="en-US" sz="1300" dirty="0">
                <a:solidFill>
                  <a:schemeClr val="accent5"/>
                </a:solidFill>
              </a:rPr>
              <a:t>fluorescence, bright-field, H&amp;E tissue</a:t>
            </a:r>
            <a:endParaRPr lang="en-US" sz="1300" dirty="0"/>
          </a:p>
        </p:txBody>
      </p:sp>
      <p:sp>
        <p:nvSpPr>
          <p:cNvPr id="10" name="stat 2"/>
          <p:cNvSpPr/>
          <p:nvPr/>
        </p:nvSpPr>
        <p:spPr>
          <a:xfrm>
            <a:off x="548640" y="4160520"/>
            <a:ext cx="3931920" cy="1143000"/>
          </a:xfrm>
          <a:prstGeom prst="roundRect">
            <a:avLst>
              <a:gd name="adj" fmla="val 6400"/>
            </a:avLst>
          </a:prstGeom>
          <a:solidFill>
            <a:schemeClr val="bg1"/>
          </a:solidFill>
          <a:ln/>
          <a:effectLst>
            <a:outerShdw sx="100000" sy="100000" kx="0" ky="0" algn="bl" rotWithShape="0" blurRad="127000" dist="25400" dir="5400000">
              <a:srgbClr val="1B1A33">
                <a:alpha val="8000"/>
              </a:srgbClr>
            </a:outerShdw>
          </a:effectLst>
        </p:spPr>
      </p:sp>
      <p:sp>
        <p:nvSpPr>
          <p:cNvPr id="11" name="Text 9"/>
          <p:cNvSpPr txBox="1"/>
          <p:nvPr/>
        </p:nvSpPr>
        <p:spPr>
          <a:xfrm>
            <a:off x="822960" y="4270248"/>
            <a:ext cx="34747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536 / 67 / 67</a:t>
            </a:r>
            <a:endParaRPr lang="en-US" sz="3000" dirty="0"/>
          </a:p>
        </p:txBody>
      </p:sp>
      <p:sp>
        <p:nvSpPr>
          <p:cNvPr id="12" name="Text 10"/>
          <p:cNvSpPr txBox="1"/>
          <p:nvPr/>
        </p:nvSpPr>
        <p:spPr>
          <a:xfrm>
            <a:off x="822960" y="4818888"/>
            <a:ext cx="3474720" cy="365760"/>
          </a:xfrm>
          <a:prstGeom prst="rect">
            <a:avLst/>
          </a:prstGeom>
          <a:noFill/>
          <a:ln/>
        </p:spPr>
        <p:txBody>
          <a:bodyPr wrap="square" lIns="0" tIns="0" rIns="0" bIns="0" rtlCol="0" anchor="t"/>
          <a:lstStyle/>
          <a:p>
            <a:pPr indent="0" marL="0">
              <a:buNone/>
            </a:pPr>
            <a:r>
              <a:rPr lang="en-US" sz="1300" dirty="0">
                <a:solidFill>
                  <a:schemeClr val="accent5"/>
                </a:solidFill>
              </a:rPr>
              <a:t>train / validation / test (80/10/10, seed 42)</a:t>
            </a:r>
            <a:endParaRPr lang="en-US" sz="1300" dirty="0"/>
          </a:p>
        </p:txBody>
      </p:sp>
      <p:sp>
        <p:nvSpPr>
          <p:cNvPr id="13" name="source"/>
          <p:cNvSpPr/>
          <p:nvPr/>
        </p:nvSpPr>
        <p:spPr>
          <a:xfrm>
            <a:off x="548640" y="5440680"/>
            <a:ext cx="3931920" cy="685800"/>
          </a:xfrm>
          <a:prstGeom prst="roundRect">
            <a:avLst>
              <a:gd name="adj" fmla="val 10667"/>
            </a:avLst>
          </a:prstGeom>
          <a:solidFill>
            <a:schemeClr val="tx2"/>
          </a:solidFill>
          <a:ln/>
          <a:effectLst>
            <a:outerShdw sx="100000" sy="100000" kx="0" ky="0" algn="bl" rotWithShape="0" blurRad="127000" dist="25400" dir="5400000">
              <a:srgbClr val="1B1A33">
                <a:alpha val="8000"/>
              </a:srgbClr>
            </a:outerShdw>
          </a:effectLst>
        </p:spPr>
      </p:sp>
      <p:sp>
        <p:nvSpPr>
          <p:cNvPr id="14" name="Text 12"/>
          <p:cNvSpPr txBox="1"/>
          <p:nvPr/>
        </p:nvSpPr>
        <p:spPr>
          <a:xfrm>
            <a:off x="777240" y="5440680"/>
            <a:ext cx="3566160" cy="685800"/>
          </a:xfrm>
          <a:prstGeom prst="rect">
            <a:avLst/>
          </a:prstGeom>
          <a:noFill/>
          <a:ln/>
        </p:spPr>
        <p:txBody>
          <a:bodyPr wrap="square" lIns="0" tIns="0" rIns="0" bIns="0" rtlCol="0" anchor="ctr"/>
          <a:lstStyle/>
          <a:p>
            <a:pPr indent="0" marL="0">
              <a:buNone/>
            </a:pPr>
            <a:r>
              <a:rPr lang="en-US" sz="1200" dirty="0">
                <a:solidFill>
                  <a:schemeClr val="bg1"/>
                </a:solidFill>
              </a:rPr>
              <a:t>Kaggle DSB 2018 via Broad BBBC038 (CC0). One mask PNG per nucleus = instance ground truth.</a:t>
            </a:r>
            <a:endParaRPr lang="en-US" sz="1200" dirty="0"/>
          </a:p>
        </p:txBody>
      </p:sp>
      <p:sp>
        <p:nvSpPr>
          <p:cNvPr id="15" name="Text 13"/>
          <p:cNvSpPr txBox="1"/>
          <p:nvPr/>
        </p:nvSpPr>
        <p:spPr>
          <a:xfrm>
            <a:off x="4754880" y="1600200"/>
            <a:ext cx="6858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THREE TEST SAMPLES SHIPPED WITH THE APP</a:t>
            </a:r>
            <a:endParaRPr lang="en-US" sz="1200" dirty="0"/>
          </a:p>
        </p:txBody>
      </p:sp>
      <p:sp>
        <p:nvSpPr>
          <p:cNvPr id="16" name="sample 0"/>
          <p:cNvSpPr/>
          <p:nvPr/>
        </p:nvSpPr>
        <p:spPr>
          <a:xfrm>
            <a:off x="4754880" y="1965960"/>
            <a:ext cx="2194560" cy="4160520"/>
          </a:xfrm>
          <a:prstGeom prst="roundRect">
            <a:avLst>
              <a:gd name="adj" fmla="val 3333"/>
            </a:avLst>
          </a:prstGeom>
          <a:solidFill>
            <a:schemeClr val="bg1"/>
          </a:solidFill>
          <a:ln/>
          <a:effectLst>
            <a:outerShdw sx="100000" sy="100000" kx="0" ky="0" algn="bl" rotWithShape="0" blurRad="127000" dist="25400" dir="5400000">
              <a:srgbClr val="1B1A33">
                <a:alpha val="8000"/>
              </a:srgbClr>
            </a:outerShdw>
          </a:effectLst>
        </p:spPr>
      </p:sp>
      <p:pic>
        <p:nvPicPr>
          <p:cNvPr id="17" name="Sparse" descr="C:\Users\admin\AppData\Local\Temp\claude\c--Users-admin-Desktop-Microscopic-Cell-Image\a5404c32-f9e8-462d-b663-48f8cfe84d83\scratchpad\deck\img\01_sparse_original.png">    </p:cNvPr>
          <p:cNvPicPr>
            <a:picLocks noChangeAspect="1"/>
          </p:cNvPicPr>
          <p:nvPr/>
        </p:nvPicPr>
        <p:blipFill>
          <a:blip r:embed="rId1"/>
          <a:stretch>
            <a:fillRect/>
          </a:stretch>
        </p:blipFill>
        <p:spPr>
          <a:xfrm>
            <a:off x="4892040" y="2103120"/>
            <a:ext cx="1920240" cy="1920240"/>
          </a:xfrm>
          <a:prstGeom prst="rect">
            <a:avLst/>
          </a:prstGeom>
        </p:spPr>
      </p:pic>
      <p:sp>
        <p:nvSpPr>
          <p:cNvPr id="18" name="Text 15"/>
          <p:cNvSpPr txBox="1"/>
          <p:nvPr/>
        </p:nvSpPr>
        <p:spPr>
          <a:xfrm>
            <a:off x="4937760" y="4160520"/>
            <a:ext cx="1828800" cy="320040"/>
          </a:xfrm>
          <a:prstGeom prst="rect">
            <a:avLst/>
          </a:prstGeom>
          <a:noFill/>
          <a:ln/>
        </p:spPr>
        <p:txBody>
          <a:bodyPr wrap="square" lIns="0" tIns="0" rIns="0" bIns="0" rtlCol="0" anchor="t"/>
          <a:lstStyle/>
          <a:p>
            <a:pPr indent="0" marL="0">
              <a:buNone/>
            </a:pPr>
            <a:r>
              <a:rPr lang="en-US" sz="1500" b="1" dirty="0">
                <a:solidFill>
                  <a:schemeClr val="tx1"/>
                </a:solidFill>
              </a:rPr>
              <a:t>Sparse</a:t>
            </a:r>
            <a:endParaRPr lang="en-US" sz="1500" dirty="0"/>
          </a:p>
        </p:txBody>
      </p:sp>
      <p:sp>
        <p:nvSpPr>
          <p:cNvPr id="19" name="Text 16"/>
          <p:cNvSpPr txBox="1"/>
          <p:nvPr/>
        </p:nvSpPr>
        <p:spPr>
          <a:xfrm>
            <a:off x="4937760" y="4498848"/>
            <a:ext cx="1828800" cy="640080"/>
          </a:xfrm>
          <a:prstGeom prst="rect">
            <a:avLst/>
          </a:prstGeom>
          <a:noFill/>
          <a:ln/>
        </p:spPr>
        <p:txBody>
          <a:bodyPr wrap="square" lIns="0" tIns="0" rIns="0" bIns="0" rtlCol="0" anchor="t"/>
          <a:lstStyle/>
          <a:p>
            <a:pPr indent="0" marL="0">
              <a:buNone/>
            </a:pPr>
            <a:r>
              <a:rPr lang="en-US" sz="1200" dirty="0">
                <a:solidFill>
                  <a:schemeClr val="accent5"/>
                </a:solidFill>
              </a:rPr>
              <a:t>Fluorescence, isolated nuclei</a:t>
            </a:r>
            <a:endParaRPr lang="en-US" sz="1200" dirty="0"/>
          </a:p>
        </p:txBody>
      </p:sp>
      <p:sp>
        <p:nvSpPr>
          <p:cNvPr id="20" name="Shape 17"/>
          <p:cNvSpPr/>
          <p:nvPr/>
        </p:nvSpPr>
        <p:spPr>
          <a:xfrm>
            <a:off x="4937760" y="5623560"/>
            <a:ext cx="1371600" cy="292608"/>
          </a:xfrm>
          <a:prstGeom prst="roundRect">
            <a:avLst>
              <a:gd name="adj" fmla="val 50000"/>
            </a:avLst>
          </a:prstGeom>
          <a:solidFill>
            <a:schemeClr val="bg1"/>
          </a:solidFill>
          <a:ln w="9525">
            <a:solidFill>
              <a:schemeClr val="accent2"/>
            </a:solidFill>
            <a:prstDash val="solid"/>
          </a:ln>
        </p:spPr>
      </p:sp>
      <p:sp>
        <p:nvSpPr>
          <p:cNvPr id="21" name="Text 18"/>
          <p:cNvSpPr txBox="1"/>
          <p:nvPr/>
        </p:nvSpPr>
        <p:spPr>
          <a:xfrm>
            <a:off x="4937760" y="5623560"/>
            <a:ext cx="1371600" cy="292608"/>
          </a:xfrm>
          <a:prstGeom prst="rect">
            <a:avLst/>
          </a:prstGeom>
          <a:noFill/>
          <a:ln/>
        </p:spPr>
        <p:txBody>
          <a:bodyPr wrap="square" lIns="0" tIns="0" rIns="0" bIns="0" rtlCol="0" anchor="ctr"/>
          <a:lstStyle/>
          <a:p>
            <a:pPr algn="ctr" indent="0" marL="0">
              <a:buNone/>
            </a:pPr>
            <a:r>
              <a:rPr lang="en-US" sz="1100" dirty="0">
                <a:solidFill>
                  <a:schemeClr val="accent2"/>
                </a:solidFill>
                <a:latin typeface="Consolas" pitchFamily="34" charset="0"/>
                <a:ea typeface="Consolas" pitchFamily="34" charset="-122"/>
                <a:cs typeface="Consolas" pitchFamily="34" charset="-120"/>
              </a:rPr>
              <a:t>11 GT cells</a:t>
            </a:r>
            <a:endParaRPr lang="en-US" sz="1100" dirty="0"/>
          </a:p>
        </p:txBody>
      </p:sp>
      <p:sp>
        <p:nvSpPr>
          <p:cNvPr id="22" name="sample 1"/>
          <p:cNvSpPr/>
          <p:nvPr/>
        </p:nvSpPr>
        <p:spPr>
          <a:xfrm>
            <a:off x="7086600" y="1965960"/>
            <a:ext cx="2194560" cy="4160520"/>
          </a:xfrm>
          <a:prstGeom prst="roundRect">
            <a:avLst>
              <a:gd name="adj" fmla="val 3333"/>
            </a:avLst>
          </a:prstGeom>
          <a:solidFill>
            <a:schemeClr val="bg1"/>
          </a:solidFill>
          <a:ln/>
          <a:effectLst>
            <a:outerShdw sx="100000" sy="100000" kx="0" ky="0" algn="bl" rotWithShape="0" blurRad="127000" dist="25400" dir="5400000">
              <a:srgbClr val="1B1A33">
                <a:alpha val="8000"/>
              </a:srgbClr>
            </a:outerShdw>
          </a:effectLst>
        </p:spPr>
      </p:sp>
      <p:pic>
        <p:nvPicPr>
          <p:cNvPr id="23" name="Dense, touching" descr="C:\Users\admin\AppData\Local\Temp\claude\c--Users-admin-Desktop-Microscopic-Cell-Image\a5404c32-f9e8-462d-b663-48f8cfe84d83\scratchpad\deck\img\02_dense_touching_original.png">    </p:cNvPr>
          <p:cNvPicPr>
            <a:picLocks noChangeAspect="1"/>
          </p:cNvPicPr>
          <p:nvPr/>
        </p:nvPicPr>
        <p:blipFill>
          <a:blip r:embed="rId2"/>
          <a:stretch>
            <a:fillRect/>
          </a:stretch>
        </p:blipFill>
        <p:spPr>
          <a:xfrm>
            <a:off x="7223760" y="2295144"/>
            <a:ext cx="1920240" cy="1536192"/>
          </a:xfrm>
          <a:prstGeom prst="rect">
            <a:avLst/>
          </a:prstGeom>
        </p:spPr>
      </p:pic>
      <p:sp>
        <p:nvSpPr>
          <p:cNvPr id="24" name="Text 20"/>
          <p:cNvSpPr txBox="1"/>
          <p:nvPr/>
        </p:nvSpPr>
        <p:spPr>
          <a:xfrm>
            <a:off x="7269480" y="4160520"/>
            <a:ext cx="1828800" cy="320040"/>
          </a:xfrm>
          <a:prstGeom prst="rect">
            <a:avLst/>
          </a:prstGeom>
          <a:noFill/>
          <a:ln/>
        </p:spPr>
        <p:txBody>
          <a:bodyPr wrap="square" lIns="0" tIns="0" rIns="0" bIns="0" rtlCol="0" anchor="t"/>
          <a:lstStyle/>
          <a:p>
            <a:pPr indent="0" marL="0">
              <a:buNone/>
            </a:pPr>
            <a:r>
              <a:rPr lang="en-US" sz="1500" b="1" dirty="0">
                <a:solidFill>
                  <a:schemeClr val="tx1"/>
                </a:solidFill>
              </a:rPr>
              <a:t>Dense, touching</a:t>
            </a:r>
            <a:endParaRPr lang="en-US" sz="1500" dirty="0"/>
          </a:p>
        </p:txBody>
      </p:sp>
      <p:sp>
        <p:nvSpPr>
          <p:cNvPr id="25" name="Text 21"/>
          <p:cNvSpPr txBox="1"/>
          <p:nvPr/>
        </p:nvSpPr>
        <p:spPr>
          <a:xfrm>
            <a:off x="7269480" y="4498848"/>
            <a:ext cx="1828800" cy="640080"/>
          </a:xfrm>
          <a:prstGeom prst="rect">
            <a:avLst/>
          </a:prstGeom>
          <a:noFill/>
          <a:ln/>
        </p:spPr>
        <p:txBody>
          <a:bodyPr wrap="square" lIns="0" tIns="0" rIns="0" bIns="0" rtlCol="0" anchor="t"/>
          <a:lstStyle/>
          <a:p>
            <a:pPr indent="0" marL="0">
              <a:buNone/>
            </a:pPr>
            <a:r>
              <a:rPr lang="en-US" sz="1200" dirty="0">
                <a:solidFill>
                  <a:schemeClr val="accent5"/>
                </a:solidFill>
              </a:rPr>
              <a:t>87 cells in 30 blobs</a:t>
            </a:r>
            <a:endParaRPr lang="en-US" sz="1200" dirty="0"/>
          </a:p>
        </p:txBody>
      </p:sp>
      <p:sp>
        <p:nvSpPr>
          <p:cNvPr id="26" name="Shape 22"/>
          <p:cNvSpPr/>
          <p:nvPr/>
        </p:nvSpPr>
        <p:spPr>
          <a:xfrm>
            <a:off x="7269480" y="5623560"/>
            <a:ext cx="1371600" cy="292608"/>
          </a:xfrm>
          <a:prstGeom prst="roundRect">
            <a:avLst>
              <a:gd name="adj" fmla="val 50000"/>
            </a:avLst>
          </a:prstGeom>
          <a:solidFill>
            <a:schemeClr val="bg1"/>
          </a:solidFill>
          <a:ln w="9525">
            <a:solidFill>
              <a:schemeClr val="accent2"/>
            </a:solidFill>
            <a:prstDash val="solid"/>
          </a:ln>
        </p:spPr>
      </p:sp>
      <p:sp>
        <p:nvSpPr>
          <p:cNvPr id="27" name="Text 23"/>
          <p:cNvSpPr txBox="1"/>
          <p:nvPr/>
        </p:nvSpPr>
        <p:spPr>
          <a:xfrm>
            <a:off x="7269480" y="5623560"/>
            <a:ext cx="1371600" cy="292608"/>
          </a:xfrm>
          <a:prstGeom prst="rect">
            <a:avLst/>
          </a:prstGeom>
          <a:noFill/>
          <a:ln/>
        </p:spPr>
        <p:txBody>
          <a:bodyPr wrap="square" lIns="0" tIns="0" rIns="0" bIns="0" rtlCol="0" anchor="ctr"/>
          <a:lstStyle/>
          <a:p>
            <a:pPr algn="ctr" indent="0" marL="0">
              <a:buNone/>
            </a:pPr>
            <a:r>
              <a:rPr lang="en-US" sz="1100" dirty="0">
                <a:solidFill>
                  <a:schemeClr val="accent2"/>
                </a:solidFill>
                <a:latin typeface="Consolas" pitchFamily="34" charset="0"/>
                <a:ea typeface="Consolas" pitchFamily="34" charset="-122"/>
                <a:cs typeface="Consolas" pitchFamily="34" charset="-120"/>
              </a:rPr>
              <a:t>87 GT cells</a:t>
            </a:r>
            <a:endParaRPr lang="en-US" sz="1100" dirty="0"/>
          </a:p>
        </p:txBody>
      </p:sp>
      <p:sp>
        <p:nvSpPr>
          <p:cNvPr id="28" name="sample 2"/>
          <p:cNvSpPr/>
          <p:nvPr/>
        </p:nvSpPr>
        <p:spPr>
          <a:xfrm>
            <a:off x="9418320" y="1965960"/>
            <a:ext cx="2194560" cy="4160520"/>
          </a:xfrm>
          <a:prstGeom prst="roundRect">
            <a:avLst>
              <a:gd name="adj" fmla="val 3333"/>
            </a:avLst>
          </a:prstGeom>
          <a:solidFill>
            <a:schemeClr val="bg1"/>
          </a:solidFill>
          <a:ln/>
          <a:effectLst>
            <a:outerShdw sx="100000" sy="100000" kx="0" ky="0" algn="bl" rotWithShape="0" blurRad="127000" dist="25400" dir="5400000">
              <a:srgbClr val="1B1A33">
                <a:alpha val="8000"/>
              </a:srgbClr>
            </a:outerShdw>
          </a:effectLst>
        </p:spPr>
      </p:sp>
      <p:pic>
        <p:nvPicPr>
          <p:cNvPr id="29" name="Low contrast" descr="C:\Users\admin\AppData\Local\Temp\claude\c--Users-admin-Desktop-Microscopic-Cell-Image\a5404c32-f9e8-462d-b663-48f8cfe84d83\scratchpad\deck\img\03_low_contrast_original.png">    </p:cNvPr>
          <p:cNvPicPr>
            <a:picLocks noChangeAspect="1"/>
          </p:cNvPicPr>
          <p:nvPr/>
        </p:nvPicPr>
        <p:blipFill>
          <a:blip r:embed="rId3"/>
          <a:stretch>
            <a:fillRect/>
          </a:stretch>
        </p:blipFill>
        <p:spPr>
          <a:xfrm>
            <a:off x="9555480" y="2295144"/>
            <a:ext cx="1920240" cy="1536192"/>
          </a:xfrm>
          <a:prstGeom prst="rect">
            <a:avLst/>
          </a:prstGeom>
        </p:spPr>
      </p:pic>
      <p:sp>
        <p:nvSpPr>
          <p:cNvPr id="30" name="Text 25"/>
          <p:cNvSpPr txBox="1"/>
          <p:nvPr/>
        </p:nvSpPr>
        <p:spPr>
          <a:xfrm>
            <a:off x="9601200" y="4160520"/>
            <a:ext cx="1828800" cy="320040"/>
          </a:xfrm>
          <a:prstGeom prst="rect">
            <a:avLst/>
          </a:prstGeom>
          <a:noFill/>
          <a:ln/>
        </p:spPr>
        <p:txBody>
          <a:bodyPr wrap="square" lIns="0" tIns="0" rIns="0" bIns="0" rtlCol="0" anchor="t"/>
          <a:lstStyle/>
          <a:p>
            <a:pPr indent="0" marL="0">
              <a:buNone/>
            </a:pPr>
            <a:r>
              <a:rPr lang="en-US" sz="1500" b="1" dirty="0">
                <a:solidFill>
                  <a:schemeClr val="tx1"/>
                </a:solidFill>
              </a:rPr>
              <a:t>Low contrast</a:t>
            </a:r>
            <a:endParaRPr lang="en-US" sz="1500" dirty="0"/>
          </a:p>
        </p:txBody>
      </p:sp>
      <p:sp>
        <p:nvSpPr>
          <p:cNvPr id="31" name="Text 26"/>
          <p:cNvSpPr txBox="1"/>
          <p:nvPr/>
        </p:nvSpPr>
        <p:spPr>
          <a:xfrm>
            <a:off x="9601200" y="4498848"/>
            <a:ext cx="1828800" cy="640080"/>
          </a:xfrm>
          <a:prstGeom prst="rect">
            <a:avLst/>
          </a:prstGeom>
          <a:noFill/>
          <a:ln/>
        </p:spPr>
        <p:txBody>
          <a:bodyPr wrap="square" lIns="0" tIns="0" rIns="0" bIns="0" rtlCol="0" anchor="t"/>
          <a:lstStyle/>
          <a:p>
            <a:pPr indent="0" marL="0">
              <a:buNone/>
            </a:pPr>
            <a:r>
              <a:rPr lang="en-US" sz="1200" dirty="0">
                <a:solidFill>
                  <a:schemeClr val="accent5"/>
                </a:solidFill>
              </a:rPr>
              <a:t>H&amp;E tissue, faint borders</a:t>
            </a:r>
            <a:endParaRPr lang="en-US" sz="1200" dirty="0"/>
          </a:p>
        </p:txBody>
      </p:sp>
      <p:sp>
        <p:nvSpPr>
          <p:cNvPr id="32" name="Shape 27"/>
          <p:cNvSpPr/>
          <p:nvPr/>
        </p:nvSpPr>
        <p:spPr>
          <a:xfrm>
            <a:off x="9601200" y="5623560"/>
            <a:ext cx="1371600" cy="292608"/>
          </a:xfrm>
          <a:prstGeom prst="roundRect">
            <a:avLst>
              <a:gd name="adj" fmla="val 50000"/>
            </a:avLst>
          </a:prstGeom>
          <a:solidFill>
            <a:schemeClr val="bg1"/>
          </a:solidFill>
          <a:ln w="9525">
            <a:solidFill>
              <a:schemeClr val="accent2"/>
            </a:solidFill>
            <a:prstDash val="solid"/>
          </a:ln>
        </p:spPr>
      </p:sp>
      <p:sp>
        <p:nvSpPr>
          <p:cNvPr id="33" name="Text 28"/>
          <p:cNvSpPr txBox="1"/>
          <p:nvPr/>
        </p:nvSpPr>
        <p:spPr>
          <a:xfrm>
            <a:off x="9601200" y="5623560"/>
            <a:ext cx="1371600" cy="292608"/>
          </a:xfrm>
          <a:prstGeom prst="rect">
            <a:avLst/>
          </a:prstGeom>
          <a:noFill/>
          <a:ln/>
        </p:spPr>
        <p:txBody>
          <a:bodyPr wrap="square" lIns="0" tIns="0" rIns="0" bIns="0" rtlCol="0" anchor="ctr"/>
          <a:lstStyle/>
          <a:p>
            <a:pPr algn="ctr" indent="0" marL="0">
              <a:buNone/>
            </a:pPr>
            <a:r>
              <a:rPr lang="en-US" sz="1100" dirty="0">
                <a:solidFill>
                  <a:schemeClr val="accent2"/>
                </a:solidFill>
                <a:latin typeface="Consolas" pitchFamily="34" charset="0"/>
                <a:ea typeface="Consolas" pitchFamily="34" charset="-122"/>
                <a:cs typeface="Consolas" pitchFamily="34" charset="-120"/>
              </a:rPr>
              <a:t>12 GT cells</a:t>
            </a:r>
            <a:endParaRPr lang="en-US" sz="11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04  ·  DATASET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Data preparation and augmentation</a:t>
            </a:r>
            <a:endParaRPr lang="en-US" sz="3200" dirty="0"/>
          </a:p>
        </p:txBody>
      </p:sp>
      <p:sp>
        <p:nvSpPr>
          <p:cNvPr id="4" name="prep 0"/>
          <p:cNvSpPr/>
          <p:nvPr/>
        </p:nvSpPr>
        <p:spPr>
          <a:xfrm>
            <a:off x="548640" y="1691640"/>
            <a:ext cx="1691640" cy="23774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5" name="icon LuFiles"/>
          <p:cNvSpPr/>
          <p:nvPr/>
        </p:nvSpPr>
        <p:spPr>
          <a:xfrm>
            <a:off x="1051560" y="1874520"/>
            <a:ext cx="685800" cy="685800"/>
          </a:xfrm>
          <a:prstGeom prst="ellipse">
            <a:avLst/>
          </a:prstGeom>
          <a:solidFill>
            <a:schemeClr val="accent1"/>
          </a:solidFill>
          <a:ln/>
        </p:spPr>
      </p:sp>
      <p:pic>
        <p:nvPicPr>
          <p:cNvPr id="6" name="LuFiles" descr="preencoded.png">    </p:cNvPr>
          <p:cNvPicPr>
            <a:picLocks noChangeAspect="1"/>
          </p:cNvPicPr>
          <p:nvPr/>
        </p:nvPicPr>
        <p:blipFill>
          <a:blip r:embed="rId1"/>
          <a:stretch>
            <a:fillRect/>
          </a:stretch>
        </p:blipFill>
        <p:spPr>
          <a:xfrm>
            <a:off x="1223010" y="2045970"/>
            <a:ext cx="342900" cy="342900"/>
          </a:xfrm>
          <a:prstGeom prst="rect">
            <a:avLst/>
          </a:prstGeom>
        </p:spPr>
      </p:pic>
      <p:sp>
        <p:nvSpPr>
          <p:cNvPr id="7" name="Text 4"/>
          <p:cNvSpPr txBox="1"/>
          <p:nvPr/>
        </p:nvSpPr>
        <p:spPr>
          <a:xfrm>
            <a:off x="685800" y="2697480"/>
            <a:ext cx="1417320" cy="365760"/>
          </a:xfrm>
          <a:prstGeom prst="rect">
            <a:avLst/>
          </a:prstGeom>
          <a:noFill/>
          <a:ln/>
        </p:spPr>
        <p:txBody>
          <a:bodyPr wrap="square" lIns="0" tIns="0" rIns="0" bIns="0" rtlCol="0" anchor="t"/>
          <a:lstStyle/>
          <a:p>
            <a:pPr algn="ctr" indent="0" marL="0">
              <a:buNone/>
            </a:pPr>
            <a:r>
              <a:rPr lang="en-US" sz="1600" b="1" dirty="0">
                <a:solidFill>
                  <a:schemeClr val="tx1"/>
                </a:solidFill>
              </a:rPr>
              <a:t>Load</a:t>
            </a:r>
            <a:endParaRPr lang="en-US" sz="1600" dirty="0"/>
          </a:p>
        </p:txBody>
      </p:sp>
      <p:sp>
        <p:nvSpPr>
          <p:cNvPr id="8" name="Text 5"/>
          <p:cNvSpPr txBox="1"/>
          <p:nvPr/>
        </p:nvSpPr>
        <p:spPr>
          <a:xfrm>
            <a:off x="685800" y="3108960"/>
            <a:ext cx="1417320" cy="868680"/>
          </a:xfrm>
          <a:prstGeom prst="rect">
            <a:avLst/>
          </a:prstGeom>
          <a:noFill/>
          <a:ln/>
        </p:spPr>
        <p:txBody>
          <a:bodyPr wrap="square" lIns="0" tIns="0" rIns="0" bIns="0" rtlCol="0" anchor="t"/>
          <a:lstStyle/>
          <a:p>
            <a:pPr algn="ctr" indent="0" marL="0">
              <a:buNone/>
            </a:pPr>
            <a:r>
              <a:rPr lang="en-US" sz="1200" dirty="0">
                <a:solidFill>
                  <a:schemeClr val="accent5"/>
                </a:solidFill>
              </a:rPr>
              <a:t>Image + all nucleus masks</a:t>
            </a:r>
            <a:endParaRPr lang="en-US" sz="1200" dirty="0"/>
          </a:p>
        </p:txBody>
      </p:sp>
      <p:sp>
        <p:nvSpPr>
          <p:cNvPr id="9" name="Shape 6"/>
          <p:cNvSpPr/>
          <p:nvPr/>
        </p:nvSpPr>
        <p:spPr>
          <a:xfrm>
            <a:off x="2267712" y="2743200"/>
            <a:ext cx="137160" cy="228600"/>
          </a:xfrm>
          <a:prstGeom prst="rightArrow">
            <a:avLst/>
          </a:prstGeom>
          <a:solidFill>
            <a:schemeClr val="accent5"/>
          </a:solidFill>
          <a:ln/>
        </p:spPr>
      </p:sp>
      <p:sp>
        <p:nvSpPr>
          <p:cNvPr id="10" name="prep 1"/>
          <p:cNvSpPr/>
          <p:nvPr/>
        </p:nvSpPr>
        <p:spPr>
          <a:xfrm>
            <a:off x="2423160" y="1691640"/>
            <a:ext cx="1691640" cy="23774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11" name="icon LuCombine"/>
          <p:cNvSpPr/>
          <p:nvPr/>
        </p:nvSpPr>
        <p:spPr>
          <a:xfrm>
            <a:off x="2926080" y="1874520"/>
            <a:ext cx="685800" cy="685800"/>
          </a:xfrm>
          <a:prstGeom prst="ellipse">
            <a:avLst/>
          </a:prstGeom>
          <a:solidFill>
            <a:schemeClr val="accent1"/>
          </a:solidFill>
          <a:ln/>
        </p:spPr>
      </p:sp>
      <p:pic>
        <p:nvPicPr>
          <p:cNvPr id="12" name="LuCombine" descr="preencoded.png">    </p:cNvPr>
          <p:cNvPicPr>
            <a:picLocks noChangeAspect="1"/>
          </p:cNvPicPr>
          <p:nvPr/>
        </p:nvPicPr>
        <p:blipFill>
          <a:blip r:embed="rId2"/>
          <a:stretch>
            <a:fillRect/>
          </a:stretch>
        </p:blipFill>
        <p:spPr>
          <a:xfrm>
            <a:off x="3097530" y="2045970"/>
            <a:ext cx="342900" cy="342900"/>
          </a:xfrm>
          <a:prstGeom prst="rect">
            <a:avLst/>
          </a:prstGeom>
        </p:spPr>
      </p:pic>
      <p:sp>
        <p:nvSpPr>
          <p:cNvPr id="13" name="Text 9"/>
          <p:cNvSpPr txBox="1"/>
          <p:nvPr/>
        </p:nvSpPr>
        <p:spPr>
          <a:xfrm>
            <a:off x="2560320" y="2697480"/>
            <a:ext cx="1417320" cy="365760"/>
          </a:xfrm>
          <a:prstGeom prst="rect">
            <a:avLst/>
          </a:prstGeom>
          <a:noFill/>
          <a:ln/>
        </p:spPr>
        <p:txBody>
          <a:bodyPr wrap="square" lIns="0" tIns="0" rIns="0" bIns="0" rtlCol="0" anchor="t"/>
          <a:lstStyle/>
          <a:p>
            <a:pPr algn="ctr" indent="0" marL="0">
              <a:buNone/>
            </a:pPr>
            <a:r>
              <a:rPr lang="en-US" sz="1600" b="1" dirty="0">
                <a:solidFill>
                  <a:schemeClr val="tx1"/>
                </a:solidFill>
              </a:rPr>
              <a:t>Merge</a:t>
            </a:r>
            <a:endParaRPr lang="en-US" sz="1600" dirty="0"/>
          </a:p>
        </p:txBody>
      </p:sp>
      <p:sp>
        <p:nvSpPr>
          <p:cNvPr id="14" name="Text 10"/>
          <p:cNvSpPr txBox="1"/>
          <p:nvPr/>
        </p:nvSpPr>
        <p:spPr>
          <a:xfrm>
            <a:off x="2560320" y="3108960"/>
            <a:ext cx="1417320" cy="868680"/>
          </a:xfrm>
          <a:prstGeom prst="rect">
            <a:avLst/>
          </a:prstGeom>
          <a:noFill/>
          <a:ln/>
        </p:spPr>
        <p:txBody>
          <a:bodyPr wrap="square" lIns="0" tIns="0" rIns="0" bIns="0" rtlCol="0" anchor="t"/>
          <a:lstStyle/>
          <a:p>
            <a:pPr algn="ctr" indent="0" marL="0">
              <a:buNone/>
            </a:pPr>
            <a:r>
              <a:rPr lang="en-US" sz="1200" dirty="0">
                <a:solidFill>
                  <a:schemeClr val="accent5"/>
                </a:solidFill>
              </a:rPr>
              <a:t>Union of masks → one binary target</a:t>
            </a:r>
            <a:endParaRPr lang="en-US" sz="1200" dirty="0"/>
          </a:p>
        </p:txBody>
      </p:sp>
      <p:sp>
        <p:nvSpPr>
          <p:cNvPr id="15" name="Shape 11"/>
          <p:cNvSpPr/>
          <p:nvPr/>
        </p:nvSpPr>
        <p:spPr>
          <a:xfrm>
            <a:off x="4142232" y="2743200"/>
            <a:ext cx="137160" cy="228600"/>
          </a:xfrm>
          <a:prstGeom prst="rightArrow">
            <a:avLst/>
          </a:prstGeom>
          <a:solidFill>
            <a:schemeClr val="accent5"/>
          </a:solidFill>
          <a:ln/>
        </p:spPr>
      </p:sp>
      <p:sp>
        <p:nvSpPr>
          <p:cNvPr id="16" name="prep 2"/>
          <p:cNvSpPr/>
          <p:nvPr/>
        </p:nvSpPr>
        <p:spPr>
          <a:xfrm>
            <a:off x="4297680" y="1691640"/>
            <a:ext cx="1691640" cy="23774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17" name="icon LuContrast"/>
          <p:cNvSpPr/>
          <p:nvPr/>
        </p:nvSpPr>
        <p:spPr>
          <a:xfrm>
            <a:off x="4800600" y="1874520"/>
            <a:ext cx="685800" cy="685800"/>
          </a:xfrm>
          <a:prstGeom prst="ellipse">
            <a:avLst/>
          </a:prstGeom>
          <a:solidFill>
            <a:schemeClr val="accent3"/>
          </a:solidFill>
          <a:ln/>
        </p:spPr>
      </p:sp>
      <p:pic>
        <p:nvPicPr>
          <p:cNvPr id="18" name="LuContrast" descr="preencoded.png">    </p:cNvPr>
          <p:cNvPicPr>
            <a:picLocks noChangeAspect="1"/>
          </p:cNvPicPr>
          <p:nvPr/>
        </p:nvPicPr>
        <p:blipFill>
          <a:blip r:embed="rId3"/>
          <a:stretch>
            <a:fillRect/>
          </a:stretch>
        </p:blipFill>
        <p:spPr>
          <a:xfrm>
            <a:off x="4972050" y="2045970"/>
            <a:ext cx="342900" cy="342900"/>
          </a:xfrm>
          <a:prstGeom prst="rect">
            <a:avLst/>
          </a:prstGeom>
        </p:spPr>
      </p:pic>
      <p:sp>
        <p:nvSpPr>
          <p:cNvPr id="19" name="Text 14"/>
          <p:cNvSpPr txBox="1"/>
          <p:nvPr/>
        </p:nvSpPr>
        <p:spPr>
          <a:xfrm>
            <a:off x="4434840" y="2697480"/>
            <a:ext cx="1417320" cy="365760"/>
          </a:xfrm>
          <a:prstGeom prst="rect">
            <a:avLst/>
          </a:prstGeom>
          <a:noFill/>
          <a:ln/>
        </p:spPr>
        <p:txBody>
          <a:bodyPr wrap="square" lIns="0" tIns="0" rIns="0" bIns="0" rtlCol="0" anchor="t"/>
          <a:lstStyle/>
          <a:p>
            <a:pPr algn="ctr" indent="0" marL="0">
              <a:buNone/>
            </a:pPr>
            <a:r>
              <a:rPr lang="en-US" sz="1600" b="1" dirty="0">
                <a:solidFill>
                  <a:schemeClr val="tx1"/>
                </a:solidFill>
              </a:rPr>
              <a:t>Preprocess</a:t>
            </a:r>
            <a:endParaRPr lang="en-US" sz="1600" dirty="0"/>
          </a:p>
        </p:txBody>
      </p:sp>
      <p:sp>
        <p:nvSpPr>
          <p:cNvPr id="20" name="Text 15"/>
          <p:cNvSpPr txBox="1"/>
          <p:nvPr/>
        </p:nvSpPr>
        <p:spPr>
          <a:xfrm>
            <a:off x="4434840" y="3108960"/>
            <a:ext cx="1417320" cy="868680"/>
          </a:xfrm>
          <a:prstGeom prst="rect">
            <a:avLst/>
          </a:prstGeom>
          <a:noFill/>
          <a:ln/>
        </p:spPr>
        <p:txBody>
          <a:bodyPr wrap="square" lIns="0" tIns="0" rIns="0" bIns="0" rtlCol="0" anchor="t"/>
          <a:lstStyle/>
          <a:p>
            <a:pPr algn="ctr" indent="0" marL="0">
              <a:buNone/>
            </a:pPr>
            <a:r>
              <a:rPr lang="en-US" sz="1200" dirty="0">
                <a:solidFill>
                  <a:schemeClr val="accent5"/>
                </a:solidFill>
              </a:rPr>
              <a:t>Same as app: gray, CLAHE, blur</a:t>
            </a:r>
            <a:endParaRPr lang="en-US" sz="1200" dirty="0"/>
          </a:p>
        </p:txBody>
      </p:sp>
      <p:sp>
        <p:nvSpPr>
          <p:cNvPr id="21" name="Shape 16"/>
          <p:cNvSpPr/>
          <p:nvPr/>
        </p:nvSpPr>
        <p:spPr>
          <a:xfrm>
            <a:off x="6016752" y="2743200"/>
            <a:ext cx="137160" cy="228600"/>
          </a:xfrm>
          <a:prstGeom prst="rightArrow">
            <a:avLst/>
          </a:prstGeom>
          <a:solidFill>
            <a:schemeClr val="accent5"/>
          </a:solidFill>
          <a:ln/>
        </p:spPr>
      </p:sp>
      <p:sp>
        <p:nvSpPr>
          <p:cNvPr id="22" name="prep 3"/>
          <p:cNvSpPr/>
          <p:nvPr/>
        </p:nvSpPr>
        <p:spPr>
          <a:xfrm>
            <a:off x="6172200" y="1691640"/>
            <a:ext cx="1691640" cy="23774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23" name="icon LuScaling"/>
          <p:cNvSpPr/>
          <p:nvPr/>
        </p:nvSpPr>
        <p:spPr>
          <a:xfrm>
            <a:off x="6675120" y="1874520"/>
            <a:ext cx="685800" cy="685800"/>
          </a:xfrm>
          <a:prstGeom prst="ellipse">
            <a:avLst/>
          </a:prstGeom>
          <a:solidFill>
            <a:schemeClr val="accent1"/>
          </a:solidFill>
          <a:ln/>
        </p:spPr>
      </p:sp>
      <p:pic>
        <p:nvPicPr>
          <p:cNvPr id="24" name="LuScaling" descr="preencoded.png">    </p:cNvPr>
          <p:cNvPicPr>
            <a:picLocks noChangeAspect="1"/>
          </p:cNvPicPr>
          <p:nvPr/>
        </p:nvPicPr>
        <p:blipFill>
          <a:blip r:embed="rId4"/>
          <a:stretch>
            <a:fillRect/>
          </a:stretch>
        </p:blipFill>
        <p:spPr>
          <a:xfrm>
            <a:off x="6846570" y="2045970"/>
            <a:ext cx="342900" cy="342900"/>
          </a:xfrm>
          <a:prstGeom prst="rect">
            <a:avLst/>
          </a:prstGeom>
        </p:spPr>
      </p:pic>
      <p:sp>
        <p:nvSpPr>
          <p:cNvPr id="25" name="Text 19"/>
          <p:cNvSpPr txBox="1"/>
          <p:nvPr/>
        </p:nvSpPr>
        <p:spPr>
          <a:xfrm>
            <a:off x="6309360" y="2697480"/>
            <a:ext cx="1417320" cy="365760"/>
          </a:xfrm>
          <a:prstGeom prst="rect">
            <a:avLst/>
          </a:prstGeom>
          <a:noFill/>
          <a:ln/>
        </p:spPr>
        <p:txBody>
          <a:bodyPr wrap="square" lIns="0" tIns="0" rIns="0" bIns="0" rtlCol="0" anchor="t"/>
          <a:lstStyle/>
          <a:p>
            <a:pPr algn="ctr" indent="0" marL="0">
              <a:buNone/>
            </a:pPr>
            <a:r>
              <a:rPr lang="en-US" sz="1600" b="1" dirty="0">
                <a:solidFill>
                  <a:schemeClr val="tx1"/>
                </a:solidFill>
              </a:rPr>
              <a:t>Resize</a:t>
            </a:r>
            <a:endParaRPr lang="en-US" sz="1600" dirty="0"/>
          </a:p>
        </p:txBody>
      </p:sp>
      <p:sp>
        <p:nvSpPr>
          <p:cNvPr id="26" name="Text 20"/>
          <p:cNvSpPr txBox="1"/>
          <p:nvPr/>
        </p:nvSpPr>
        <p:spPr>
          <a:xfrm>
            <a:off x="6309360" y="3108960"/>
            <a:ext cx="1417320" cy="868680"/>
          </a:xfrm>
          <a:prstGeom prst="rect">
            <a:avLst/>
          </a:prstGeom>
          <a:noFill/>
          <a:ln/>
        </p:spPr>
        <p:txBody>
          <a:bodyPr wrap="square" lIns="0" tIns="0" rIns="0" bIns="0" rtlCol="0" anchor="t"/>
          <a:lstStyle/>
          <a:p>
            <a:pPr algn="ctr" indent="0" marL="0">
              <a:buNone/>
            </a:pPr>
            <a:r>
              <a:rPr lang="en-US" sz="1200" dirty="0">
                <a:solidFill>
                  <a:schemeClr val="accent5"/>
                </a:solidFill>
              </a:rPr>
              <a:t>256 × 256 pixels</a:t>
            </a:r>
            <a:endParaRPr lang="en-US" sz="1200" dirty="0"/>
          </a:p>
        </p:txBody>
      </p:sp>
      <p:sp>
        <p:nvSpPr>
          <p:cNvPr id="27" name="Shape 21"/>
          <p:cNvSpPr/>
          <p:nvPr/>
        </p:nvSpPr>
        <p:spPr>
          <a:xfrm>
            <a:off x="7891272" y="2743200"/>
            <a:ext cx="137160" cy="228600"/>
          </a:xfrm>
          <a:prstGeom prst="rightArrow">
            <a:avLst/>
          </a:prstGeom>
          <a:solidFill>
            <a:schemeClr val="accent5"/>
          </a:solidFill>
          <a:ln/>
        </p:spPr>
      </p:sp>
      <p:sp>
        <p:nvSpPr>
          <p:cNvPr id="28" name="prep 4"/>
          <p:cNvSpPr/>
          <p:nvPr/>
        </p:nvSpPr>
        <p:spPr>
          <a:xfrm>
            <a:off x="8046720" y="1691640"/>
            <a:ext cx="1691640" cy="23774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29" name="icon LuSigma"/>
          <p:cNvSpPr/>
          <p:nvPr/>
        </p:nvSpPr>
        <p:spPr>
          <a:xfrm>
            <a:off x="8549640" y="1874520"/>
            <a:ext cx="685800" cy="685800"/>
          </a:xfrm>
          <a:prstGeom prst="ellipse">
            <a:avLst/>
          </a:prstGeom>
          <a:solidFill>
            <a:schemeClr val="accent1"/>
          </a:solidFill>
          <a:ln/>
        </p:spPr>
      </p:sp>
      <p:pic>
        <p:nvPicPr>
          <p:cNvPr id="30" name="LuSigma" descr="preencoded.png">    </p:cNvPr>
          <p:cNvPicPr>
            <a:picLocks noChangeAspect="1"/>
          </p:cNvPicPr>
          <p:nvPr/>
        </p:nvPicPr>
        <p:blipFill>
          <a:blip r:embed="rId5"/>
          <a:stretch>
            <a:fillRect/>
          </a:stretch>
        </p:blipFill>
        <p:spPr>
          <a:xfrm>
            <a:off x="8721090" y="2045970"/>
            <a:ext cx="342900" cy="342900"/>
          </a:xfrm>
          <a:prstGeom prst="rect">
            <a:avLst/>
          </a:prstGeom>
        </p:spPr>
      </p:pic>
      <p:sp>
        <p:nvSpPr>
          <p:cNvPr id="31" name="Text 24"/>
          <p:cNvSpPr txBox="1"/>
          <p:nvPr/>
        </p:nvSpPr>
        <p:spPr>
          <a:xfrm>
            <a:off x="8183880" y="2697480"/>
            <a:ext cx="1417320" cy="365760"/>
          </a:xfrm>
          <a:prstGeom prst="rect">
            <a:avLst/>
          </a:prstGeom>
          <a:noFill/>
          <a:ln/>
        </p:spPr>
        <p:txBody>
          <a:bodyPr wrap="square" lIns="0" tIns="0" rIns="0" bIns="0" rtlCol="0" anchor="t"/>
          <a:lstStyle/>
          <a:p>
            <a:pPr algn="ctr" indent="0" marL="0">
              <a:buNone/>
            </a:pPr>
            <a:r>
              <a:rPr lang="en-US" sz="1600" b="1" dirty="0">
                <a:solidFill>
                  <a:schemeClr val="tx1"/>
                </a:solidFill>
              </a:rPr>
              <a:t>Normalise</a:t>
            </a:r>
            <a:endParaRPr lang="en-US" sz="1600" dirty="0"/>
          </a:p>
        </p:txBody>
      </p:sp>
      <p:sp>
        <p:nvSpPr>
          <p:cNvPr id="32" name="Text 25"/>
          <p:cNvSpPr txBox="1"/>
          <p:nvPr/>
        </p:nvSpPr>
        <p:spPr>
          <a:xfrm>
            <a:off x="8183880" y="3108960"/>
            <a:ext cx="1417320" cy="868680"/>
          </a:xfrm>
          <a:prstGeom prst="rect">
            <a:avLst/>
          </a:prstGeom>
          <a:noFill/>
          <a:ln/>
        </p:spPr>
        <p:txBody>
          <a:bodyPr wrap="square" lIns="0" tIns="0" rIns="0" bIns="0" rtlCol="0" anchor="t"/>
          <a:lstStyle/>
          <a:p>
            <a:pPr algn="ctr" indent="0" marL="0">
              <a:buNone/>
            </a:pPr>
            <a:r>
              <a:rPr lang="en-US" sz="1200" dirty="0">
                <a:solidFill>
                  <a:schemeClr val="accent5"/>
                </a:solidFill>
              </a:rPr>
              <a:t>Gray → 3 channels, ImageNet mean/std</a:t>
            </a:r>
            <a:endParaRPr lang="en-US" sz="1200" dirty="0"/>
          </a:p>
        </p:txBody>
      </p:sp>
      <p:sp>
        <p:nvSpPr>
          <p:cNvPr id="33" name="Shape 26"/>
          <p:cNvSpPr/>
          <p:nvPr/>
        </p:nvSpPr>
        <p:spPr>
          <a:xfrm>
            <a:off x="9765792" y="2743200"/>
            <a:ext cx="137160" cy="228600"/>
          </a:xfrm>
          <a:prstGeom prst="rightArrow">
            <a:avLst/>
          </a:prstGeom>
          <a:solidFill>
            <a:schemeClr val="accent5"/>
          </a:solidFill>
          <a:ln/>
        </p:spPr>
      </p:sp>
      <p:sp>
        <p:nvSpPr>
          <p:cNvPr id="34" name="prep 5"/>
          <p:cNvSpPr/>
          <p:nvPr/>
        </p:nvSpPr>
        <p:spPr>
          <a:xfrm>
            <a:off x="9921240" y="1691640"/>
            <a:ext cx="1691640" cy="2377440"/>
          </a:xfrm>
          <a:prstGeom prst="roundRect">
            <a:avLst>
              <a:gd name="adj" fmla="val 4324"/>
            </a:avLst>
          </a:prstGeom>
          <a:solidFill>
            <a:schemeClr val="bg1"/>
          </a:solidFill>
          <a:ln/>
          <a:effectLst>
            <a:outerShdw sx="100000" sy="100000" kx="0" ky="0" algn="bl" rotWithShape="0" blurRad="127000" dist="25400" dir="5400000">
              <a:srgbClr val="1B1A33">
                <a:alpha val="8000"/>
              </a:srgbClr>
            </a:outerShdw>
          </a:effectLst>
        </p:spPr>
      </p:sp>
      <p:sp>
        <p:nvSpPr>
          <p:cNvPr id="35" name="icon LuShuffle"/>
          <p:cNvSpPr/>
          <p:nvPr/>
        </p:nvSpPr>
        <p:spPr>
          <a:xfrm>
            <a:off x="10424160" y="1874520"/>
            <a:ext cx="685800" cy="685800"/>
          </a:xfrm>
          <a:prstGeom prst="ellipse">
            <a:avLst/>
          </a:prstGeom>
          <a:solidFill>
            <a:schemeClr val="accent1"/>
          </a:solidFill>
          <a:ln/>
        </p:spPr>
      </p:sp>
      <p:pic>
        <p:nvPicPr>
          <p:cNvPr id="36" name="LuShuffle" descr="preencoded.png">    </p:cNvPr>
          <p:cNvPicPr>
            <a:picLocks noChangeAspect="1"/>
          </p:cNvPicPr>
          <p:nvPr/>
        </p:nvPicPr>
        <p:blipFill>
          <a:blip r:embed="rId6"/>
          <a:stretch>
            <a:fillRect/>
          </a:stretch>
        </p:blipFill>
        <p:spPr>
          <a:xfrm>
            <a:off x="10595610" y="2045970"/>
            <a:ext cx="342900" cy="342900"/>
          </a:xfrm>
          <a:prstGeom prst="rect">
            <a:avLst/>
          </a:prstGeom>
        </p:spPr>
      </p:pic>
      <p:sp>
        <p:nvSpPr>
          <p:cNvPr id="37" name="Text 29"/>
          <p:cNvSpPr txBox="1"/>
          <p:nvPr/>
        </p:nvSpPr>
        <p:spPr>
          <a:xfrm>
            <a:off x="10058400" y="2697480"/>
            <a:ext cx="1417320" cy="365760"/>
          </a:xfrm>
          <a:prstGeom prst="rect">
            <a:avLst/>
          </a:prstGeom>
          <a:noFill/>
          <a:ln/>
        </p:spPr>
        <p:txBody>
          <a:bodyPr wrap="square" lIns="0" tIns="0" rIns="0" bIns="0" rtlCol="0" anchor="t"/>
          <a:lstStyle/>
          <a:p>
            <a:pPr algn="ctr" indent="0" marL="0">
              <a:buNone/>
            </a:pPr>
            <a:r>
              <a:rPr lang="en-US" sz="1600" b="1" dirty="0">
                <a:solidFill>
                  <a:schemeClr val="tx1"/>
                </a:solidFill>
              </a:rPr>
              <a:t>Augment</a:t>
            </a:r>
            <a:endParaRPr lang="en-US" sz="1600" dirty="0"/>
          </a:p>
        </p:txBody>
      </p:sp>
      <p:sp>
        <p:nvSpPr>
          <p:cNvPr id="38" name="Text 30"/>
          <p:cNvSpPr txBox="1"/>
          <p:nvPr/>
        </p:nvSpPr>
        <p:spPr>
          <a:xfrm>
            <a:off x="10058400" y="3108960"/>
            <a:ext cx="1417320" cy="868680"/>
          </a:xfrm>
          <a:prstGeom prst="rect">
            <a:avLst/>
          </a:prstGeom>
          <a:noFill/>
          <a:ln/>
        </p:spPr>
        <p:txBody>
          <a:bodyPr wrap="square" lIns="0" tIns="0" rIns="0" bIns="0" rtlCol="0" anchor="t"/>
          <a:lstStyle/>
          <a:p>
            <a:pPr algn="ctr" indent="0" marL="0">
              <a:buNone/>
            </a:pPr>
            <a:r>
              <a:rPr lang="en-US" sz="1200" dirty="0">
                <a:solidFill>
                  <a:schemeClr val="accent5"/>
                </a:solidFill>
              </a:rPr>
              <a:t>Flips, 90° turns, elastic warp, brightness</a:t>
            </a:r>
            <a:endParaRPr lang="en-US" sz="1200" dirty="0"/>
          </a:p>
        </p:txBody>
      </p:sp>
      <p:sp>
        <p:nvSpPr>
          <p:cNvPr id="39" name="why 0"/>
          <p:cNvSpPr/>
          <p:nvPr/>
        </p:nvSpPr>
        <p:spPr>
          <a:xfrm>
            <a:off x="548640" y="4343400"/>
            <a:ext cx="3566160" cy="1783080"/>
          </a:xfrm>
          <a:prstGeom prst="roundRect">
            <a:avLst>
              <a:gd name="adj" fmla="val 4103"/>
            </a:avLst>
          </a:prstGeom>
          <a:solidFill>
            <a:schemeClr val="bg1"/>
          </a:solidFill>
          <a:ln/>
          <a:effectLst>
            <a:outerShdw sx="100000" sy="100000" kx="0" ky="0" algn="bl" rotWithShape="0" blurRad="127000" dist="25400" dir="5400000">
              <a:srgbClr val="1B1A33">
                <a:alpha val="8000"/>
              </a:srgbClr>
            </a:outerShdw>
          </a:effectLst>
        </p:spPr>
      </p:sp>
      <p:sp>
        <p:nvSpPr>
          <p:cNvPr id="40" name="Text 32"/>
          <p:cNvSpPr txBox="1"/>
          <p:nvPr/>
        </p:nvSpPr>
        <p:spPr>
          <a:xfrm>
            <a:off x="822960" y="452628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Why the same preprocessing?</a:t>
            </a:r>
            <a:endParaRPr lang="en-US" sz="1600" dirty="0"/>
          </a:p>
        </p:txBody>
      </p:sp>
      <p:sp>
        <p:nvSpPr>
          <p:cNvPr id="41" name="Text 33"/>
          <p:cNvSpPr txBox="1"/>
          <p:nvPr/>
        </p:nvSpPr>
        <p:spPr>
          <a:xfrm>
            <a:off x="822960" y="4919472"/>
            <a:ext cx="3017520" cy="1097280"/>
          </a:xfrm>
          <a:prstGeom prst="rect">
            <a:avLst/>
          </a:prstGeom>
          <a:noFill/>
          <a:ln/>
        </p:spPr>
        <p:txBody>
          <a:bodyPr wrap="square" lIns="0" tIns="0" rIns="0" bIns="0" rtlCol="0" anchor="t"/>
          <a:lstStyle/>
          <a:p>
            <a:pPr indent="0" marL="0">
              <a:buNone/>
            </a:pPr>
            <a:r>
              <a:rPr lang="en-US" sz="1300" dirty="0">
                <a:solidFill>
                  <a:schemeClr val="accent5"/>
                </a:solidFill>
              </a:rPr>
              <a:t>Training and the app run the exact same Preprocessor code, so the network never sees a different kind of input after training.</a:t>
            </a:r>
            <a:endParaRPr lang="en-US" sz="1300" dirty="0"/>
          </a:p>
        </p:txBody>
      </p:sp>
      <p:sp>
        <p:nvSpPr>
          <p:cNvPr id="42" name="why 1"/>
          <p:cNvSpPr/>
          <p:nvPr/>
        </p:nvSpPr>
        <p:spPr>
          <a:xfrm>
            <a:off x="4297680" y="4343400"/>
            <a:ext cx="3566160" cy="1783080"/>
          </a:xfrm>
          <a:prstGeom prst="roundRect">
            <a:avLst>
              <a:gd name="adj" fmla="val 4103"/>
            </a:avLst>
          </a:prstGeom>
          <a:solidFill>
            <a:schemeClr val="bg1"/>
          </a:solidFill>
          <a:ln/>
          <a:effectLst>
            <a:outerShdw sx="100000" sy="100000" kx="0" ky="0" algn="bl" rotWithShape="0" blurRad="127000" dist="25400" dir="5400000">
              <a:srgbClr val="1B1A33">
                <a:alpha val="8000"/>
              </a:srgbClr>
            </a:outerShdw>
          </a:effectLst>
        </p:spPr>
      </p:sp>
      <p:sp>
        <p:nvSpPr>
          <p:cNvPr id="43" name="Text 35"/>
          <p:cNvSpPr txBox="1"/>
          <p:nvPr/>
        </p:nvSpPr>
        <p:spPr>
          <a:xfrm>
            <a:off x="4572000" y="452628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Why augmentation?</a:t>
            </a:r>
            <a:endParaRPr lang="en-US" sz="1600" dirty="0"/>
          </a:p>
        </p:txBody>
      </p:sp>
      <p:sp>
        <p:nvSpPr>
          <p:cNvPr id="44" name="Text 36"/>
          <p:cNvSpPr txBox="1"/>
          <p:nvPr/>
        </p:nvSpPr>
        <p:spPr>
          <a:xfrm>
            <a:off x="4572000" y="4919472"/>
            <a:ext cx="3017520" cy="1097280"/>
          </a:xfrm>
          <a:prstGeom prst="rect">
            <a:avLst/>
          </a:prstGeom>
          <a:noFill/>
          <a:ln/>
        </p:spPr>
        <p:txBody>
          <a:bodyPr wrap="square" lIns="0" tIns="0" rIns="0" bIns="0" rtlCol="0" anchor="t"/>
          <a:lstStyle/>
          <a:p>
            <a:pPr indent="0" marL="0">
              <a:buNone/>
            </a:pPr>
            <a:r>
              <a:rPr lang="en-US" sz="1300" dirty="0">
                <a:solidFill>
                  <a:schemeClr val="accent5"/>
                </a:solidFill>
              </a:rPr>
              <a:t>536 images is small. Random flips, rotations and warps create new variations every epoch and reduce overfitting.</a:t>
            </a:r>
            <a:endParaRPr lang="en-US" sz="1300" dirty="0"/>
          </a:p>
        </p:txBody>
      </p:sp>
      <p:sp>
        <p:nvSpPr>
          <p:cNvPr id="45" name="why 2"/>
          <p:cNvSpPr/>
          <p:nvPr/>
        </p:nvSpPr>
        <p:spPr>
          <a:xfrm>
            <a:off x="8046720" y="4343400"/>
            <a:ext cx="3566160" cy="1783080"/>
          </a:xfrm>
          <a:prstGeom prst="roundRect">
            <a:avLst>
              <a:gd name="adj" fmla="val 4103"/>
            </a:avLst>
          </a:prstGeom>
          <a:solidFill>
            <a:schemeClr val="bg1"/>
          </a:solidFill>
          <a:ln/>
          <a:effectLst>
            <a:outerShdw sx="100000" sy="100000" kx="0" ky="0" algn="bl" rotWithShape="0" blurRad="127000" dist="25400" dir="5400000">
              <a:srgbClr val="1B1A33">
                <a:alpha val="8000"/>
              </a:srgbClr>
            </a:outerShdw>
          </a:effectLst>
        </p:spPr>
      </p:sp>
      <p:sp>
        <p:nvSpPr>
          <p:cNvPr id="46" name="Text 38"/>
          <p:cNvSpPr txBox="1"/>
          <p:nvPr/>
        </p:nvSpPr>
        <p:spPr>
          <a:xfrm>
            <a:off x="8321040" y="452628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Fast training</a:t>
            </a:r>
            <a:endParaRPr lang="en-US" sz="1600" dirty="0"/>
          </a:p>
        </p:txBody>
      </p:sp>
      <p:sp>
        <p:nvSpPr>
          <p:cNvPr id="47" name="Text 39"/>
          <p:cNvSpPr txBox="1"/>
          <p:nvPr/>
        </p:nvSpPr>
        <p:spPr>
          <a:xfrm>
            <a:off x="8321040" y="4919472"/>
            <a:ext cx="3017520" cy="1097280"/>
          </a:xfrm>
          <a:prstGeom prst="rect">
            <a:avLst/>
          </a:prstGeom>
          <a:noFill/>
          <a:ln/>
        </p:spPr>
        <p:txBody>
          <a:bodyPr wrap="square" lIns="0" tIns="0" rIns="0" bIns="0" rtlCol="0" anchor="t"/>
          <a:lstStyle/>
          <a:p>
            <a:pPr indent="0" marL="0">
              <a:buNone/>
            </a:pPr>
            <a:r>
              <a:rPr lang="en-US" sz="1300" dirty="0">
                <a:solidFill>
                  <a:schemeClr val="accent5"/>
                </a:solidFill>
              </a:rPr>
              <a:t>All 670 images are preprocessed once and kept in RAM (~90 MB), so one epoch takes only 3.6 s on the GPU.</a:t>
            </a:r>
            <a:endParaRPr lang="en-US" sz="13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05  ·  PROCESSING PIPELINE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The processing pipeline at a glance</a:t>
            </a:r>
            <a:endParaRPr lang="en-US" sz="3200" dirty="0"/>
          </a:p>
        </p:txBody>
      </p:sp>
      <p:pic>
        <p:nvPicPr>
          <p:cNvPr id="4" name="Input" descr="C:\Users\admin\AppData\Local\Temp\claude\c--Users-admin-Desktop-Microscopic-Cell-Image\a5404c32-f9e8-462d-b663-48f8cfe84d83\scratchpad\deck\img\02_dense_touching_original.png">    </p:cNvPr>
          <p:cNvPicPr>
            <a:picLocks noChangeAspect="1"/>
          </p:cNvPicPr>
          <p:nvPr/>
        </p:nvPicPr>
        <p:blipFill>
          <a:blip r:embed="rId1"/>
          <a:stretch>
            <a:fillRect/>
          </a:stretch>
        </p:blipFill>
        <p:spPr>
          <a:xfrm>
            <a:off x="548640" y="1735531"/>
            <a:ext cx="1719072" cy="1375258"/>
          </a:xfrm>
          <a:prstGeom prst="rect">
            <a:avLst/>
          </a:prstGeom>
        </p:spPr>
      </p:pic>
      <p:sp>
        <p:nvSpPr>
          <p:cNvPr id="5" name="Shape 2"/>
          <p:cNvSpPr/>
          <p:nvPr/>
        </p:nvSpPr>
        <p:spPr>
          <a:xfrm>
            <a:off x="2286000" y="2304288"/>
            <a:ext cx="118872" cy="228600"/>
          </a:xfrm>
          <a:prstGeom prst="rightArrow">
            <a:avLst/>
          </a:prstGeom>
          <a:solidFill>
            <a:schemeClr val="accent5"/>
          </a:solidFill>
          <a:ln/>
        </p:spPr>
      </p:sp>
      <p:sp>
        <p:nvSpPr>
          <p:cNvPr id="6" name="num 0"/>
          <p:cNvSpPr/>
          <p:nvPr/>
        </p:nvSpPr>
        <p:spPr>
          <a:xfrm>
            <a:off x="548640" y="3337560"/>
            <a:ext cx="384048" cy="384048"/>
          </a:xfrm>
          <a:prstGeom prst="ellipse">
            <a:avLst/>
          </a:prstGeom>
          <a:solidFill>
            <a:schemeClr val="accent1"/>
          </a:solidFill>
          <a:ln/>
        </p:spPr>
      </p:sp>
      <p:sp>
        <p:nvSpPr>
          <p:cNvPr id="7" name="Text 4"/>
          <p:cNvSpPr txBox="1"/>
          <p:nvPr/>
        </p:nvSpPr>
        <p:spPr>
          <a:xfrm>
            <a:off x="548640" y="3337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0</a:t>
            </a:r>
            <a:endParaRPr lang="en-US" sz="1300" dirty="0"/>
          </a:p>
        </p:txBody>
      </p:sp>
      <p:sp>
        <p:nvSpPr>
          <p:cNvPr id="8" name="Text 5"/>
          <p:cNvSpPr txBox="1"/>
          <p:nvPr/>
        </p:nvSpPr>
        <p:spPr>
          <a:xfrm>
            <a:off x="1005840" y="3337560"/>
            <a:ext cx="1325880" cy="384048"/>
          </a:xfrm>
          <a:prstGeom prst="rect">
            <a:avLst/>
          </a:prstGeom>
          <a:noFill/>
          <a:ln/>
        </p:spPr>
        <p:txBody>
          <a:bodyPr wrap="square" lIns="0" tIns="0" rIns="0" bIns="0" rtlCol="0" anchor="ctr"/>
          <a:lstStyle/>
          <a:p>
            <a:pPr indent="0" marL="0">
              <a:buNone/>
            </a:pPr>
            <a:r>
              <a:rPr lang="en-US" sz="1400" b="1" dirty="0">
                <a:solidFill>
                  <a:schemeClr val="tx1"/>
                </a:solidFill>
              </a:rPr>
              <a:t>Input</a:t>
            </a:r>
            <a:endParaRPr lang="en-US" sz="1400" dirty="0"/>
          </a:p>
        </p:txBody>
      </p:sp>
      <p:sp>
        <p:nvSpPr>
          <p:cNvPr id="9" name="Text 6"/>
          <p:cNvSpPr txBox="1"/>
          <p:nvPr/>
        </p:nvSpPr>
        <p:spPr>
          <a:xfrm>
            <a:off x="548640" y="3794760"/>
            <a:ext cx="1737360" cy="502920"/>
          </a:xfrm>
          <a:prstGeom prst="rect">
            <a:avLst/>
          </a:prstGeom>
          <a:noFill/>
          <a:ln/>
        </p:spPr>
        <p:txBody>
          <a:bodyPr wrap="square" lIns="0" tIns="0" rIns="0" bIns="0" rtlCol="0" anchor="t"/>
          <a:lstStyle/>
          <a:p>
            <a:pPr indent="0" marL="0">
              <a:buNone/>
            </a:pPr>
            <a:r>
              <a:rPr lang="en-US" sz="1200" dirty="0">
                <a:solidFill>
                  <a:schemeClr val="accent5"/>
                </a:solidFill>
              </a:rPr>
              <a:t>Stained image</a:t>
            </a:r>
            <a:endParaRPr lang="en-US" sz="1200" dirty="0"/>
          </a:p>
        </p:txBody>
      </p:sp>
      <p:sp>
        <p:nvSpPr>
          <p:cNvPr id="10" name="Shape 7"/>
          <p:cNvSpPr/>
          <p:nvPr/>
        </p:nvSpPr>
        <p:spPr>
          <a:xfrm>
            <a:off x="548640" y="4343400"/>
            <a:ext cx="1554480" cy="292608"/>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548640" y="4343400"/>
            <a:ext cx="1554480" cy="292608"/>
          </a:xfrm>
          <a:prstGeom prst="rect">
            <a:avLst/>
          </a:prstGeom>
          <a:no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PNG / JPG / TIF</a:t>
            </a:r>
            <a:endParaRPr lang="en-US" sz="1100" dirty="0"/>
          </a:p>
        </p:txBody>
      </p:sp>
      <p:pic>
        <p:nvPicPr>
          <p:cNvPr id="12" name="Preprocess" descr="C:\Users\admin\AppData\Local\Temp\claude\c--Users-admin-Desktop-Microscopic-Cell-Image\a5404c32-f9e8-462d-b663-48f8cfe84d83\scratchpad\deck\img\02_dense_touching_preprocessed.png">    </p:cNvPr>
          <p:cNvPicPr>
            <a:picLocks noChangeAspect="1"/>
          </p:cNvPicPr>
          <p:nvPr/>
        </p:nvPicPr>
        <p:blipFill>
          <a:blip r:embed="rId2"/>
          <a:stretch>
            <a:fillRect/>
          </a:stretch>
        </p:blipFill>
        <p:spPr>
          <a:xfrm>
            <a:off x="2417674" y="1735531"/>
            <a:ext cx="1719072" cy="1375258"/>
          </a:xfrm>
          <a:prstGeom prst="rect">
            <a:avLst/>
          </a:prstGeom>
        </p:spPr>
      </p:pic>
      <p:sp>
        <p:nvSpPr>
          <p:cNvPr id="13" name="Shape 9"/>
          <p:cNvSpPr/>
          <p:nvPr/>
        </p:nvSpPr>
        <p:spPr>
          <a:xfrm>
            <a:off x="4155034" y="2304288"/>
            <a:ext cx="118872" cy="228600"/>
          </a:xfrm>
          <a:prstGeom prst="rightArrow">
            <a:avLst/>
          </a:prstGeom>
          <a:solidFill>
            <a:schemeClr val="accent5"/>
          </a:solidFill>
          <a:ln/>
        </p:spPr>
      </p:sp>
      <p:sp>
        <p:nvSpPr>
          <p:cNvPr id="14" name="num 1"/>
          <p:cNvSpPr/>
          <p:nvPr/>
        </p:nvSpPr>
        <p:spPr>
          <a:xfrm>
            <a:off x="2417674" y="3337560"/>
            <a:ext cx="384048" cy="384048"/>
          </a:xfrm>
          <a:prstGeom prst="ellipse">
            <a:avLst/>
          </a:prstGeom>
          <a:solidFill>
            <a:schemeClr val="accent1"/>
          </a:solidFill>
          <a:ln/>
        </p:spPr>
      </p:sp>
      <p:sp>
        <p:nvSpPr>
          <p:cNvPr id="15" name="Text 11"/>
          <p:cNvSpPr txBox="1"/>
          <p:nvPr/>
        </p:nvSpPr>
        <p:spPr>
          <a:xfrm>
            <a:off x="2417674" y="3337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6" name="Text 12"/>
          <p:cNvSpPr txBox="1"/>
          <p:nvPr/>
        </p:nvSpPr>
        <p:spPr>
          <a:xfrm>
            <a:off x="2874874" y="3337560"/>
            <a:ext cx="1325880" cy="384048"/>
          </a:xfrm>
          <a:prstGeom prst="rect">
            <a:avLst/>
          </a:prstGeom>
          <a:noFill/>
          <a:ln/>
        </p:spPr>
        <p:txBody>
          <a:bodyPr wrap="square" lIns="0" tIns="0" rIns="0" bIns="0" rtlCol="0" anchor="ctr"/>
          <a:lstStyle/>
          <a:p>
            <a:pPr indent="0" marL="0">
              <a:buNone/>
            </a:pPr>
            <a:r>
              <a:rPr lang="en-US" sz="1400" b="1" dirty="0">
                <a:solidFill>
                  <a:schemeClr val="tx1"/>
                </a:solidFill>
              </a:rPr>
              <a:t>Preprocess</a:t>
            </a:r>
            <a:endParaRPr lang="en-US" sz="1400" dirty="0"/>
          </a:p>
        </p:txBody>
      </p:sp>
      <p:sp>
        <p:nvSpPr>
          <p:cNvPr id="17" name="Text 13"/>
          <p:cNvSpPr txBox="1"/>
          <p:nvPr/>
        </p:nvSpPr>
        <p:spPr>
          <a:xfrm>
            <a:off x="2417674" y="3794760"/>
            <a:ext cx="1737360" cy="502920"/>
          </a:xfrm>
          <a:prstGeom prst="rect">
            <a:avLst/>
          </a:prstGeom>
          <a:noFill/>
          <a:ln/>
        </p:spPr>
        <p:txBody>
          <a:bodyPr wrap="square" lIns="0" tIns="0" rIns="0" bIns="0" rtlCol="0" anchor="t"/>
          <a:lstStyle/>
          <a:p>
            <a:pPr indent="0" marL="0">
              <a:buNone/>
            </a:pPr>
            <a:r>
              <a:rPr lang="en-US" sz="1200" dirty="0">
                <a:solidFill>
                  <a:schemeClr val="accent5"/>
                </a:solidFill>
              </a:rPr>
              <a:t>Gray + CLAHE + blur</a:t>
            </a:r>
            <a:endParaRPr lang="en-US" sz="1200" dirty="0"/>
          </a:p>
        </p:txBody>
      </p:sp>
      <p:sp>
        <p:nvSpPr>
          <p:cNvPr id="18" name="Shape 14"/>
          <p:cNvSpPr/>
          <p:nvPr/>
        </p:nvSpPr>
        <p:spPr>
          <a:xfrm>
            <a:off x="2417674" y="4343400"/>
            <a:ext cx="1554480" cy="292608"/>
          </a:xfrm>
          <a:prstGeom prst="roundRect">
            <a:avLst>
              <a:gd name="adj" fmla="val 50000"/>
            </a:avLst>
          </a:prstGeom>
          <a:solidFill>
            <a:schemeClr val="bg1"/>
          </a:solidFill>
          <a:ln w="9525">
            <a:solidFill>
              <a:schemeClr val="accent1"/>
            </a:solidFill>
            <a:prstDash val="solid"/>
          </a:ln>
        </p:spPr>
      </p:sp>
      <p:sp>
        <p:nvSpPr>
          <p:cNvPr id="19" name="Text 15"/>
          <p:cNvSpPr txBox="1"/>
          <p:nvPr/>
        </p:nvSpPr>
        <p:spPr>
          <a:xfrm>
            <a:off x="2417674" y="4343400"/>
            <a:ext cx="1554480" cy="292608"/>
          </a:xfrm>
          <a:prstGeom prst="rect">
            <a:avLst/>
          </a:prstGeom>
          <a:no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clip</a:t>
            </a:r>
            <a:endParaRPr lang="en-US" sz="1100" dirty="0"/>
          </a:p>
        </p:txBody>
      </p:sp>
      <p:pic>
        <p:nvPicPr>
          <p:cNvPr id="20" name="U-Net" descr="C:\Users\admin\AppData\Local\Temp\claude\c--Users-admin-Desktop-Microscopic-Cell-Image\a5404c32-f9e8-462d-b663-48f8cfe84d83\scratchpad\deck\img\02_dense_touching_prob.png">    </p:cNvPr>
          <p:cNvPicPr>
            <a:picLocks noChangeAspect="1"/>
          </p:cNvPicPr>
          <p:nvPr/>
        </p:nvPicPr>
        <p:blipFill>
          <a:blip r:embed="rId3"/>
          <a:stretch>
            <a:fillRect/>
          </a:stretch>
        </p:blipFill>
        <p:spPr>
          <a:xfrm>
            <a:off x="4286707" y="1735531"/>
            <a:ext cx="1719072" cy="1375258"/>
          </a:xfrm>
          <a:prstGeom prst="rect">
            <a:avLst/>
          </a:prstGeom>
        </p:spPr>
      </p:pic>
      <p:sp>
        <p:nvSpPr>
          <p:cNvPr id="21" name="Shape 16"/>
          <p:cNvSpPr/>
          <p:nvPr/>
        </p:nvSpPr>
        <p:spPr>
          <a:xfrm>
            <a:off x="6024067" y="2304288"/>
            <a:ext cx="118872" cy="228600"/>
          </a:xfrm>
          <a:prstGeom prst="rightArrow">
            <a:avLst/>
          </a:prstGeom>
          <a:solidFill>
            <a:schemeClr val="accent5"/>
          </a:solidFill>
          <a:ln/>
        </p:spPr>
      </p:sp>
      <p:sp>
        <p:nvSpPr>
          <p:cNvPr id="22" name="num 2"/>
          <p:cNvSpPr/>
          <p:nvPr/>
        </p:nvSpPr>
        <p:spPr>
          <a:xfrm>
            <a:off x="4286707" y="3337560"/>
            <a:ext cx="384048" cy="384048"/>
          </a:xfrm>
          <a:prstGeom prst="ellipse">
            <a:avLst/>
          </a:prstGeom>
          <a:solidFill>
            <a:schemeClr val="accent3"/>
          </a:solidFill>
          <a:ln/>
        </p:spPr>
      </p:sp>
      <p:sp>
        <p:nvSpPr>
          <p:cNvPr id="23" name="Text 18"/>
          <p:cNvSpPr txBox="1"/>
          <p:nvPr/>
        </p:nvSpPr>
        <p:spPr>
          <a:xfrm>
            <a:off x="4286707" y="3337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4" name="Text 19"/>
          <p:cNvSpPr txBox="1"/>
          <p:nvPr/>
        </p:nvSpPr>
        <p:spPr>
          <a:xfrm>
            <a:off x="4743907" y="3337560"/>
            <a:ext cx="1325880" cy="384048"/>
          </a:xfrm>
          <a:prstGeom prst="rect">
            <a:avLst/>
          </a:prstGeom>
          <a:noFill/>
          <a:ln/>
        </p:spPr>
        <p:txBody>
          <a:bodyPr wrap="square" lIns="0" tIns="0" rIns="0" bIns="0" rtlCol="0" anchor="ctr"/>
          <a:lstStyle/>
          <a:p>
            <a:pPr indent="0" marL="0">
              <a:buNone/>
            </a:pPr>
            <a:r>
              <a:rPr lang="en-US" sz="1400" b="1" dirty="0">
                <a:solidFill>
                  <a:schemeClr val="tx1"/>
                </a:solidFill>
              </a:rPr>
              <a:t>U-Net</a:t>
            </a:r>
            <a:endParaRPr lang="en-US" sz="1400" dirty="0"/>
          </a:p>
        </p:txBody>
      </p:sp>
      <p:sp>
        <p:nvSpPr>
          <p:cNvPr id="25" name="Text 20"/>
          <p:cNvSpPr txBox="1"/>
          <p:nvPr/>
        </p:nvSpPr>
        <p:spPr>
          <a:xfrm>
            <a:off x="4286707" y="3794760"/>
            <a:ext cx="1737360" cy="502920"/>
          </a:xfrm>
          <a:prstGeom prst="rect">
            <a:avLst/>
          </a:prstGeom>
          <a:noFill/>
          <a:ln/>
        </p:spPr>
        <p:txBody>
          <a:bodyPr wrap="square" lIns="0" tIns="0" rIns="0" bIns="0" rtlCol="0" anchor="t"/>
          <a:lstStyle/>
          <a:p>
            <a:pPr indent="0" marL="0">
              <a:buNone/>
            </a:pPr>
            <a:r>
              <a:rPr lang="en-US" sz="1200" dirty="0">
                <a:solidFill>
                  <a:schemeClr val="accent5"/>
                </a:solidFill>
              </a:rPr>
              <a:t>Cell probability 0–1</a:t>
            </a:r>
            <a:endParaRPr lang="en-US" sz="1200" dirty="0"/>
          </a:p>
        </p:txBody>
      </p:sp>
      <p:sp>
        <p:nvSpPr>
          <p:cNvPr id="26" name="Shape 21"/>
          <p:cNvSpPr/>
          <p:nvPr/>
        </p:nvSpPr>
        <p:spPr>
          <a:xfrm>
            <a:off x="4286707" y="4343400"/>
            <a:ext cx="1554480" cy="292608"/>
          </a:xfrm>
          <a:prstGeom prst="roundRect">
            <a:avLst>
              <a:gd name="adj" fmla="val 50000"/>
            </a:avLst>
          </a:prstGeom>
          <a:solidFill>
            <a:schemeClr val="bg1"/>
          </a:solidFill>
          <a:ln w="9525">
            <a:solidFill>
              <a:schemeClr val="accent3"/>
            </a:solidFill>
            <a:prstDash val="solid"/>
          </a:ln>
        </p:spPr>
      </p:sp>
      <p:sp>
        <p:nvSpPr>
          <p:cNvPr id="27" name="Text 22"/>
          <p:cNvSpPr txBox="1"/>
          <p:nvPr/>
        </p:nvSpPr>
        <p:spPr>
          <a:xfrm>
            <a:off x="4286707" y="4343400"/>
            <a:ext cx="1554480" cy="292608"/>
          </a:xfrm>
          <a:prstGeom prst="rect">
            <a:avLst/>
          </a:prstGeom>
          <a:noFill/>
          <a:ln/>
        </p:spPr>
        <p:txBody>
          <a:bodyPr wrap="square" lIns="0" tIns="0" rIns="0" bIns="0" rtlCol="0" anchor="ctr"/>
          <a:lstStyle/>
          <a:p>
            <a:pPr algn="ctr" indent="0" marL="0">
              <a:buNone/>
            </a:pPr>
            <a:r>
              <a:rPr lang="en-US" sz="1100" dirty="0">
                <a:solidFill>
                  <a:schemeClr val="accent3"/>
                </a:solidFill>
                <a:latin typeface="Consolas" pitchFamily="34" charset="0"/>
                <a:ea typeface="Consolas" pitchFamily="34" charset="-122"/>
                <a:cs typeface="Consolas" pitchFamily="34" charset="-120"/>
              </a:rPr>
              <a:t>weights</a:t>
            </a:r>
            <a:endParaRPr lang="en-US" sz="1100" dirty="0"/>
          </a:p>
        </p:txBody>
      </p:sp>
      <p:pic>
        <p:nvPicPr>
          <p:cNvPr id="28" name="Mask" descr="C:\Users\admin\AppData\Local\Temp\claude\c--Users-admin-Desktop-Microscopic-Cell-Image\a5404c32-f9e8-462d-b663-48f8cfe84d83\scratchpad\deck\img\02_dense_touching_mask.png">    </p:cNvPr>
          <p:cNvPicPr>
            <a:picLocks noChangeAspect="1"/>
          </p:cNvPicPr>
          <p:nvPr/>
        </p:nvPicPr>
        <p:blipFill>
          <a:blip r:embed="rId4"/>
          <a:stretch>
            <a:fillRect/>
          </a:stretch>
        </p:blipFill>
        <p:spPr>
          <a:xfrm>
            <a:off x="6155741" y="1735531"/>
            <a:ext cx="1719072" cy="1375258"/>
          </a:xfrm>
          <a:prstGeom prst="rect">
            <a:avLst/>
          </a:prstGeom>
        </p:spPr>
      </p:pic>
      <p:sp>
        <p:nvSpPr>
          <p:cNvPr id="29" name="Shape 23"/>
          <p:cNvSpPr/>
          <p:nvPr/>
        </p:nvSpPr>
        <p:spPr>
          <a:xfrm>
            <a:off x="7893101" y="2304288"/>
            <a:ext cx="118872" cy="228600"/>
          </a:xfrm>
          <a:prstGeom prst="rightArrow">
            <a:avLst/>
          </a:prstGeom>
          <a:solidFill>
            <a:schemeClr val="accent5"/>
          </a:solidFill>
          <a:ln/>
        </p:spPr>
      </p:sp>
      <p:sp>
        <p:nvSpPr>
          <p:cNvPr id="30" name="num 3"/>
          <p:cNvSpPr/>
          <p:nvPr/>
        </p:nvSpPr>
        <p:spPr>
          <a:xfrm>
            <a:off x="6155741" y="3337560"/>
            <a:ext cx="384048" cy="384048"/>
          </a:xfrm>
          <a:prstGeom prst="ellipse">
            <a:avLst/>
          </a:prstGeom>
          <a:solidFill>
            <a:schemeClr val="accent1"/>
          </a:solidFill>
          <a:ln/>
        </p:spPr>
      </p:sp>
      <p:sp>
        <p:nvSpPr>
          <p:cNvPr id="31" name="Text 25"/>
          <p:cNvSpPr txBox="1"/>
          <p:nvPr/>
        </p:nvSpPr>
        <p:spPr>
          <a:xfrm>
            <a:off x="6155741" y="3337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2" name="Text 26"/>
          <p:cNvSpPr txBox="1"/>
          <p:nvPr/>
        </p:nvSpPr>
        <p:spPr>
          <a:xfrm>
            <a:off x="6612941" y="3337560"/>
            <a:ext cx="1325880" cy="384048"/>
          </a:xfrm>
          <a:prstGeom prst="rect">
            <a:avLst/>
          </a:prstGeom>
          <a:noFill/>
          <a:ln/>
        </p:spPr>
        <p:txBody>
          <a:bodyPr wrap="square" lIns="0" tIns="0" rIns="0" bIns="0" rtlCol="0" anchor="ctr"/>
          <a:lstStyle/>
          <a:p>
            <a:pPr indent="0" marL="0">
              <a:buNone/>
            </a:pPr>
            <a:r>
              <a:rPr lang="en-US" sz="1400" b="1" dirty="0">
                <a:solidFill>
                  <a:schemeClr val="tx1"/>
                </a:solidFill>
              </a:rPr>
              <a:t>Mask</a:t>
            </a:r>
            <a:endParaRPr lang="en-US" sz="1400" dirty="0"/>
          </a:p>
        </p:txBody>
      </p:sp>
      <p:sp>
        <p:nvSpPr>
          <p:cNvPr id="33" name="Text 27"/>
          <p:cNvSpPr txBox="1"/>
          <p:nvPr/>
        </p:nvSpPr>
        <p:spPr>
          <a:xfrm>
            <a:off x="6155741" y="3794760"/>
            <a:ext cx="1737360" cy="502920"/>
          </a:xfrm>
          <a:prstGeom prst="rect">
            <a:avLst/>
          </a:prstGeom>
          <a:noFill/>
          <a:ln/>
        </p:spPr>
        <p:txBody>
          <a:bodyPr wrap="square" lIns="0" tIns="0" rIns="0" bIns="0" rtlCol="0" anchor="t"/>
          <a:lstStyle/>
          <a:p>
            <a:pPr indent="0" marL="0">
              <a:buNone/>
            </a:pPr>
            <a:r>
              <a:rPr lang="en-US" sz="1200" dirty="0">
                <a:solidFill>
                  <a:schemeClr val="accent5"/>
                </a:solidFill>
              </a:rPr>
              <a:t>Threshold + morphology</a:t>
            </a:r>
            <a:endParaRPr lang="en-US" sz="1200" dirty="0"/>
          </a:p>
        </p:txBody>
      </p:sp>
      <p:sp>
        <p:nvSpPr>
          <p:cNvPr id="34" name="Shape 28"/>
          <p:cNvSpPr/>
          <p:nvPr/>
        </p:nvSpPr>
        <p:spPr>
          <a:xfrm>
            <a:off x="6155741" y="4343400"/>
            <a:ext cx="1554480" cy="292608"/>
          </a:xfrm>
          <a:prstGeom prst="roundRect">
            <a:avLst>
              <a:gd name="adj" fmla="val 50000"/>
            </a:avLst>
          </a:prstGeom>
          <a:solidFill>
            <a:schemeClr val="bg1"/>
          </a:solidFill>
          <a:ln w="9525">
            <a:solidFill>
              <a:schemeClr val="accent1"/>
            </a:solidFill>
            <a:prstDash val="solid"/>
          </a:ln>
        </p:spPr>
      </p:sp>
      <p:sp>
        <p:nvSpPr>
          <p:cNvPr id="35" name="Text 29"/>
          <p:cNvSpPr txBox="1"/>
          <p:nvPr/>
        </p:nvSpPr>
        <p:spPr>
          <a:xfrm>
            <a:off x="6155741" y="4343400"/>
            <a:ext cx="1554480" cy="292608"/>
          </a:xfrm>
          <a:prstGeom prst="rect">
            <a:avLst/>
          </a:prstGeom>
          <a:no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τ, kernel</a:t>
            </a:r>
            <a:endParaRPr lang="en-US" sz="1100" dirty="0"/>
          </a:p>
        </p:txBody>
      </p:sp>
      <p:pic>
        <p:nvPicPr>
          <p:cNvPr id="36" name="Distance map" descr="C:\Users\admin\AppData\Local\Temp\claude\c--Users-admin-Desktop-Microscopic-Cell-Image\a5404c32-f9e8-462d-b663-48f8cfe84d83\scratchpad\deck\img\02_dense_touching_distance.png">    </p:cNvPr>
          <p:cNvPicPr>
            <a:picLocks noChangeAspect="1"/>
          </p:cNvPicPr>
          <p:nvPr/>
        </p:nvPicPr>
        <p:blipFill>
          <a:blip r:embed="rId5"/>
          <a:stretch>
            <a:fillRect/>
          </a:stretch>
        </p:blipFill>
        <p:spPr>
          <a:xfrm>
            <a:off x="8024774" y="1735531"/>
            <a:ext cx="1719072" cy="1375258"/>
          </a:xfrm>
          <a:prstGeom prst="rect">
            <a:avLst/>
          </a:prstGeom>
        </p:spPr>
      </p:pic>
      <p:sp>
        <p:nvSpPr>
          <p:cNvPr id="37" name="Shape 30"/>
          <p:cNvSpPr/>
          <p:nvPr/>
        </p:nvSpPr>
        <p:spPr>
          <a:xfrm>
            <a:off x="9762134" y="2304288"/>
            <a:ext cx="118872" cy="228600"/>
          </a:xfrm>
          <a:prstGeom prst="rightArrow">
            <a:avLst/>
          </a:prstGeom>
          <a:solidFill>
            <a:schemeClr val="accent5"/>
          </a:solidFill>
          <a:ln/>
        </p:spPr>
      </p:sp>
      <p:sp>
        <p:nvSpPr>
          <p:cNvPr id="38" name="num 4"/>
          <p:cNvSpPr/>
          <p:nvPr/>
        </p:nvSpPr>
        <p:spPr>
          <a:xfrm>
            <a:off x="8024774" y="3337560"/>
            <a:ext cx="384048" cy="384048"/>
          </a:xfrm>
          <a:prstGeom prst="ellipse">
            <a:avLst/>
          </a:prstGeom>
          <a:solidFill>
            <a:schemeClr val="accent1"/>
          </a:solidFill>
          <a:ln/>
        </p:spPr>
      </p:sp>
      <p:sp>
        <p:nvSpPr>
          <p:cNvPr id="39" name="Text 32"/>
          <p:cNvSpPr txBox="1"/>
          <p:nvPr/>
        </p:nvSpPr>
        <p:spPr>
          <a:xfrm>
            <a:off x="8024774" y="3337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0" name="Text 33"/>
          <p:cNvSpPr txBox="1"/>
          <p:nvPr/>
        </p:nvSpPr>
        <p:spPr>
          <a:xfrm>
            <a:off x="8481974" y="3337560"/>
            <a:ext cx="1325880" cy="384048"/>
          </a:xfrm>
          <a:prstGeom prst="rect">
            <a:avLst/>
          </a:prstGeom>
          <a:noFill/>
          <a:ln/>
        </p:spPr>
        <p:txBody>
          <a:bodyPr wrap="square" lIns="0" tIns="0" rIns="0" bIns="0" rtlCol="0" anchor="ctr"/>
          <a:lstStyle/>
          <a:p>
            <a:pPr indent="0" marL="0">
              <a:buNone/>
            </a:pPr>
            <a:r>
              <a:rPr lang="en-US" sz="1400" b="1" dirty="0">
                <a:solidFill>
                  <a:schemeClr val="tx1"/>
                </a:solidFill>
              </a:rPr>
              <a:t>Distance map</a:t>
            </a:r>
            <a:endParaRPr lang="en-US" sz="1400" dirty="0"/>
          </a:p>
        </p:txBody>
      </p:sp>
      <p:sp>
        <p:nvSpPr>
          <p:cNvPr id="41" name="Text 34"/>
          <p:cNvSpPr txBox="1"/>
          <p:nvPr/>
        </p:nvSpPr>
        <p:spPr>
          <a:xfrm>
            <a:off x="8024774" y="3794760"/>
            <a:ext cx="1737360" cy="502920"/>
          </a:xfrm>
          <a:prstGeom prst="rect">
            <a:avLst/>
          </a:prstGeom>
          <a:noFill/>
          <a:ln/>
        </p:spPr>
        <p:txBody>
          <a:bodyPr wrap="square" lIns="0" tIns="0" rIns="0" bIns="0" rtlCol="0" anchor="t"/>
          <a:lstStyle/>
          <a:p>
            <a:pPr indent="0" marL="0">
              <a:buNone/>
            </a:pPr>
            <a:r>
              <a:rPr lang="en-US" sz="1200" dirty="0">
                <a:solidFill>
                  <a:schemeClr val="accent5"/>
                </a:solidFill>
              </a:rPr>
              <a:t>Peaks = cell seeds</a:t>
            </a:r>
            <a:endParaRPr lang="en-US" sz="1200" dirty="0"/>
          </a:p>
        </p:txBody>
      </p:sp>
      <p:sp>
        <p:nvSpPr>
          <p:cNvPr id="42" name="Shape 35"/>
          <p:cNvSpPr/>
          <p:nvPr/>
        </p:nvSpPr>
        <p:spPr>
          <a:xfrm>
            <a:off x="8024774" y="4343400"/>
            <a:ext cx="1554480" cy="292608"/>
          </a:xfrm>
          <a:prstGeom prst="roundRect">
            <a:avLst>
              <a:gd name="adj" fmla="val 50000"/>
            </a:avLst>
          </a:prstGeom>
          <a:solidFill>
            <a:schemeClr val="bg1"/>
          </a:solidFill>
          <a:ln w="9525">
            <a:solidFill>
              <a:schemeClr val="accent1"/>
            </a:solidFill>
            <a:prstDash val="solid"/>
          </a:ln>
        </p:spPr>
      </p:sp>
      <p:sp>
        <p:nvSpPr>
          <p:cNvPr id="43" name="Text 36"/>
          <p:cNvSpPr txBox="1"/>
          <p:nvPr/>
        </p:nvSpPr>
        <p:spPr>
          <a:xfrm>
            <a:off x="8024774" y="4343400"/>
            <a:ext cx="1554480" cy="292608"/>
          </a:xfrm>
          <a:prstGeom prst="rect">
            <a:avLst/>
          </a:prstGeom>
          <a:no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r, min dist</a:t>
            </a:r>
            <a:endParaRPr lang="en-US" sz="1100" dirty="0"/>
          </a:p>
        </p:txBody>
      </p:sp>
      <p:pic>
        <p:nvPicPr>
          <p:cNvPr id="44" name="Watershed" descr="C:\Users\admin\AppData\Local\Temp\claude\c--Users-admin-Desktop-Microscopic-Cell-Image\a5404c32-f9e8-462d-b663-48f8cfe84d83\scratchpad\deck\img\02_dense_touching_overlay.png">    </p:cNvPr>
          <p:cNvPicPr>
            <a:picLocks noChangeAspect="1"/>
          </p:cNvPicPr>
          <p:nvPr/>
        </p:nvPicPr>
        <p:blipFill>
          <a:blip r:embed="rId6"/>
          <a:stretch>
            <a:fillRect/>
          </a:stretch>
        </p:blipFill>
        <p:spPr>
          <a:xfrm>
            <a:off x="9893808" y="1735531"/>
            <a:ext cx="1719072" cy="1375258"/>
          </a:xfrm>
          <a:prstGeom prst="rect">
            <a:avLst/>
          </a:prstGeom>
        </p:spPr>
      </p:pic>
      <p:sp>
        <p:nvSpPr>
          <p:cNvPr id="45" name="num 5"/>
          <p:cNvSpPr/>
          <p:nvPr/>
        </p:nvSpPr>
        <p:spPr>
          <a:xfrm>
            <a:off x="9893808" y="3337560"/>
            <a:ext cx="384048" cy="384048"/>
          </a:xfrm>
          <a:prstGeom prst="ellipse">
            <a:avLst/>
          </a:prstGeom>
          <a:solidFill>
            <a:schemeClr val="accent1"/>
          </a:solidFill>
          <a:ln/>
        </p:spPr>
      </p:sp>
      <p:sp>
        <p:nvSpPr>
          <p:cNvPr id="46" name="Text 38"/>
          <p:cNvSpPr txBox="1"/>
          <p:nvPr/>
        </p:nvSpPr>
        <p:spPr>
          <a:xfrm>
            <a:off x="9893808" y="3337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7" name="Text 39"/>
          <p:cNvSpPr txBox="1"/>
          <p:nvPr/>
        </p:nvSpPr>
        <p:spPr>
          <a:xfrm>
            <a:off x="10351008" y="3337560"/>
            <a:ext cx="1325880" cy="384048"/>
          </a:xfrm>
          <a:prstGeom prst="rect">
            <a:avLst/>
          </a:prstGeom>
          <a:noFill/>
          <a:ln/>
        </p:spPr>
        <p:txBody>
          <a:bodyPr wrap="square" lIns="0" tIns="0" rIns="0" bIns="0" rtlCol="0" anchor="ctr"/>
          <a:lstStyle/>
          <a:p>
            <a:pPr indent="0" marL="0">
              <a:buNone/>
            </a:pPr>
            <a:r>
              <a:rPr lang="en-US" sz="1400" b="1" dirty="0">
                <a:solidFill>
                  <a:schemeClr val="tx1"/>
                </a:solidFill>
              </a:rPr>
              <a:t>Watershed</a:t>
            </a:r>
            <a:endParaRPr lang="en-US" sz="1400" dirty="0"/>
          </a:p>
        </p:txBody>
      </p:sp>
      <p:sp>
        <p:nvSpPr>
          <p:cNvPr id="48" name="Text 40"/>
          <p:cNvSpPr txBox="1"/>
          <p:nvPr/>
        </p:nvSpPr>
        <p:spPr>
          <a:xfrm>
            <a:off x="9893808" y="3794760"/>
            <a:ext cx="1737360" cy="502920"/>
          </a:xfrm>
          <a:prstGeom prst="rect">
            <a:avLst/>
          </a:prstGeom>
          <a:noFill/>
          <a:ln/>
        </p:spPr>
        <p:txBody>
          <a:bodyPr wrap="square" lIns="0" tIns="0" rIns="0" bIns="0" rtlCol="0" anchor="t"/>
          <a:lstStyle/>
          <a:p>
            <a:pPr indent="0" marL="0">
              <a:buNone/>
            </a:pPr>
            <a:r>
              <a:rPr lang="en-US" sz="1200" dirty="0">
                <a:solidFill>
                  <a:schemeClr val="accent5"/>
                </a:solidFill>
              </a:rPr>
              <a:t>Numbered + measured</a:t>
            </a:r>
            <a:endParaRPr lang="en-US" sz="1200" dirty="0"/>
          </a:p>
        </p:txBody>
      </p:sp>
      <p:sp>
        <p:nvSpPr>
          <p:cNvPr id="49" name="Shape 41"/>
          <p:cNvSpPr/>
          <p:nvPr/>
        </p:nvSpPr>
        <p:spPr>
          <a:xfrm>
            <a:off x="9893808" y="4343400"/>
            <a:ext cx="1554480" cy="292608"/>
          </a:xfrm>
          <a:prstGeom prst="roundRect">
            <a:avLst>
              <a:gd name="adj" fmla="val 50000"/>
            </a:avLst>
          </a:prstGeom>
          <a:solidFill>
            <a:schemeClr val="bg1"/>
          </a:solidFill>
          <a:ln w="9525">
            <a:solidFill>
              <a:schemeClr val="accent1"/>
            </a:solidFill>
            <a:prstDash val="solid"/>
          </a:ln>
        </p:spPr>
      </p:sp>
      <p:sp>
        <p:nvSpPr>
          <p:cNvPr id="50" name="Text 42"/>
          <p:cNvSpPr txBox="1"/>
          <p:nvPr/>
        </p:nvSpPr>
        <p:spPr>
          <a:xfrm>
            <a:off x="9893808" y="4343400"/>
            <a:ext cx="1554480" cy="292608"/>
          </a:xfrm>
          <a:prstGeom prst="rect">
            <a:avLst/>
          </a:prstGeom>
          <a:no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min area</a:t>
            </a:r>
            <a:endParaRPr lang="en-US" sz="1100" dirty="0"/>
          </a:p>
        </p:txBody>
      </p:sp>
      <p:sp>
        <p:nvSpPr>
          <p:cNvPr id="51" name="dl card"/>
          <p:cNvSpPr/>
          <p:nvPr/>
        </p:nvSpPr>
        <p:spPr>
          <a:xfrm>
            <a:off x="548640" y="4983480"/>
            <a:ext cx="5394960" cy="1143000"/>
          </a:xfrm>
          <a:prstGeom prst="roundRect">
            <a:avLst>
              <a:gd name="adj" fmla="val 6400"/>
            </a:avLst>
          </a:prstGeom>
          <a:solidFill>
            <a:schemeClr val="bg1"/>
          </a:solidFill>
          <a:ln/>
          <a:effectLst>
            <a:outerShdw sx="100000" sy="100000" kx="0" ky="0" algn="bl" rotWithShape="0" blurRad="127000" dist="25400" dir="5400000">
              <a:srgbClr val="1B1A33">
                <a:alpha val="8000"/>
              </a:srgbClr>
            </a:outerShdw>
          </a:effectLst>
        </p:spPr>
      </p:sp>
      <p:sp>
        <p:nvSpPr>
          <p:cNvPr id="52" name="cv card"/>
          <p:cNvSpPr/>
          <p:nvPr/>
        </p:nvSpPr>
        <p:spPr>
          <a:xfrm>
            <a:off x="6217920" y="4983480"/>
            <a:ext cx="5394960" cy="1143000"/>
          </a:xfrm>
          <a:prstGeom prst="roundRect">
            <a:avLst>
              <a:gd name="adj" fmla="val 6400"/>
            </a:avLst>
          </a:prstGeom>
          <a:solidFill>
            <a:schemeClr val="bg1"/>
          </a:solidFill>
          <a:ln/>
          <a:effectLst>
            <a:outerShdw sx="100000" sy="100000" kx="0" ky="0" algn="bl" rotWithShape="0" blurRad="127000" dist="25400" dir="5400000">
              <a:srgbClr val="1B1A33">
                <a:alpha val="8000"/>
              </a:srgbClr>
            </a:outerShdw>
          </a:effectLst>
        </p:spPr>
      </p:sp>
      <p:sp>
        <p:nvSpPr>
          <p:cNvPr id="53" name="Text 45"/>
          <p:cNvSpPr txBox="1"/>
          <p:nvPr/>
        </p:nvSpPr>
        <p:spPr>
          <a:xfrm>
            <a:off x="822960" y="4983480"/>
            <a:ext cx="4846320" cy="1143000"/>
          </a:xfrm>
          <a:prstGeom prst="rect">
            <a:avLst/>
          </a:prstGeom>
          <a:noFill/>
          <a:ln/>
        </p:spPr>
        <p:txBody>
          <a:bodyPr wrap="square" lIns="0" tIns="0" rIns="0" bIns="0" rtlCol="0" anchor="ctr"/>
          <a:lstStyle/>
          <a:p>
            <a:pPr indent="0" marL="0">
              <a:buNone/>
            </a:pPr>
            <a:r>
              <a:rPr lang="en-US" sz="1500" b="1" dirty="0">
                <a:solidFill>
                  <a:schemeClr val="accent3"/>
                </a:solidFill>
              </a:rPr>
              <a:t>Deep learning </a:t>
            </a:r>
            <a:pPr indent="0" marL="0">
              <a:buNone/>
            </a:pPr>
            <a:r>
              <a:rPr lang="en-US" sz="1500" dirty="0">
                <a:solidFill>
                  <a:schemeClr val="tx1"/>
                </a:solidFill>
              </a:rPr>
              <a:t>answers WHERE the cells are: a smooth probability for every pixel.</a:t>
            </a:r>
            <a:endParaRPr lang="en-US" sz="1500" dirty="0"/>
          </a:p>
        </p:txBody>
      </p:sp>
      <p:sp>
        <p:nvSpPr>
          <p:cNvPr id="54" name="Text 46"/>
          <p:cNvSpPr txBox="1"/>
          <p:nvPr/>
        </p:nvSpPr>
        <p:spPr>
          <a:xfrm>
            <a:off x="6492240" y="4983480"/>
            <a:ext cx="4846320" cy="1143000"/>
          </a:xfrm>
          <a:prstGeom prst="rect">
            <a:avLst/>
          </a:prstGeom>
          <a:noFill/>
          <a:ln/>
        </p:spPr>
        <p:txBody>
          <a:bodyPr wrap="square" lIns="0" tIns="0" rIns="0" bIns="0" rtlCol="0" anchor="ctr"/>
          <a:lstStyle/>
          <a:p>
            <a:pPr indent="0" marL="0">
              <a:buNone/>
            </a:pPr>
            <a:r>
              <a:rPr lang="en-US" sz="1500" b="1" dirty="0">
                <a:solidFill>
                  <a:schemeClr val="accent1"/>
                </a:solidFill>
              </a:rPr>
              <a:t>Classical vision </a:t>
            </a:r>
            <a:pPr indent="0" marL="0">
              <a:buNone/>
            </a:pPr>
            <a:r>
              <a:rPr lang="en-US" sz="1500" dirty="0">
                <a:solidFill>
                  <a:schemeClr val="tx1"/>
                </a:solidFill>
              </a:rPr>
              <a:t>answers WHICH pixels belong to WHICH cell: it splits the touching ones.</a:t>
            </a:r>
            <a:endParaRPr lang="en-US" sz="15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05  ·  STEP 1</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Step 1 · Preprocessing</a:t>
            </a:r>
            <a:endParaRPr lang="en-US" sz="3200" dirty="0"/>
          </a:p>
        </p:txBody>
      </p:sp>
      <p:sp>
        <p:nvSpPr>
          <p:cNvPr id="4" name="before after"/>
          <p:cNvSpPr/>
          <p:nvPr/>
        </p:nvSpPr>
        <p:spPr>
          <a:xfrm>
            <a:off x="548640" y="1600200"/>
            <a:ext cx="576072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pic>
        <p:nvPicPr>
          <p:cNvPr id="5" name="before" descr="C:\Users\admin\AppData\Local\Temp\claude\c--Users-admin-Desktop-Microscopic-Cell-Image\a5404c32-f9e8-462d-b663-48f8cfe84d83\scratchpad\deck\img\03_low_contrast_original.png">    </p:cNvPr>
          <p:cNvPicPr>
            <a:picLocks noChangeAspect="1"/>
          </p:cNvPicPr>
          <p:nvPr/>
        </p:nvPicPr>
        <p:blipFill>
          <a:blip r:embed="rId1"/>
          <a:stretch>
            <a:fillRect/>
          </a:stretch>
        </p:blipFill>
        <p:spPr>
          <a:xfrm>
            <a:off x="777240" y="2478024"/>
            <a:ext cx="2606040" cy="2084832"/>
          </a:xfrm>
          <a:prstGeom prst="rect">
            <a:avLst/>
          </a:prstGeom>
        </p:spPr>
      </p:pic>
      <p:pic>
        <p:nvPicPr>
          <p:cNvPr id="6" name="after" descr="C:\Users\admin\AppData\Local\Temp\claude\c--Users-admin-Desktop-Microscopic-Cell-Image\a5404c32-f9e8-462d-b663-48f8cfe84d83\scratchpad\deck\img\03_low_contrast_preprocessed.png">    </p:cNvPr>
          <p:cNvPicPr>
            <a:picLocks noChangeAspect="1"/>
          </p:cNvPicPr>
          <p:nvPr/>
        </p:nvPicPr>
        <p:blipFill>
          <a:blip r:embed="rId2"/>
          <a:stretch>
            <a:fillRect/>
          </a:stretch>
        </p:blipFill>
        <p:spPr>
          <a:xfrm>
            <a:off x="3474720" y="2478024"/>
            <a:ext cx="2606040" cy="2084832"/>
          </a:xfrm>
          <a:prstGeom prst="rect">
            <a:avLst/>
          </a:prstGeom>
        </p:spPr>
      </p:pic>
      <p:sp>
        <p:nvSpPr>
          <p:cNvPr id="7" name="Text 3"/>
          <p:cNvSpPr txBox="1"/>
          <p:nvPr/>
        </p:nvSpPr>
        <p:spPr>
          <a:xfrm>
            <a:off x="777240" y="4700016"/>
            <a:ext cx="2606040" cy="548640"/>
          </a:xfrm>
          <a:prstGeom prst="rect">
            <a:avLst/>
          </a:prstGeom>
          <a:noFill/>
          <a:ln/>
        </p:spPr>
        <p:txBody>
          <a:bodyPr wrap="square" lIns="0" tIns="0" rIns="0" bIns="0" rtlCol="0" anchor="t"/>
          <a:lstStyle/>
          <a:p>
            <a:pPr indent="0" marL="0">
              <a:buNone/>
            </a:pPr>
            <a:r>
              <a:rPr lang="en-US" sz="1300" b="1" dirty="0">
                <a:solidFill>
                  <a:schemeClr val="tx1"/>
                </a:solidFill>
              </a:rPr>
              <a:t>Before: </a:t>
            </a:r>
            <a:pPr indent="0" marL="0">
              <a:buNone/>
            </a:pPr>
            <a:r>
              <a:rPr lang="en-US" sz="1300" dirty="0">
                <a:solidFill>
                  <a:schemeClr val="accent5"/>
                </a:solidFill>
              </a:rPr>
              <a:t>H&amp;E tissue, faint nuclei</a:t>
            </a:r>
            <a:endParaRPr lang="en-US" sz="1300" dirty="0"/>
          </a:p>
        </p:txBody>
      </p:sp>
      <p:sp>
        <p:nvSpPr>
          <p:cNvPr id="8" name="Text 4"/>
          <p:cNvSpPr txBox="1"/>
          <p:nvPr/>
        </p:nvSpPr>
        <p:spPr>
          <a:xfrm>
            <a:off x="3474720" y="4700016"/>
            <a:ext cx="2606040" cy="548640"/>
          </a:xfrm>
          <a:prstGeom prst="rect">
            <a:avLst/>
          </a:prstGeom>
          <a:noFill/>
          <a:ln/>
        </p:spPr>
        <p:txBody>
          <a:bodyPr wrap="square" lIns="0" tIns="0" rIns="0" bIns="0" rtlCol="0" anchor="t"/>
          <a:lstStyle/>
          <a:p>
            <a:pPr indent="0" marL="0">
              <a:buNone/>
            </a:pPr>
            <a:r>
              <a:rPr lang="en-US" sz="1300" b="1" dirty="0">
                <a:solidFill>
                  <a:schemeClr val="tx1"/>
                </a:solidFill>
              </a:rPr>
              <a:t>After: </a:t>
            </a:r>
            <a:pPr indent="0" marL="0">
              <a:buNone/>
            </a:pPr>
            <a:r>
              <a:rPr lang="en-US" sz="1300" dirty="0">
                <a:solidFill>
                  <a:schemeClr val="accent5"/>
                </a:solidFill>
              </a:rPr>
              <a:t>gray, contrast boosted</a:t>
            </a:r>
            <a:endParaRPr lang="en-US" sz="1300" dirty="0"/>
          </a:p>
        </p:txBody>
      </p:sp>
      <p:sp>
        <p:nvSpPr>
          <p:cNvPr id="9" name="prep step 0"/>
          <p:cNvSpPr/>
          <p:nvPr/>
        </p:nvSpPr>
        <p:spPr>
          <a:xfrm>
            <a:off x="6583680" y="1600200"/>
            <a:ext cx="5029200" cy="1371600"/>
          </a:xfrm>
          <a:prstGeom prst="roundRect">
            <a:avLst>
              <a:gd name="adj" fmla="val 5333"/>
            </a:avLst>
          </a:prstGeom>
          <a:solidFill>
            <a:schemeClr val="bg1"/>
          </a:solidFill>
          <a:ln/>
          <a:effectLst>
            <a:outerShdw sx="100000" sy="100000" kx="0" ky="0" algn="bl" rotWithShape="0" blurRad="127000" dist="25400" dir="5400000">
              <a:srgbClr val="1B1A33">
                <a:alpha val="8000"/>
              </a:srgbClr>
            </a:outerShdw>
          </a:effectLst>
        </p:spPr>
      </p:sp>
      <p:sp>
        <p:nvSpPr>
          <p:cNvPr id="10" name="num 1"/>
          <p:cNvSpPr/>
          <p:nvPr/>
        </p:nvSpPr>
        <p:spPr>
          <a:xfrm>
            <a:off x="6812280" y="1828800"/>
            <a:ext cx="457200" cy="457200"/>
          </a:xfrm>
          <a:prstGeom prst="ellipse">
            <a:avLst/>
          </a:prstGeom>
          <a:solidFill>
            <a:schemeClr val="accent1"/>
          </a:solidFill>
          <a:ln/>
        </p:spPr>
      </p:sp>
      <p:sp>
        <p:nvSpPr>
          <p:cNvPr id="11" name="Text 7"/>
          <p:cNvSpPr txBox="1"/>
          <p:nvPr/>
        </p:nvSpPr>
        <p:spPr>
          <a:xfrm>
            <a:off x="6812280" y="18288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8"/>
          <p:cNvSpPr txBox="1"/>
          <p:nvPr/>
        </p:nvSpPr>
        <p:spPr>
          <a:xfrm>
            <a:off x="7452360" y="1801368"/>
            <a:ext cx="3977640" cy="365760"/>
          </a:xfrm>
          <a:prstGeom prst="rect">
            <a:avLst/>
          </a:prstGeom>
          <a:noFill/>
          <a:ln/>
        </p:spPr>
        <p:txBody>
          <a:bodyPr wrap="square" lIns="0" tIns="0" rIns="0" bIns="0" rtlCol="0" anchor="t"/>
          <a:lstStyle/>
          <a:p>
            <a:pPr indent="0" marL="0">
              <a:buNone/>
            </a:pPr>
            <a:r>
              <a:rPr lang="en-US" sz="1600" b="1" dirty="0">
                <a:solidFill>
                  <a:schemeClr val="tx1"/>
                </a:solidFill>
              </a:rPr>
              <a:t>Convert to grayscale</a:t>
            </a:r>
            <a:endParaRPr lang="en-US" sz="1600" dirty="0"/>
          </a:p>
        </p:txBody>
      </p:sp>
      <p:sp>
        <p:nvSpPr>
          <p:cNvPr id="13" name="Text 9"/>
          <p:cNvSpPr txBox="1"/>
          <p:nvPr/>
        </p:nvSpPr>
        <p:spPr>
          <a:xfrm>
            <a:off x="7452360" y="2194560"/>
            <a:ext cx="3977640" cy="731520"/>
          </a:xfrm>
          <a:prstGeom prst="rect">
            <a:avLst/>
          </a:prstGeom>
          <a:noFill/>
          <a:ln/>
        </p:spPr>
        <p:txBody>
          <a:bodyPr wrap="square" lIns="0" tIns="0" rIns="0" bIns="0" rtlCol="0" anchor="t"/>
          <a:lstStyle/>
          <a:p>
            <a:pPr indent="0" marL="0">
              <a:buNone/>
            </a:pPr>
            <a:r>
              <a:rPr lang="en-US" sz="1300" dirty="0">
                <a:solidFill>
                  <a:schemeClr val="accent5"/>
                </a:solidFill>
              </a:rPr>
              <a:t>Different stains give different colours. Brightness is what the network needs; colour is extra noise.</a:t>
            </a:r>
            <a:endParaRPr lang="en-US" sz="1300" dirty="0"/>
          </a:p>
        </p:txBody>
      </p:sp>
      <p:sp>
        <p:nvSpPr>
          <p:cNvPr id="14" name="prep step 1"/>
          <p:cNvSpPr/>
          <p:nvPr/>
        </p:nvSpPr>
        <p:spPr>
          <a:xfrm>
            <a:off x="6583680" y="3154680"/>
            <a:ext cx="5029200" cy="1371600"/>
          </a:xfrm>
          <a:prstGeom prst="roundRect">
            <a:avLst>
              <a:gd name="adj" fmla="val 5333"/>
            </a:avLst>
          </a:prstGeom>
          <a:solidFill>
            <a:schemeClr val="bg1"/>
          </a:solidFill>
          <a:ln/>
          <a:effectLst>
            <a:outerShdw sx="100000" sy="100000" kx="0" ky="0" algn="bl" rotWithShape="0" blurRad="127000" dist="25400" dir="5400000">
              <a:srgbClr val="1B1A33">
                <a:alpha val="8000"/>
              </a:srgbClr>
            </a:outerShdw>
          </a:effectLst>
        </p:spPr>
      </p:sp>
      <p:sp>
        <p:nvSpPr>
          <p:cNvPr id="15" name="num 2"/>
          <p:cNvSpPr/>
          <p:nvPr/>
        </p:nvSpPr>
        <p:spPr>
          <a:xfrm>
            <a:off x="6812280" y="3383280"/>
            <a:ext cx="457200" cy="457200"/>
          </a:xfrm>
          <a:prstGeom prst="ellipse">
            <a:avLst/>
          </a:prstGeom>
          <a:solidFill>
            <a:schemeClr val="accent1"/>
          </a:solidFill>
          <a:ln/>
        </p:spPr>
      </p:sp>
      <p:sp>
        <p:nvSpPr>
          <p:cNvPr id="16" name="Text 12"/>
          <p:cNvSpPr txBox="1"/>
          <p:nvPr/>
        </p:nvSpPr>
        <p:spPr>
          <a:xfrm>
            <a:off x="6812280" y="3383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7" name="Text 13"/>
          <p:cNvSpPr txBox="1"/>
          <p:nvPr/>
        </p:nvSpPr>
        <p:spPr>
          <a:xfrm>
            <a:off x="7452360" y="3355848"/>
            <a:ext cx="3977640" cy="365760"/>
          </a:xfrm>
          <a:prstGeom prst="rect">
            <a:avLst/>
          </a:prstGeom>
          <a:noFill/>
          <a:ln/>
        </p:spPr>
        <p:txBody>
          <a:bodyPr wrap="square" lIns="0" tIns="0" rIns="0" bIns="0" rtlCol="0" anchor="t"/>
          <a:lstStyle/>
          <a:p>
            <a:pPr indent="0" marL="0">
              <a:buNone/>
            </a:pPr>
            <a:r>
              <a:rPr lang="en-US" sz="1600" b="1" dirty="0">
                <a:solidFill>
                  <a:schemeClr val="tx1"/>
                </a:solidFill>
              </a:rPr>
              <a:t>CLAHE contrast boost  (clip = 2.0)</a:t>
            </a:r>
            <a:endParaRPr lang="en-US" sz="1600" dirty="0"/>
          </a:p>
        </p:txBody>
      </p:sp>
      <p:sp>
        <p:nvSpPr>
          <p:cNvPr id="18" name="Text 14"/>
          <p:cNvSpPr txBox="1"/>
          <p:nvPr/>
        </p:nvSpPr>
        <p:spPr>
          <a:xfrm>
            <a:off x="7452360" y="3749040"/>
            <a:ext cx="3977640" cy="731520"/>
          </a:xfrm>
          <a:prstGeom prst="rect">
            <a:avLst/>
          </a:prstGeom>
          <a:noFill/>
          <a:ln/>
        </p:spPr>
        <p:txBody>
          <a:bodyPr wrap="square" lIns="0" tIns="0" rIns="0" bIns="0" rtlCol="0" anchor="t"/>
          <a:lstStyle/>
          <a:p>
            <a:pPr indent="0" marL="0">
              <a:buNone/>
            </a:pPr>
            <a:r>
              <a:rPr lang="en-US" sz="1300" dirty="0">
                <a:solidFill>
                  <a:schemeClr val="accent5"/>
                </a:solidFill>
              </a:rPr>
              <a:t>Adaptive histogram equalisation raises local contrast tile by tile, so faint cells become visible without over-brightening the rest.</a:t>
            </a:r>
            <a:endParaRPr lang="en-US" sz="1300" dirty="0"/>
          </a:p>
        </p:txBody>
      </p:sp>
      <p:sp>
        <p:nvSpPr>
          <p:cNvPr id="19" name="prep step 2"/>
          <p:cNvSpPr/>
          <p:nvPr/>
        </p:nvSpPr>
        <p:spPr>
          <a:xfrm>
            <a:off x="6583680" y="4709160"/>
            <a:ext cx="5029200" cy="1371600"/>
          </a:xfrm>
          <a:prstGeom prst="roundRect">
            <a:avLst>
              <a:gd name="adj" fmla="val 5333"/>
            </a:avLst>
          </a:prstGeom>
          <a:solidFill>
            <a:schemeClr val="bg1"/>
          </a:solidFill>
          <a:ln/>
          <a:effectLst>
            <a:outerShdw sx="100000" sy="100000" kx="0" ky="0" algn="bl" rotWithShape="0" blurRad="127000" dist="25400" dir="5400000">
              <a:srgbClr val="1B1A33">
                <a:alpha val="8000"/>
              </a:srgbClr>
            </a:outerShdw>
          </a:effectLst>
        </p:spPr>
      </p:sp>
      <p:sp>
        <p:nvSpPr>
          <p:cNvPr id="20" name="num 3"/>
          <p:cNvSpPr/>
          <p:nvPr/>
        </p:nvSpPr>
        <p:spPr>
          <a:xfrm>
            <a:off x="6812280" y="4937760"/>
            <a:ext cx="457200" cy="457200"/>
          </a:xfrm>
          <a:prstGeom prst="ellipse">
            <a:avLst/>
          </a:prstGeom>
          <a:solidFill>
            <a:schemeClr val="accent1"/>
          </a:solidFill>
          <a:ln/>
        </p:spPr>
      </p:sp>
      <p:sp>
        <p:nvSpPr>
          <p:cNvPr id="21" name="Text 17"/>
          <p:cNvSpPr txBox="1"/>
          <p:nvPr/>
        </p:nvSpPr>
        <p:spPr>
          <a:xfrm>
            <a:off x="6812280" y="49377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2" name="Text 18"/>
          <p:cNvSpPr txBox="1"/>
          <p:nvPr/>
        </p:nvSpPr>
        <p:spPr>
          <a:xfrm>
            <a:off x="7452360" y="4910328"/>
            <a:ext cx="3977640" cy="365760"/>
          </a:xfrm>
          <a:prstGeom prst="rect">
            <a:avLst/>
          </a:prstGeom>
          <a:noFill/>
          <a:ln/>
        </p:spPr>
        <p:txBody>
          <a:bodyPr wrap="square" lIns="0" tIns="0" rIns="0" bIns="0" rtlCol="0" anchor="t"/>
          <a:lstStyle/>
          <a:p>
            <a:pPr indent="0" marL="0">
              <a:buNone/>
            </a:pPr>
            <a:r>
              <a:rPr lang="en-US" sz="1600" b="1" dirty="0">
                <a:solidFill>
                  <a:schemeClr val="tx1"/>
                </a:solidFill>
              </a:rPr>
              <a:t>Gaussian blur  (kernel = 3)</a:t>
            </a:r>
            <a:endParaRPr lang="en-US" sz="1600" dirty="0"/>
          </a:p>
        </p:txBody>
      </p:sp>
      <p:sp>
        <p:nvSpPr>
          <p:cNvPr id="23" name="Text 19"/>
          <p:cNvSpPr txBox="1"/>
          <p:nvPr/>
        </p:nvSpPr>
        <p:spPr>
          <a:xfrm>
            <a:off x="7452360" y="5303520"/>
            <a:ext cx="3977640" cy="731520"/>
          </a:xfrm>
          <a:prstGeom prst="rect">
            <a:avLst/>
          </a:prstGeom>
          <a:noFill/>
          <a:ln/>
        </p:spPr>
        <p:txBody>
          <a:bodyPr wrap="square" lIns="0" tIns="0" rIns="0" bIns="0" rtlCol="0" anchor="t"/>
          <a:lstStyle/>
          <a:p>
            <a:pPr indent="0" marL="0">
              <a:buNone/>
            </a:pPr>
            <a:r>
              <a:rPr lang="en-US" sz="1300" dirty="0">
                <a:solidFill>
                  <a:schemeClr val="accent5"/>
                </a:solidFill>
              </a:rPr>
              <a:t>A light blur removes pixel noise before segmentation, while keeping cell edges.</a:t>
            </a:r>
            <a:endParaRPr lang="en-US" sz="13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05  ·  STEP 2</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Step 2 · U-Net segmentation model</a:t>
            </a:r>
            <a:endParaRPr lang="en-US" sz="3200" dirty="0"/>
          </a:p>
        </p:txBody>
      </p:sp>
      <p:sp>
        <p:nvSpPr>
          <p:cNvPr id="4" name="unet card"/>
          <p:cNvSpPr/>
          <p:nvPr/>
        </p:nvSpPr>
        <p:spPr>
          <a:xfrm>
            <a:off x="548640" y="1600200"/>
            <a:ext cx="7223760" cy="4526280"/>
          </a:xfrm>
          <a:prstGeom prst="roundRect">
            <a:avLst>
              <a:gd name="adj" fmla="val 1616"/>
            </a:avLst>
          </a:prstGeom>
          <a:solidFill>
            <a:schemeClr val="bg2"/>
          </a:solidFill>
          <a:ln/>
          <a:effectLst>
            <a:outerShdw sx="100000" sy="100000" kx="0" ky="0" algn="bl" rotWithShape="0" blurRad="127000" dist="25400" dir="5400000">
              <a:srgbClr val="1B1A33">
                <a:alpha val="8000"/>
              </a:srgbClr>
            </a:outerShdw>
          </a:effectLst>
        </p:spPr>
      </p:sp>
      <p:pic>
        <p:nvPicPr>
          <p:cNvPr id="5" name="U-Net diagram" descr="U-Net encoder decoder">    </p:cNvPr>
          <p:cNvPicPr>
            <a:picLocks noChangeAspect="1"/>
          </p:cNvPicPr>
          <p:nvPr/>
        </p:nvPicPr>
        <p:blipFill>
          <a:blip r:embed="rId1"/>
          <a:stretch>
            <a:fillRect/>
          </a:stretch>
        </p:blipFill>
        <p:spPr>
          <a:xfrm>
            <a:off x="685800" y="1930861"/>
            <a:ext cx="6949440" cy="3864958"/>
          </a:xfrm>
          <a:prstGeom prst="rect">
            <a:avLst/>
          </a:prstGeom>
        </p:spPr>
      </p:pic>
      <p:sp>
        <p:nvSpPr>
          <p:cNvPr id="6" name="spec card"/>
          <p:cNvSpPr/>
          <p:nvPr/>
        </p:nvSpPr>
        <p:spPr>
          <a:xfrm>
            <a:off x="8046720" y="1600200"/>
            <a:ext cx="3566160" cy="3063240"/>
          </a:xfrm>
          <a:prstGeom prst="roundRect">
            <a:avLst>
              <a:gd name="adj" fmla="val 2388"/>
            </a:avLst>
          </a:prstGeom>
          <a:solidFill>
            <a:schemeClr val="bg1"/>
          </a:solidFill>
          <a:ln/>
          <a:effectLst>
            <a:outerShdw sx="100000" sy="100000" kx="0" ky="0" algn="bl" rotWithShape="0" blurRad="127000" dist="25400" dir="5400000">
              <a:srgbClr val="1B1A33">
                <a:alpha val="8000"/>
              </a:srgbClr>
            </a:outerShdw>
          </a:effectLst>
        </p:spPr>
      </p:sp>
      <p:sp>
        <p:nvSpPr>
          <p:cNvPr id="7" name="Text 4"/>
          <p:cNvSpPr txBox="1"/>
          <p:nvPr/>
        </p:nvSpPr>
        <p:spPr>
          <a:xfrm>
            <a:off x="8275320" y="1783080"/>
            <a:ext cx="3154680" cy="228600"/>
          </a:xfrm>
          <a:prstGeom prst="rect">
            <a:avLst/>
          </a:prstGeom>
          <a:noFill/>
          <a:ln/>
        </p:spPr>
        <p:txBody>
          <a:bodyPr wrap="square" lIns="0" tIns="0" rIns="0" bIns="0" rtlCol="0" anchor="t"/>
          <a:lstStyle/>
          <a:p>
            <a:pPr indent="0" marL="0">
              <a:buNone/>
            </a:pPr>
            <a:r>
              <a:rPr lang="en-US" sz="1200" b="1" dirty="0">
                <a:solidFill>
                  <a:schemeClr val="accent1"/>
                </a:solidFill>
              </a:rPr>
              <a:t>Architecture</a:t>
            </a:r>
            <a:endParaRPr lang="en-US" sz="1200" dirty="0"/>
          </a:p>
        </p:txBody>
      </p:sp>
      <p:sp>
        <p:nvSpPr>
          <p:cNvPr id="8" name="Text 5"/>
          <p:cNvSpPr txBox="1"/>
          <p:nvPr/>
        </p:nvSpPr>
        <p:spPr>
          <a:xfrm>
            <a:off x="8275320" y="2011680"/>
            <a:ext cx="3154680" cy="292608"/>
          </a:xfrm>
          <a:prstGeom prst="rect">
            <a:avLst/>
          </a:prstGeom>
          <a:noFill/>
          <a:ln/>
        </p:spPr>
        <p:txBody>
          <a:bodyPr wrap="square" lIns="0" tIns="0" rIns="0" bIns="0" rtlCol="0" anchor="t"/>
          <a:lstStyle/>
          <a:p>
            <a:pPr indent="0" marL="0">
              <a:buNone/>
            </a:pPr>
            <a:r>
              <a:rPr lang="en-US" sz="1300" dirty="0">
                <a:solidFill>
                  <a:schemeClr val="tx1"/>
                </a:solidFill>
              </a:rPr>
              <a:t>Encoder–decoder + skip connections</a:t>
            </a:r>
            <a:endParaRPr lang="en-US" sz="1300" dirty="0"/>
          </a:p>
        </p:txBody>
      </p:sp>
      <p:sp>
        <p:nvSpPr>
          <p:cNvPr id="9" name="Text 6"/>
          <p:cNvSpPr txBox="1"/>
          <p:nvPr/>
        </p:nvSpPr>
        <p:spPr>
          <a:xfrm>
            <a:off x="8275320" y="2350008"/>
            <a:ext cx="3154680" cy="228600"/>
          </a:xfrm>
          <a:prstGeom prst="rect">
            <a:avLst/>
          </a:prstGeom>
          <a:noFill/>
          <a:ln/>
        </p:spPr>
        <p:txBody>
          <a:bodyPr wrap="square" lIns="0" tIns="0" rIns="0" bIns="0" rtlCol="0" anchor="t"/>
          <a:lstStyle/>
          <a:p>
            <a:pPr indent="0" marL="0">
              <a:buNone/>
            </a:pPr>
            <a:r>
              <a:rPr lang="en-US" sz="1200" b="1" dirty="0">
                <a:solidFill>
                  <a:schemeClr val="accent1"/>
                </a:solidFill>
              </a:rPr>
              <a:t>Encoder</a:t>
            </a:r>
            <a:endParaRPr lang="en-US" sz="1200" dirty="0"/>
          </a:p>
        </p:txBody>
      </p:sp>
      <p:sp>
        <p:nvSpPr>
          <p:cNvPr id="10" name="Text 7"/>
          <p:cNvSpPr txBox="1"/>
          <p:nvPr/>
        </p:nvSpPr>
        <p:spPr>
          <a:xfrm>
            <a:off x="8275320" y="2578608"/>
            <a:ext cx="3154680" cy="292608"/>
          </a:xfrm>
          <a:prstGeom prst="rect">
            <a:avLst/>
          </a:prstGeom>
          <a:noFill/>
          <a:ln/>
        </p:spPr>
        <p:txBody>
          <a:bodyPr wrap="square" lIns="0" tIns="0" rIns="0" bIns="0" rtlCol="0" anchor="t"/>
          <a:lstStyle/>
          <a:p>
            <a:pPr indent="0" marL="0">
              <a:buNone/>
            </a:pPr>
            <a:r>
              <a:rPr lang="en-US" sz="1300" dirty="0">
                <a:solidFill>
                  <a:schemeClr val="tx1"/>
                </a:solidFill>
              </a:rPr>
              <a:t>ResNet34 pretrained on ImageNet</a:t>
            </a:r>
            <a:endParaRPr lang="en-US" sz="1300" dirty="0"/>
          </a:p>
        </p:txBody>
      </p:sp>
      <p:sp>
        <p:nvSpPr>
          <p:cNvPr id="11" name="Text 8"/>
          <p:cNvSpPr txBox="1"/>
          <p:nvPr/>
        </p:nvSpPr>
        <p:spPr>
          <a:xfrm>
            <a:off x="8275320" y="2916936"/>
            <a:ext cx="3154680" cy="228600"/>
          </a:xfrm>
          <a:prstGeom prst="rect">
            <a:avLst/>
          </a:prstGeom>
          <a:noFill/>
          <a:ln/>
        </p:spPr>
        <p:txBody>
          <a:bodyPr wrap="square" lIns="0" tIns="0" rIns="0" bIns="0" rtlCol="0" anchor="t"/>
          <a:lstStyle/>
          <a:p>
            <a:pPr indent="0" marL="0">
              <a:buNone/>
            </a:pPr>
            <a:r>
              <a:rPr lang="en-US" sz="1200" b="1" dirty="0">
                <a:solidFill>
                  <a:schemeClr val="accent1"/>
                </a:solidFill>
              </a:rPr>
              <a:t>Output</a:t>
            </a:r>
            <a:endParaRPr lang="en-US" sz="1200" dirty="0"/>
          </a:p>
        </p:txBody>
      </p:sp>
      <p:sp>
        <p:nvSpPr>
          <p:cNvPr id="12" name="Text 9"/>
          <p:cNvSpPr txBox="1"/>
          <p:nvPr/>
        </p:nvSpPr>
        <p:spPr>
          <a:xfrm>
            <a:off x="8275320" y="3145536"/>
            <a:ext cx="3154680" cy="292608"/>
          </a:xfrm>
          <a:prstGeom prst="rect">
            <a:avLst/>
          </a:prstGeom>
          <a:noFill/>
          <a:ln/>
        </p:spPr>
        <p:txBody>
          <a:bodyPr wrap="square" lIns="0" tIns="0" rIns="0" bIns="0" rtlCol="0" anchor="t"/>
          <a:lstStyle/>
          <a:p>
            <a:pPr indent="0" marL="0">
              <a:buNone/>
            </a:pPr>
            <a:r>
              <a:rPr lang="en-US" sz="1300" dirty="0">
                <a:solidFill>
                  <a:schemeClr val="tx1"/>
                </a:solidFill>
              </a:rPr>
              <a:t>1 channel + sigmoid = probability per pixel</a:t>
            </a:r>
            <a:endParaRPr lang="en-US" sz="1300" dirty="0"/>
          </a:p>
        </p:txBody>
      </p:sp>
      <p:sp>
        <p:nvSpPr>
          <p:cNvPr id="13" name="Text 10"/>
          <p:cNvSpPr txBox="1"/>
          <p:nvPr/>
        </p:nvSpPr>
        <p:spPr>
          <a:xfrm>
            <a:off x="8275320" y="3483864"/>
            <a:ext cx="3154680" cy="228600"/>
          </a:xfrm>
          <a:prstGeom prst="rect">
            <a:avLst/>
          </a:prstGeom>
          <a:noFill/>
          <a:ln/>
        </p:spPr>
        <p:txBody>
          <a:bodyPr wrap="square" lIns="0" tIns="0" rIns="0" bIns="0" rtlCol="0" anchor="t"/>
          <a:lstStyle/>
          <a:p>
            <a:pPr indent="0" marL="0">
              <a:buNone/>
            </a:pPr>
            <a:r>
              <a:rPr lang="en-US" sz="1200" b="1" dirty="0">
                <a:solidFill>
                  <a:schemeClr val="accent1"/>
                </a:solidFill>
              </a:rPr>
              <a:t>Any image size</a:t>
            </a:r>
            <a:endParaRPr lang="en-US" sz="1200" dirty="0"/>
          </a:p>
        </p:txBody>
      </p:sp>
      <p:sp>
        <p:nvSpPr>
          <p:cNvPr id="14" name="Text 11"/>
          <p:cNvSpPr txBox="1"/>
          <p:nvPr/>
        </p:nvSpPr>
        <p:spPr>
          <a:xfrm>
            <a:off x="8275320" y="3712464"/>
            <a:ext cx="3154680" cy="292608"/>
          </a:xfrm>
          <a:prstGeom prst="rect">
            <a:avLst/>
          </a:prstGeom>
          <a:noFill/>
          <a:ln/>
        </p:spPr>
        <p:txBody>
          <a:bodyPr wrap="square" lIns="0" tIns="0" rIns="0" bIns="0" rtlCol="0" anchor="t"/>
          <a:lstStyle/>
          <a:p>
            <a:pPr indent="0" marL="0">
              <a:buNone/>
            </a:pPr>
            <a:r>
              <a:rPr lang="en-US" sz="1300" dirty="0">
                <a:solidFill>
                  <a:schemeClr val="tx1"/>
                </a:solidFill>
              </a:rPr>
              <a:t>Reflect-pad to a multiple of 32, crop after</a:t>
            </a:r>
            <a:endParaRPr lang="en-US" sz="1300" dirty="0"/>
          </a:p>
        </p:txBody>
      </p:sp>
      <p:sp>
        <p:nvSpPr>
          <p:cNvPr id="15" name="Text 12"/>
          <p:cNvSpPr txBox="1"/>
          <p:nvPr/>
        </p:nvSpPr>
        <p:spPr>
          <a:xfrm>
            <a:off x="8275320" y="4050792"/>
            <a:ext cx="3154680" cy="228600"/>
          </a:xfrm>
          <a:prstGeom prst="rect">
            <a:avLst/>
          </a:prstGeom>
          <a:noFill/>
          <a:ln/>
        </p:spPr>
        <p:txBody>
          <a:bodyPr wrap="square" lIns="0" tIns="0" rIns="0" bIns="0" rtlCol="0" anchor="t"/>
          <a:lstStyle/>
          <a:p>
            <a:pPr indent="0" marL="0">
              <a:buNone/>
            </a:pPr>
            <a:r>
              <a:rPr lang="en-US" sz="1200" b="1" dirty="0">
                <a:solidFill>
                  <a:schemeClr val="accent1"/>
                </a:solidFill>
              </a:rPr>
              <a:t>Big images</a:t>
            </a:r>
            <a:endParaRPr lang="en-US" sz="1200" dirty="0"/>
          </a:p>
        </p:txBody>
      </p:sp>
      <p:sp>
        <p:nvSpPr>
          <p:cNvPr id="16" name="Text 13"/>
          <p:cNvSpPr txBox="1"/>
          <p:nvPr/>
        </p:nvSpPr>
        <p:spPr>
          <a:xfrm>
            <a:off x="8275320" y="4279392"/>
            <a:ext cx="3154680" cy="292608"/>
          </a:xfrm>
          <a:prstGeom prst="rect">
            <a:avLst/>
          </a:prstGeom>
          <a:noFill/>
          <a:ln/>
        </p:spPr>
        <p:txBody>
          <a:bodyPr wrap="square" lIns="0" tIns="0" rIns="0" bIns="0" rtlCol="0" anchor="t"/>
          <a:lstStyle/>
          <a:p>
            <a:pPr indent="0" marL="0">
              <a:buNone/>
            </a:pPr>
            <a:r>
              <a:rPr lang="en-US" sz="1300" dirty="0">
                <a:solidFill>
                  <a:schemeClr val="tx1"/>
                </a:solidFill>
              </a:rPr>
              <a:t>GPU out of memory → 512 px tiles → CPU</a:t>
            </a:r>
            <a:endParaRPr lang="en-US" sz="1300" dirty="0"/>
          </a:p>
        </p:txBody>
      </p:sp>
      <p:sp>
        <p:nvSpPr>
          <p:cNvPr id="17" name="why unet"/>
          <p:cNvSpPr/>
          <p:nvPr/>
        </p:nvSpPr>
        <p:spPr>
          <a:xfrm>
            <a:off x="8046720" y="4846320"/>
            <a:ext cx="3566160" cy="1280160"/>
          </a:xfrm>
          <a:prstGeom prst="roundRect">
            <a:avLst>
              <a:gd name="adj" fmla="val 5714"/>
            </a:avLst>
          </a:prstGeom>
          <a:solidFill>
            <a:schemeClr val="tx2"/>
          </a:solidFill>
          <a:ln/>
          <a:effectLst>
            <a:outerShdw sx="100000" sy="100000" kx="0" ky="0" algn="bl" rotWithShape="0" blurRad="127000" dist="25400" dir="5400000">
              <a:srgbClr val="1B1A33">
                <a:alpha val="8000"/>
              </a:srgbClr>
            </a:outerShdw>
          </a:effectLst>
        </p:spPr>
      </p:sp>
      <p:sp>
        <p:nvSpPr>
          <p:cNvPr id="18" name="Text 15"/>
          <p:cNvSpPr txBox="1"/>
          <p:nvPr/>
        </p:nvSpPr>
        <p:spPr>
          <a:xfrm>
            <a:off x="8275320" y="4846320"/>
            <a:ext cx="3154680" cy="1280160"/>
          </a:xfrm>
          <a:prstGeom prst="rect">
            <a:avLst/>
          </a:prstGeom>
          <a:noFill/>
          <a:ln/>
        </p:spPr>
        <p:txBody>
          <a:bodyPr wrap="square" lIns="0" tIns="0" rIns="0" bIns="0" rtlCol="0" anchor="ctr"/>
          <a:lstStyle/>
          <a:p>
            <a:pPr indent="0" marL="0">
              <a:buNone/>
            </a:pPr>
            <a:r>
              <a:rPr lang="en-US" sz="1300" b="1" dirty="0">
                <a:solidFill>
                  <a:schemeClr val="accent3"/>
                </a:solidFill>
              </a:rPr>
              <a:t>Why U-Net? </a:t>
            </a:r>
            <a:pPr indent="0" marL="0">
              <a:buNone/>
            </a:pPr>
            <a:r>
              <a:rPr lang="en-US" sz="1300" dirty="0">
                <a:solidFill>
                  <a:schemeClr val="bg1"/>
                </a:solidFill>
              </a:rPr>
              <a:t>Built for biomedical images, works with small datasets, and skip connections keep the exact cell borders.</a:t>
            </a:r>
            <a:endParaRPr lang="en-US" sz="13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05  ·  STEP 2</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Training the U-Net</a:t>
            </a:r>
            <a:endParaRPr lang="en-US" sz="3200" dirty="0"/>
          </a:p>
        </p:txBody>
      </p:sp>
      <p:sp>
        <p:nvSpPr>
          <p:cNvPr id="4" name="loss chart card"/>
          <p:cNvSpPr/>
          <p:nvPr/>
        </p:nvSpPr>
        <p:spPr>
          <a:xfrm>
            <a:off x="548640" y="1600200"/>
            <a:ext cx="5440680" cy="3108960"/>
          </a:xfrm>
          <a:prstGeom prst="roundRect">
            <a:avLst>
              <a:gd name="adj" fmla="val 2353"/>
            </a:avLst>
          </a:prstGeom>
          <a:solidFill>
            <a:schemeClr val="bg1"/>
          </a:solidFill>
          <a:ln/>
          <a:effectLst>
            <a:outerShdw sx="100000" sy="100000" kx="0" ky="0" algn="bl" rotWithShape="0" blurRad="127000" dist="25400" dir="5400000">
              <a:srgbClr val="1B1A33">
                <a:alpha val="8000"/>
              </a:srgbClr>
            </a:outerShdw>
          </a:effectLst>
        </p:spPr>
      </p:sp>
      <p:sp>
        <p:nvSpPr>
          <p:cNvPr id="5" name="dice chart card"/>
          <p:cNvSpPr/>
          <p:nvPr/>
        </p:nvSpPr>
        <p:spPr>
          <a:xfrm>
            <a:off x="6172200" y="1600200"/>
            <a:ext cx="5440680" cy="3108960"/>
          </a:xfrm>
          <a:prstGeom prst="roundRect">
            <a:avLst>
              <a:gd name="adj" fmla="val 2353"/>
            </a:avLst>
          </a:prstGeom>
          <a:solidFill>
            <a:schemeClr val="bg1"/>
          </a:solidFill>
          <a:ln/>
          <a:effectLst>
            <a:outerShdw sx="100000" sy="100000" kx="0" ky="0" algn="bl" rotWithShape="0" blurRad="127000" dist="25400" dir="5400000">
              <a:srgbClr val="1B1A33">
                <a:alpha val="8000"/>
              </a:srgbClr>
            </a:outerShdw>
          </a:effectLst>
        </p:spPr>
      </p:sp>
      <p:graphicFrame>
        <p:nvGraphicFramePr>
          <p:cNvPr id="6" name="loss chart" descr=""/>
          <p:cNvGraphicFramePr/>
          <p:nvPr/>
        </p:nvGraphicFramePr>
        <p:xfrm>
          <a:off x="685800" y="1691640"/>
          <a:ext cx="5166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dice chart" descr=""/>
          <p:cNvGraphicFramePr/>
          <p:nvPr/>
        </p:nvGraphicFramePr>
        <p:xfrm>
          <a:off x="6309360" y="1691640"/>
          <a:ext cx="5166360" cy="2926080"/>
        </p:xfrm>
        <a:graphic xmlns:a="http://schemas.openxmlformats.org/drawingml/2006/main">
          <a:graphicData uri="http://schemas.openxmlformats.org/drawingml/2006/chart">
            <c:chart xmlns:c="http://schemas.openxmlformats.org/drawingml/2006/chart" r:id="rId2"/>
          </a:graphicData>
        </a:graphic>
      </p:graphicFrame>
      <p:sp>
        <p:nvSpPr>
          <p:cNvPr id="8" name="config card"/>
          <p:cNvSpPr/>
          <p:nvPr/>
        </p:nvSpPr>
        <p:spPr>
          <a:xfrm>
            <a:off x="548640" y="4892040"/>
            <a:ext cx="5486400" cy="1234440"/>
          </a:xfrm>
          <a:prstGeom prst="roundRect">
            <a:avLst>
              <a:gd name="adj" fmla="val 5926"/>
            </a:avLst>
          </a:prstGeom>
          <a:solidFill>
            <a:schemeClr val="tx2"/>
          </a:solidFill>
          <a:ln/>
          <a:effectLst>
            <a:outerShdw sx="100000" sy="100000" kx="0" ky="0" algn="bl" rotWithShape="0" blurRad="127000" dist="25400" dir="5400000">
              <a:srgbClr val="1B1A33">
                <a:alpha val="8000"/>
              </a:srgbClr>
            </a:outerShdw>
          </a:effectLst>
        </p:spPr>
      </p:sp>
      <p:sp>
        <p:nvSpPr>
          <p:cNvPr id="9" name="Text 5"/>
          <p:cNvSpPr txBox="1"/>
          <p:nvPr/>
        </p:nvSpPr>
        <p:spPr>
          <a:xfrm>
            <a:off x="777240" y="4892040"/>
            <a:ext cx="5074920" cy="1234440"/>
          </a:xfrm>
          <a:prstGeom prst="rect">
            <a:avLst/>
          </a:prstGeom>
          <a:noFill/>
          <a:ln/>
        </p:spPr>
        <p:txBody>
          <a:bodyPr wrap="square" lIns="0" tIns="0" rIns="0" bIns="0" rtlCol="0" anchor="ctr"/>
          <a:lstStyle/>
          <a:p>
            <a:pPr indent="0" marL="0">
              <a:spcAft>
                <a:spcPts val="400"/>
              </a:spcAft>
              <a:buNone/>
            </a:pPr>
            <a:r>
              <a:rPr lang="en-US" sz="1300" b="1" dirty="0">
                <a:solidFill>
                  <a:schemeClr val="bg1"/>
                </a:solidFill>
              </a:rPr>
              <a:t>Loss  L = BCE + (1 − Dice)</a:t>
            </a:r>
            <a:endParaRPr lang="en-US" sz="1300" dirty="0"/>
          </a:p>
          <a:p>
            <a:pPr indent="0" marL="0">
              <a:spcAft>
                <a:spcPts val="400"/>
              </a:spcAft>
              <a:buNone/>
            </a:pPr>
            <a:r>
              <a:rPr lang="en-US" sz="1300" dirty="0">
                <a:solidFill>
                  <a:schemeClr val="bg2"/>
                </a:solidFill>
              </a:rPr>
              <a:t>Adam, lr 1e-4  ·  batch 8  ·  max 50 epochs  ·  early stop after 8 epochs without gain  ·  mixed precision  ·  3.6 s / epoch</a:t>
            </a:r>
            <a:endParaRPr lang="en-US" sz="1300" dirty="0"/>
          </a:p>
        </p:txBody>
      </p:sp>
      <p:sp>
        <p:nvSpPr>
          <p:cNvPr id="10" name="train stat 0"/>
          <p:cNvSpPr/>
          <p:nvPr/>
        </p:nvSpPr>
        <p:spPr>
          <a:xfrm>
            <a:off x="6217920" y="4892040"/>
            <a:ext cx="1737360" cy="1234440"/>
          </a:xfrm>
          <a:prstGeom prst="roundRect">
            <a:avLst>
              <a:gd name="adj" fmla="val 5926"/>
            </a:avLst>
          </a:prstGeom>
          <a:solidFill>
            <a:schemeClr val="bg1"/>
          </a:solidFill>
          <a:ln/>
          <a:effectLst>
            <a:outerShdw sx="100000" sy="100000" kx="0" ky="0" algn="bl" rotWithShape="0" blurRad="127000" dist="25400" dir="5400000">
              <a:srgbClr val="1B1A33">
                <a:alpha val="8000"/>
              </a:srgbClr>
            </a:outerShdw>
          </a:effectLst>
        </p:spPr>
      </p:sp>
      <p:sp>
        <p:nvSpPr>
          <p:cNvPr id="11" name="Text 7"/>
          <p:cNvSpPr txBox="1"/>
          <p:nvPr/>
        </p:nvSpPr>
        <p:spPr>
          <a:xfrm>
            <a:off x="6355080" y="4956048"/>
            <a:ext cx="1463040" cy="594360"/>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20</a:t>
            </a:r>
            <a:endParaRPr lang="en-US" sz="2800" dirty="0"/>
          </a:p>
        </p:txBody>
      </p:sp>
      <p:sp>
        <p:nvSpPr>
          <p:cNvPr id="12" name="Text 8"/>
          <p:cNvSpPr txBox="1"/>
          <p:nvPr/>
        </p:nvSpPr>
        <p:spPr>
          <a:xfrm>
            <a:off x="6355080" y="5550408"/>
            <a:ext cx="1463040" cy="502920"/>
          </a:xfrm>
          <a:prstGeom prst="rect">
            <a:avLst/>
          </a:prstGeom>
          <a:noFill/>
          <a:ln/>
        </p:spPr>
        <p:txBody>
          <a:bodyPr wrap="square" lIns="0" tIns="0" rIns="0" bIns="0" rtlCol="0" anchor="t"/>
          <a:lstStyle/>
          <a:p>
            <a:pPr algn="ctr" indent="0" marL="0">
              <a:buNone/>
            </a:pPr>
            <a:r>
              <a:rPr lang="en-US" sz="1100" dirty="0">
                <a:solidFill>
                  <a:schemeClr val="accent5"/>
                </a:solidFill>
              </a:rPr>
              <a:t>best epoch (stopped at 28)</a:t>
            </a:r>
            <a:endParaRPr lang="en-US" sz="1100" dirty="0"/>
          </a:p>
        </p:txBody>
      </p:sp>
      <p:sp>
        <p:nvSpPr>
          <p:cNvPr id="13" name="train stat 1"/>
          <p:cNvSpPr/>
          <p:nvPr/>
        </p:nvSpPr>
        <p:spPr>
          <a:xfrm>
            <a:off x="8046720" y="4892040"/>
            <a:ext cx="1737360" cy="1234440"/>
          </a:xfrm>
          <a:prstGeom prst="roundRect">
            <a:avLst>
              <a:gd name="adj" fmla="val 5926"/>
            </a:avLst>
          </a:prstGeom>
          <a:solidFill>
            <a:schemeClr val="bg1"/>
          </a:solidFill>
          <a:ln/>
          <a:effectLst>
            <a:outerShdw sx="100000" sy="100000" kx="0" ky="0" algn="bl" rotWithShape="0" blurRad="127000" dist="25400" dir="5400000">
              <a:srgbClr val="1B1A33">
                <a:alpha val="8000"/>
              </a:srgbClr>
            </a:outerShdw>
          </a:effectLst>
        </p:spPr>
      </p:sp>
      <p:sp>
        <p:nvSpPr>
          <p:cNvPr id="14" name="Text 10"/>
          <p:cNvSpPr txBox="1"/>
          <p:nvPr/>
        </p:nvSpPr>
        <p:spPr>
          <a:xfrm>
            <a:off x="8183880" y="4956048"/>
            <a:ext cx="1463040" cy="594360"/>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0.902</a:t>
            </a:r>
            <a:endParaRPr lang="en-US" sz="2800" dirty="0"/>
          </a:p>
        </p:txBody>
      </p:sp>
      <p:sp>
        <p:nvSpPr>
          <p:cNvPr id="15" name="Text 11"/>
          <p:cNvSpPr txBox="1"/>
          <p:nvPr/>
        </p:nvSpPr>
        <p:spPr>
          <a:xfrm>
            <a:off x="8183880" y="5550408"/>
            <a:ext cx="1463040" cy="502920"/>
          </a:xfrm>
          <a:prstGeom prst="rect">
            <a:avLst/>
          </a:prstGeom>
          <a:noFill/>
          <a:ln/>
        </p:spPr>
        <p:txBody>
          <a:bodyPr wrap="square" lIns="0" tIns="0" rIns="0" bIns="0" rtlCol="0" anchor="t"/>
          <a:lstStyle/>
          <a:p>
            <a:pPr algn="ctr" indent="0" marL="0">
              <a:buNone/>
            </a:pPr>
            <a:r>
              <a:rPr lang="en-US" sz="1100" dirty="0">
                <a:solidFill>
                  <a:schemeClr val="accent5"/>
                </a:solidFill>
              </a:rPr>
              <a:t>best validation Dice</a:t>
            </a:r>
            <a:endParaRPr lang="en-US" sz="1100" dirty="0"/>
          </a:p>
        </p:txBody>
      </p:sp>
      <p:sp>
        <p:nvSpPr>
          <p:cNvPr id="16" name="train stat 2"/>
          <p:cNvSpPr/>
          <p:nvPr/>
        </p:nvSpPr>
        <p:spPr>
          <a:xfrm>
            <a:off x="9875520" y="4892040"/>
            <a:ext cx="1737360" cy="1234440"/>
          </a:xfrm>
          <a:prstGeom prst="roundRect">
            <a:avLst>
              <a:gd name="adj" fmla="val 5926"/>
            </a:avLst>
          </a:prstGeom>
          <a:solidFill>
            <a:schemeClr val="bg1"/>
          </a:solidFill>
          <a:ln/>
          <a:effectLst>
            <a:outerShdw sx="100000" sy="100000" kx="0" ky="0" algn="bl" rotWithShape="0" blurRad="127000" dist="25400" dir="5400000">
              <a:srgbClr val="1B1A33">
                <a:alpha val="8000"/>
              </a:srgbClr>
            </a:outerShdw>
          </a:effectLst>
        </p:spPr>
      </p:sp>
      <p:sp>
        <p:nvSpPr>
          <p:cNvPr id="17" name="Text 13"/>
          <p:cNvSpPr txBox="1"/>
          <p:nvPr/>
        </p:nvSpPr>
        <p:spPr>
          <a:xfrm>
            <a:off x="10012680" y="4956048"/>
            <a:ext cx="1463040" cy="594360"/>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0.914</a:t>
            </a:r>
            <a:endParaRPr lang="en-US" sz="2800" dirty="0"/>
          </a:p>
        </p:txBody>
      </p:sp>
      <p:sp>
        <p:nvSpPr>
          <p:cNvPr id="18" name="Text 14"/>
          <p:cNvSpPr txBox="1"/>
          <p:nvPr/>
        </p:nvSpPr>
        <p:spPr>
          <a:xfrm>
            <a:off x="10012680" y="5550408"/>
            <a:ext cx="1463040" cy="502920"/>
          </a:xfrm>
          <a:prstGeom prst="rect">
            <a:avLst/>
          </a:prstGeom>
          <a:noFill/>
          <a:ln/>
        </p:spPr>
        <p:txBody>
          <a:bodyPr wrap="square" lIns="0" tIns="0" rIns="0" bIns="0" rtlCol="0" anchor="t"/>
          <a:lstStyle/>
          <a:p>
            <a:pPr algn="ctr" indent="0" marL="0">
              <a:buNone/>
            </a:pPr>
            <a:r>
              <a:rPr lang="en-US" sz="1100" dirty="0">
                <a:solidFill>
                  <a:schemeClr val="accent5"/>
                </a:solidFill>
              </a:rPr>
              <a:t>Dice on unseen test set</a:t>
            </a:r>
            <a:endParaRPr lang="en-US" sz="11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05  ·  STEPS 3–4</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Steps 3–4 · Mask refinement and watershed</a:t>
            </a:r>
            <a:endParaRPr lang="en-US" sz="3200" dirty="0"/>
          </a:p>
        </p:txBody>
      </p:sp>
      <p:sp>
        <p:nvSpPr>
          <p:cNvPr id="4" name="images card"/>
          <p:cNvSpPr/>
          <p:nvPr/>
        </p:nvSpPr>
        <p:spPr>
          <a:xfrm>
            <a:off x="548640" y="1600200"/>
            <a:ext cx="704088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pic>
        <p:nvPicPr>
          <p:cNvPr id="5" name="Binary mask" descr="C:\Users\admin\AppData\Local\Temp\claude\c--Users-admin-Desktop-Microscopic-Cell-Image\a5404c32-f9e8-462d-b663-48f8cfe84d83\scratchpad\deck\img\02_dense_touching_mask.png">    </p:cNvPr>
          <p:cNvPicPr>
            <a:picLocks noChangeAspect="1"/>
          </p:cNvPicPr>
          <p:nvPr/>
        </p:nvPicPr>
        <p:blipFill>
          <a:blip r:embed="rId1"/>
          <a:stretch>
            <a:fillRect/>
          </a:stretch>
        </p:blipFill>
        <p:spPr>
          <a:xfrm>
            <a:off x="777240" y="1828800"/>
            <a:ext cx="2057400" cy="1645920"/>
          </a:xfrm>
          <a:prstGeom prst="rect">
            <a:avLst/>
          </a:prstGeom>
        </p:spPr>
      </p:pic>
      <p:sp>
        <p:nvSpPr>
          <p:cNvPr id="6" name="Shape 3"/>
          <p:cNvSpPr/>
          <p:nvPr/>
        </p:nvSpPr>
        <p:spPr>
          <a:xfrm>
            <a:off x="2871216" y="2542032"/>
            <a:ext cx="155448" cy="228600"/>
          </a:xfrm>
          <a:prstGeom prst="rightArrow">
            <a:avLst/>
          </a:prstGeom>
          <a:solidFill>
            <a:schemeClr val="accent5"/>
          </a:solidFill>
          <a:ln/>
        </p:spPr>
      </p:sp>
      <p:sp>
        <p:nvSpPr>
          <p:cNvPr id="7" name="Text 4"/>
          <p:cNvSpPr txBox="1"/>
          <p:nvPr/>
        </p:nvSpPr>
        <p:spPr>
          <a:xfrm>
            <a:off x="777240" y="3611880"/>
            <a:ext cx="2057400" cy="320040"/>
          </a:xfrm>
          <a:prstGeom prst="rect">
            <a:avLst/>
          </a:prstGeom>
          <a:noFill/>
          <a:ln/>
        </p:spPr>
        <p:txBody>
          <a:bodyPr wrap="square" lIns="0" tIns="0" rIns="0" bIns="0" rtlCol="0" anchor="t"/>
          <a:lstStyle/>
          <a:p>
            <a:pPr indent="0" marL="0">
              <a:buNone/>
            </a:pPr>
            <a:r>
              <a:rPr lang="en-US" sz="1400" b="1" dirty="0">
                <a:solidFill>
                  <a:schemeClr val="tx1"/>
                </a:solidFill>
              </a:rPr>
              <a:t>Binary mask</a:t>
            </a:r>
            <a:endParaRPr lang="en-US" sz="1400" dirty="0"/>
          </a:p>
        </p:txBody>
      </p:sp>
      <p:sp>
        <p:nvSpPr>
          <p:cNvPr id="8" name="Text 5"/>
          <p:cNvSpPr txBox="1"/>
          <p:nvPr/>
        </p:nvSpPr>
        <p:spPr>
          <a:xfrm>
            <a:off x="777240" y="3931920"/>
            <a:ext cx="2057400" cy="320040"/>
          </a:xfrm>
          <a:prstGeom prst="rect">
            <a:avLst/>
          </a:prstGeom>
          <a:noFill/>
          <a:ln/>
        </p:spPr>
        <p:txBody>
          <a:bodyPr wrap="square" lIns="0" tIns="0" rIns="0" bIns="0" rtlCol="0" anchor="t"/>
          <a:lstStyle/>
          <a:p>
            <a:pPr indent="0" marL="0">
              <a:buNone/>
            </a:pPr>
            <a:r>
              <a:rPr lang="en-US" sz="1200" dirty="0">
                <a:solidFill>
                  <a:schemeClr val="accent5"/>
                </a:solidFill>
              </a:rPr>
              <a:t>touching cells = one blob</a:t>
            </a:r>
            <a:endParaRPr lang="en-US" sz="1200" dirty="0"/>
          </a:p>
        </p:txBody>
      </p:sp>
      <p:pic>
        <p:nvPicPr>
          <p:cNvPr id="9" name="Distance map + seeds" descr="C:\Users\admin\AppData\Local\Temp\claude\c--Users-admin-Desktop-Microscopic-Cell-Image\a5404c32-f9e8-462d-b663-48f8cfe84d83\scratchpad\deck\img\02_dense_touching_distance.png">    </p:cNvPr>
          <p:cNvPicPr>
            <a:picLocks noChangeAspect="1"/>
          </p:cNvPicPr>
          <p:nvPr/>
        </p:nvPicPr>
        <p:blipFill>
          <a:blip r:embed="rId2"/>
          <a:stretch>
            <a:fillRect/>
          </a:stretch>
        </p:blipFill>
        <p:spPr>
          <a:xfrm>
            <a:off x="3063240" y="1828800"/>
            <a:ext cx="2057400" cy="1645920"/>
          </a:xfrm>
          <a:prstGeom prst="rect">
            <a:avLst/>
          </a:prstGeom>
        </p:spPr>
      </p:pic>
      <p:sp>
        <p:nvSpPr>
          <p:cNvPr id="10" name="Shape 6"/>
          <p:cNvSpPr/>
          <p:nvPr/>
        </p:nvSpPr>
        <p:spPr>
          <a:xfrm>
            <a:off x="5157216" y="2542032"/>
            <a:ext cx="155448" cy="228600"/>
          </a:xfrm>
          <a:prstGeom prst="rightArrow">
            <a:avLst/>
          </a:prstGeom>
          <a:solidFill>
            <a:schemeClr val="accent5"/>
          </a:solidFill>
          <a:ln/>
        </p:spPr>
      </p:sp>
      <p:sp>
        <p:nvSpPr>
          <p:cNvPr id="11" name="Text 7"/>
          <p:cNvSpPr txBox="1"/>
          <p:nvPr/>
        </p:nvSpPr>
        <p:spPr>
          <a:xfrm>
            <a:off x="3063240" y="3611880"/>
            <a:ext cx="2057400" cy="320040"/>
          </a:xfrm>
          <a:prstGeom prst="rect">
            <a:avLst/>
          </a:prstGeom>
          <a:noFill/>
          <a:ln/>
        </p:spPr>
        <p:txBody>
          <a:bodyPr wrap="square" lIns="0" tIns="0" rIns="0" bIns="0" rtlCol="0" anchor="t"/>
          <a:lstStyle/>
          <a:p>
            <a:pPr indent="0" marL="0">
              <a:buNone/>
            </a:pPr>
            <a:r>
              <a:rPr lang="en-US" sz="1400" b="1" dirty="0">
                <a:solidFill>
                  <a:schemeClr val="tx1"/>
                </a:solidFill>
              </a:rPr>
              <a:t>Distance map + seeds</a:t>
            </a:r>
            <a:endParaRPr lang="en-US" sz="1400" dirty="0"/>
          </a:p>
        </p:txBody>
      </p:sp>
      <p:sp>
        <p:nvSpPr>
          <p:cNvPr id="12" name="Text 8"/>
          <p:cNvSpPr txBox="1"/>
          <p:nvPr/>
        </p:nvSpPr>
        <p:spPr>
          <a:xfrm>
            <a:off x="3063240" y="3931920"/>
            <a:ext cx="2057400" cy="320040"/>
          </a:xfrm>
          <a:prstGeom prst="rect">
            <a:avLst/>
          </a:prstGeom>
          <a:noFill/>
          <a:ln/>
        </p:spPr>
        <p:txBody>
          <a:bodyPr wrap="square" lIns="0" tIns="0" rIns="0" bIns="0" rtlCol="0" anchor="t"/>
          <a:lstStyle/>
          <a:p>
            <a:pPr indent="0" marL="0">
              <a:buNone/>
            </a:pPr>
            <a:r>
              <a:rPr lang="en-US" sz="1200" dirty="0">
                <a:solidFill>
                  <a:schemeClr val="accent5"/>
                </a:solidFill>
              </a:rPr>
              <a:t>red dot = one seed per cell</a:t>
            </a:r>
            <a:endParaRPr lang="en-US" sz="1200" dirty="0"/>
          </a:p>
        </p:txBody>
      </p:sp>
      <p:pic>
        <p:nvPicPr>
          <p:cNvPr id="13" name="Watershed result" descr="C:\Users\admin\AppData\Local\Temp\claude\c--Users-admin-Desktop-Microscopic-Cell-Image\a5404c32-f9e8-462d-b663-48f8cfe84d83\scratchpad\deck\img\02_dense_touching_overlay.png">    </p:cNvPr>
          <p:cNvPicPr>
            <a:picLocks noChangeAspect="1"/>
          </p:cNvPicPr>
          <p:nvPr/>
        </p:nvPicPr>
        <p:blipFill>
          <a:blip r:embed="rId3"/>
          <a:stretch>
            <a:fillRect/>
          </a:stretch>
        </p:blipFill>
        <p:spPr>
          <a:xfrm>
            <a:off x="5349240" y="1828800"/>
            <a:ext cx="2057400" cy="1645920"/>
          </a:xfrm>
          <a:prstGeom prst="rect">
            <a:avLst/>
          </a:prstGeom>
        </p:spPr>
      </p:pic>
      <p:sp>
        <p:nvSpPr>
          <p:cNvPr id="14" name="Text 9"/>
          <p:cNvSpPr txBox="1"/>
          <p:nvPr/>
        </p:nvSpPr>
        <p:spPr>
          <a:xfrm>
            <a:off x="5349240" y="3611880"/>
            <a:ext cx="2057400" cy="320040"/>
          </a:xfrm>
          <a:prstGeom prst="rect">
            <a:avLst/>
          </a:prstGeom>
          <a:noFill/>
          <a:ln/>
        </p:spPr>
        <p:txBody>
          <a:bodyPr wrap="square" lIns="0" tIns="0" rIns="0" bIns="0" rtlCol="0" anchor="t"/>
          <a:lstStyle/>
          <a:p>
            <a:pPr indent="0" marL="0">
              <a:buNone/>
            </a:pPr>
            <a:r>
              <a:rPr lang="en-US" sz="1400" b="1" dirty="0">
                <a:solidFill>
                  <a:schemeClr val="tx1"/>
                </a:solidFill>
              </a:rPr>
              <a:t>Watershed result</a:t>
            </a:r>
            <a:endParaRPr lang="en-US" sz="1400" dirty="0"/>
          </a:p>
        </p:txBody>
      </p:sp>
      <p:sp>
        <p:nvSpPr>
          <p:cNvPr id="15" name="Text 10"/>
          <p:cNvSpPr txBox="1"/>
          <p:nvPr/>
        </p:nvSpPr>
        <p:spPr>
          <a:xfrm>
            <a:off x="5349240" y="3931920"/>
            <a:ext cx="2057400" cy="320040"/>
          </a:xfrm>
          <a:prstGeom prst="rect">
            <a:avLst/>
          </a:prstGeom>
          <a:noFill/>
          <a:ln/>
        </p:spPr>
        <p:txBody>
          <a:bodyPr wrap="square" lIns="0" tIns="0" rIns="0" bIns="0" rtlCol="0" anchor="t"/>
          <a:lstStyle/>
          <a:p>
            <a:pPr indent="0" marL="0">
              <a:buNone/>
            </a:pPr>
            <a:r>
              <a:rPr lang="en-US" sz="1200" dirty="0">
                <a:solidFill>
                  <a:schemeClr val="accent5"/>
                </a:solidFill>
              </a:rPr>
              <a:t>each seed grows one region</a:t>
            </a:r>
            <a:endParaRPr lang="en-US" sz="1200" dirty="0"/>
          </a:p>
        </p:txBody>
      </p:sp>
      <p:sp>
        <p:nvSpPr>
          <p:cNvPr id="16" name="Text 11"/>
          <p:cNvSpPr txBox="1"/>
          <p:nvPr/>
        </p:nvSpPr>
        <p:spPr>
          <a:xfrm>
            <a:off x="777240" y="4434840"/>
            <a:ext cx="6583680" cy="1554480"/>
          </a:xfrm>
          <a:prstGeom prst="rect">
            <a:avLst/>
          </a:prstGeom>
          <a:noFill/>
          <a:ln/>
        </p:spPr>
        <p:txBody>
          <a:bodyPr wrap="square" lIns="0" tIns="0" rIns="0" bIns="0" rtlCol="0" anchor="t"/>
          <a:lstStyle/>
          <a:p>
            <a:pPr indent="0" marL="0">
              <a:spcAft>
                <a:spcPts val="600"/>
              </a:spcAft>
              <a:buNone/>
            </a:pPr>
            <a:r>
              <a:rPr lang="en-US" sz="1300" b="1" dirty="0">
                <a:solidFill>
                  <a:schemeClr val="accent1"/>
                </a:solidFill>
              </a:rPr>
              <a:t>Mask refinement: </a:t>
            </a:r>
            <a:pPr indent="0" marL="0">
              <a:spcAft>
                <a:spcPts val="600"/>
              </a:spcAft>
              <a:buNone/>
            </a:pPr>
            <a:r>
              <a:rPr lang="en-US" sz="1300" dirty="0">
                <a:solidFill>
                  <a:schemeClr val="tx1"/>
                </a:solidFill>
              </a:rPr>
              <a:t>keep pixels with P &gt; τ  →  opening removes specks  →  closing fills small gaps  →  fill holes  →  drop blobs smaller than min area</a:t>
            </a:r>
            <a:endParaRPr lang="en-US" sz="1300" dirty="0"/>
          </a:p>
          <a:p>
            <a:pPr indent="0" marL="0">
              <a:spcAft>
                <a:spcPts val="600"/>
              </a:spcAft>
              <a:buNone/>
            </a:pPr>
            <a:r>
              <a:rPr lang="en-US" sz="1300" b="1" dirty="0">
                <a:solidFill>
                  <a:schemeClr val="accent1"/>
                </a:solidFill>
              </a:rPr>
              <a:t>Seeds: </a:t>
            </a:r>
            <a:pPr indent="0" marL="0">
              <a:spcAft>
                <a:spcPts val="600"/>
              </a:spcAft>
              <a:buNone/>
            </a:pPr>
            <a:r>
              <a:rPr lang="en-US" sz="1300" dirty="0">
                <a:solidFill>
                  <a:schemeClr val="tx1"/>
                </a:solidFill>
              </a:rPr>
              <a:t>pixels with distance ≥ r × the blob’s own maximum, at least min dist apart; every blob gets at least one seed</a:t>
            </a:r>
            <a:endParaRPr lang="en-US" sz="1300" dirty="0"/>
          </a:p>
        </p:txBody>
      </p:sp>
      <p:sp>
        <p:nvSpPr>
          <p:cNvPr id="17" name="why card"/>
          <p:cNvSpPr/>
          <p:nvPr/>
        </p:nvSpPr>
        <p:spPr>
          <a:xfrm>
            <a:off x="7863840" y="1600200"/>
            <a:ext cx="3749040" cy="4526280"/>
          </a:xfrm>
          <a:prstGeom prst="roundRect">
            <a:avLst>
              <a:gd name="adj" fmla="val 1951"/>
            </a:avLst>
          </a:prstGeom>
          <a:solidFill>
            <a:schemeClr val="tx2"/>
          </a:solidFill>
          <a:ln/>
          <a:effectLst>
            <a:outerShdw sx="100000" sy="100000" kx="0" ky="0" algn="bl" rotWithShape="0" blurRad="127000" dist="25400" dir="5400000">
              <a:srgbClr val="1B1A33">
                <a:alpha val="8000"/>
              </a:srgbClr>
            </a:outerShdw>
          </a:effectLst>
        </p:spPr>
      </p:sp>
      <p:sp>
        <p:nvSpPr>
          <p:cNvPr id="18" name="Text 13"/>
          <p:cNvSpPr txBox="1"/>
          <p:nvPr/>
        </p:nvSpPr>
        <p:spPr>
          <a:xfrm>
            <a:off x="8138160" y="1783080"/>
            <a:ext cx="3200400" cy="685800"/>
          </a:xfrm>
          <a:prstGeom prst="rect">
            <a:avLst/>
          </a:prstGeom>
          <a:noFill/>
          <a:ln/>
        </p:spPr>
        <p:txBody>
          <a:bodyPr wrap="square" lIns="0" tIns="0" rIns="0" bIns="0" rtlCol="0" anchor="t"/>
          <a:lstStyle/>
          <a:p>
            <a:pPr indent="0" marL="0">
              <a:buNone/>
            </a:pPr>
            <a:r>
              <a:rPr lang="en-US" sz="1700" b="1" dirty="0">
                <a:solidFill>
                  <a:schemeClr val="bg1"/>
                </a:solidFill>
              </a:rPr>
              <a:t>Why distance transform + watershed?</a:t>
            </a:r>
            <a:endParaRPr lang="en-US" sz="1700" dirty="0"/>
          </a:p>
        </p:txBody>
      </p:sp>
      <p:sp>
        <p:nvSpPr>
          <p:cNvPr id="19" name="num 1"/>
          <p:cNvSpPr/>
          <p:nvPr/>
        </p:nvSpPr>
        <p:spPr>
          <a:xfrm>
            <a:off x="8138160" y="2606040"/>
            <a:ext cx="411480" cy="411480"/>
          </a:xfrm>
          <a:prstGeom prst="ellipse">
            <a:avLst/>
          </a:prstGeom>
          <a:solidFill>
            <a:schemeClr val="accent3"/>
          </a:solidFill>
          <a:ln/>
        </p:spPr>
      </p:sp>
      <p:sp>
        <p:nvSpPr>
          <p:cNvPr id="20" name="Text 15"/>
          <p:cNvSpPr txBox="1"/>
          <p:nvPr/>
        </p:nvSpPr>
        <p:spPr>
          <a:xfrm>
            <a:off x="8138160" y="26060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6"/>
          <p:cNvSpPr txBox="1"/>
          <p:nvPr/>
        </p:nvSpPr>
        <p:spPr>
          <a:xfrm>
            <a:off x="8686800" y="2578608"/>
            <a:ext cx="2697480" cy="1005840"/>
          </a:xfrm>
          <a:prstGeom prst="rect">
            <a:avLst/>
          </a:prstGeom>
          <a:noFill/>
          <a:ln/>
        </p:spPr>
        <p:txBody>
          <a:bodyPr wrap="square" lIns="0" tIns="0" rIns="0" bIns="0" rtlCol="0" anchor="t"/>
          <a:lstStyle/>
          <a:p>
            <a:pPr indent="0" marL="0">
              <a:buNone/>
            </a:pPr>
            <a:r>
              <a:rPr lang="en-US" sz="1300" dirty="0">
                <a:solidFill>
                  <a:schemeClr val="bg2"/>
                </a:solidFill>
              </a:rPr>
              <a:t>Touching cells merge into one white blob in the binary mask.</a:t>
            </a:r>
            <a:endParaRPr lang="en-US" sz="1300" dirty="0"/>
          </a:p>
        </p:txBody>
      </p:sp>
      <p:sp>
        <p:nvSpPr>
          <p:cNvPr id="22" name="num 2"/>
          <p:cNvSpPr/>
          <p:nvPr/>
        </p:nvSpPr>
        <p:spPr>
          <a:xfrm>
            <a:off x="8138160" y="3749040"/>
            <a:ext cx="411480" cy="411480"/>
          </a:xfrm>
          <a:prstGeom prst="ellipse">
            <a:avLst/>
          </a:prstGeom>
          <a:solidFill>
            <a:schemeClr val="accent3"/>
          </a:solidFill>
          <a:ln/>
        </p:spPr>
      </p:sp>
      <p:sp>
        <p:nvSpPr>
          <p:cNvPr id="23" name="Text 18"/>
          <p:cNvSpPr txBox="1"/>
          <p:nvPr/>
        </p:nvSpPr>
        <p:spPr>
          <a:xfrm>
            <a:off x="8138160" y="37490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19"/>
          <p:cNvSpPr txBox="1"/>
          <p:nvPr/>
        </p:nvSpPr>
        <p:spPr>
          <a:xfrm>
            <a:off x="8686800" y="3721608"/>
            <a:ext cx="2697480" cy="1005840"/>
          </a:xfrm>
          <a:prstGeom prst="rect">
            <a:avLst/>
          </a:prstGeom>
          <a:noFill/>
          <a:ln/>
        </p:spPr>
        <p:txBody>
          <a:bodyPr wrap="square" lIns="0" tIns="0" rIns="0" bIns="0" rtlCol="0" anchor="t"/>
          <a:lstStyle/>
          <a:p>
            <a:pPr indent="0" marL="0">
              <a:buNone/>
            </a:pPr>
            <a:r>
              <a:rPr lang="en-US" sz="1300" dirty="0">
                <a:solidFill>
                  <a:schemeClr val="bg2"/>
                </a:solidFill>
              </a:rPr>
              <a:t>Distance to background is highest at each cell’s centre, so every cell gets its own peak.</a:t>
            </a:r>
            <a:endParaRPr lang="en-US" sz="1300" dirty="0"/>
          </a:p>
        </p:txBody>
      </p:sp>
      <p:sp>
        <p:nvSpPr>
          <p:cNvPr id="25" name="num 3"/>
          <p:cNvSpPr/>
          <p:nvPr/>
        </p:nvSpPr>
        <p:spPr>
          <a:xfrm>
            <a:off x="8138160" y="4892040"/>
            <a:ext cx="411480" cy="411480"/>
          </a:xfrm>
          <a:prstGeom prst="ellipse">
            <a:avLst/>
          </a:prstGeom>
          <a:solidFill>
            <a:schemeClr val="accent3"/>
          </a:solidFill>
          <a:ln/>
        </p:spPr>
      </p:sp>
      <p:sp>
        <p:nvSpPr>
          <p:cNvPr id="26" name="Text 21"/>
          <p:cNvSpPr txBox="1"/>
          <p:nvPr/>
        </p:nvSpPr>
        <p:spPr>
          <a:xfrm>
            <a:off x="8138160" y="48920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 22"/>
          <p:cNvSpPr txBox="1"/>
          <p:nvPr/>
        </p:nvSpPr>
        <p:spPr>
          <a:xfrm>
            <a:off x="8686800" y="4864608"/>
            <a:ext cx="2697480" cy="1005840"/>
          </a:xfrm>
          <a:prstGeom prst="rect">
            <a:avLst/>
          </a:prstGeom>
          <a:noFill/>
          <a:ln/>
        </p:spPr>
        <p:txBody>
          <a:bodyPr wrap="square" lIns="0" tIns="0" rIns="0" bIns="0" rtlCol="0" anchor="t"/>
          <a:lstStyle/>
          <a:p>
            <a:pPr indent="0" marL="0">
              <a:buNone/>
            </a:pPr>
            <a:r>
              <a:rPr lang="en-US" sz="1300" dirty="0">
                <a:solidFill>
                  <a:schemeClr val="bg2"/>
                </a:solidFill>
              </a:rPr>
              <a:t>Watershed floods outward from every peak; where two floods meet, a border is drawn.</a:t>
            </a:r>
            <a:endParaRPr lang="en-US" sz="13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05  ·  STEP 5</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Step 5 · Counting, measuring and exporting</a:t>
            </a:r>
            <a:endParaRPr lang="en-US" sz="3200" dirty="0"/>
          </a:p>
        </p:txBody>
      </p:sp>
      <p:sp>
        <p:nvSpPr>
          <p:cNvPr id="4" name="hist card"/>
          <p:cNvSpPr/>
          <p:nvPr/>
        </p:nvSpPr>
        <p:spPr>
          <a:xfrm>
            <a:off x="548640" y="1600200"/>
            <a:ext cx="484632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pic>
        <p:nvPicPr>
          <p:cNvPr id="5" name="area histogram" descr="C:\Users\admin\AppData\Local\Temp\claude\c--Users-admin-Desktop-Microscopic-Cell-Image\a5404c32-f9e8-462d-b663-48f8cfe84d83\scratchpad\deck\img\hist.png">    </p:cNvPr>
          <p:cNvPicPr>
            <a:picLocks noChangeAspect="1"/>
          </p:cNvPicPr>
          <p:nvPr/>
        </p:nvPicPr>
        <p:blipFill>
          <a:blip r:embed="rId1"/>
          <a:stretch>
            <a:fillRect/>
          </a:stretch>
        </p:blipFill>
        <p:spPr>
          <a:xfrm>
            <a:off x="685800" y="1752309"/>
            <a:ext cx="4572000" cy="3170501"/>
          </a:xfrm>
          <a:prstGeom prst="rect">
            <a:avLst/>
          </a:prstGeom>
        </p:spPr>
      </p:pic>
      <p:sp>
        <p:nvSpPr>
          <p:cNvPr id="6" name="Text 3"/>
          <p:cNvSpPr txBox="1"/>
          <p:nvPr/>
        </p:nvSpPr>
        <p:spPr>
          <a:xfrm>
            <a:off x="777240" y="5074920"/>
            <a:ext cx="1371600" cy="54864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52</a:t>
            </a:r>
            <a:endParaRPr lang="en-US" sz="2600" dirty="0"/>
          </a:p>
        </p:txBody>
      </p:sp>
      <p:sp>
        <p:nvSpPr>
          <p:cNvPr id="7" name="Text 4"/>
          <p:cNvSpPr txBox="1"/>
          <p:nvPr/>
        </p:nvSpPr>
        <p:spPr>
          <a:xfrm>
            <a:off x="777240" y="5596128"/>
            <a:ext cx="1371600" cy="320040"/>
          </a:xfrm>
          <a:prstGeom prst="rect">
            <a:avLst/>
          </a:prstGeom>
          <a:noFill/>
          <a:ln/>
        </p:spPr>
        <p:txBody>
          <a:bodyPr wrap="square" lIns="0" tIns="0" rIns="0" bIns="0" rtlCol="0" anchor="t"/>
          <a:lstStyle/>
          <a:p>
            <a:pPr algn="ctr" indent="0" marL="0">
              <a:buNone/>
            </a:pPr>
            <a:r>
              <a:rPr lang="en-US" sz="1200" dirty="0">
                <a:solidFill>
                  <a:schemeClr val="accent5"/>
                </a:solidFill>
              </a:rPr>
              <a:t>cells</a:t>
            </a:r>
            <a:endParaRPr lang="en-US" sz="1200" dirty="0"/>
          </a:p>
        </p:txBody>
      </p:sp>
      <p:sp>
        <p:nvSpPr>
          <p:cNvPr id="8" name="Text 5"/>
          <p:cNvSpPr txBox="1"/>
          <p:nvPr/>
        </p:nvSpPr>
        <p:spPr>
          <a:xfrm>
            <a:off x="2286000" y="5074920"/>
            <a:ext cx="1371600" cy="54864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649.8</a:t>
            </a:r>
            <a:endParaRPr lang="en-US" sz="2600" dirty="0"/>
          </a:p>
        </p:txBody>
      </p:sp>
      <p:sp>
        <p:nvSpPr>
          <p:cNvPr id="9" name="Text 6"/>
          <p:cNvSpPr txBox="1"/>
          <p:nvPr/>
        </p:nvSpPr>
        <p:spPr>
          <a:xfrm>
            <a:off x="2286000" y="5596128"/>
            <a:ext cx="1371600" cy="320040"/>
          </a:xfrm>
          <a:prstGeom prst="rect">
            <a:avLst/>
          </a:prstGeom>
          <a:noFill/>
          <a:ln/>
        </p:spPr>
        <p:txBody>
          <a:bodyPr wrap="square" lIns="0" tIns="0" rIns="0" bIns="0" rtlCol="0" anchor="t"/>
          <a:lstStyle/>
          <a:p>
            <a:pPr algn="ctr" indent="0" marL="0">
              <a:buNone/>
            </a:pPr>
            <a:r>
              <a:rPr lang="en-US" sz="1200" dirty="0">
                <a:solidFill>
                  <a:schemeClr val="accent5"/>
                </a:solidFill>
              </a:rPr>
              <a:t>mean px²</a:t>
            </a:r>
            <a:endParaRPr lang="en-US" sz="1200" dirty="0"/>
          </a:p>
        </p:txBody>
      </p:sp>
      <p:sp>
        <p:nvSpPr>
          <p:cNvPr id="10" name="Text 7"/>
          <p:cNvSpPr txBox="1"/>
          <p:nvPr/>
        </p:nvSpPr>
        <p:spPr>
          <a:xfrm>
            <a:off x="3794760" y="5074920"/>
            <a:ext cx="1371600" cy="54864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513</a:t>
            </a:r>
            <a:endParaRPr lang="en-US" sz="2600" dirty="0"/>
          </a:p>
        </p:txBody>
      </p:sp>
      <p:sp>
        <p:nvSpPr>
          <p:cNvPr id="11" name="Text 8"/>
          <p:cNvSpPr txBox="1"/>
          <p:nvPr/>
        </p:nvSpPr>
        <p:spPr>
          <a:xfrm>
            <a:off x="3794760" y="5596128"/>
            <a:ext cx="1371600" cy="320040"/>
          </a:xfrm>
          <a:prstGeom prst="rect">
            <a:avLst/>
          </a:prstGeom>
          <a:noFill/>
          <a:ln/>
        </p:spPr>
        <p:txBody>
          <a:bodyPr wrap="square" lIns="0" tIns="0" rIns="0" bIns="0" rtlCol="0" anchor="t"/>
          <a:lstStyle/>
          <a:p>
            <a:pPr algn="ctr" indent="0" marL="0">
              <a:buNone/>
            </a:pPr>
            <a:r>
              <a:rPr lang="en-US" sz="1200" dirty="0">
                <a:solidFill>
                  <a:schemeClr val="accent5"/>
                </a:solidFill>
              </a:rPr>
              <a:t>median px²</a:t>
            </a:r>
            <a:endParaRPr lang="en-US" sz="1200" dirty="0"/>
          </a:p>
        </p:txBody>
      </p:sp>
      <p:sp>
        <p:nvSpPr>
          <p:cNvPr id="12" name="Text 9"/>
          <p:cNvSpPr txBox="1"/>
          <p:nvPr/>
        </p:nvSpPr>
        <p:spPr>
          <a:xfrm>
            <a:off x="5669280" y="1600200"/>
            <a:ext cx="5943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PER-CELL CSV EXPORT  (first rows, real output)</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0" y="1965960"/>
          <a:ext cx="5943600" cy="914400"/>
        </p:xfrm>
        <a:graphic>
          <a:graphicData uri="http://schemas.openxmlformats.org/drawingml/2006/table">
            <a:tbl>
              <a:tblPr/>
              <a:tblGrid>
                <a:gridCol w="548640"/>
                <a:gridCol w="914400"/>
                <a:gridCol w="1143000"/>
                <a:gridCol w="1143000"/>
                <a:gridCol w="2194560"/>
              </a:tblGrid>
              <a:tr h="347472">
                <a:tc>
                  <a:txBody>
                    <a:bodyPr/>
                    <a:lstStyle/>
                    <a:p>
                      <a:pPr indent="0" marL="0">
                        <a:buNone/>
                      </a:pPr>
                      <a:r>
                        <a:rPr lang="en-US" sz="1200" b="1" dirty="0">
                          <a:solidFill>
                            <a:schemeClr val="bg1"/>
                          </a:solidFill>
                        </a:rPr>
                        <a:t>id</a:t>
                      </a:r>
                      <a:endParaRPr lang="en-US" sz="1200" dirty="0"/>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area_px</a:t>
                      </a:r>
                      <a:endParaRPr lang="en-US" sz="1200" dirty="0"/>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centroid_y</a:t>
                      </a:r>
                      <a:endParaRPr lang="en-US" sz="1200" dirty="0"/>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centroid_x</a:t>
                      </a:r>
                      <a:endParaRPr lang="en-US" sz="1200" dirty="0"/>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bbox (r0, c0, r1, c1)</a:t>
                      </a:r>
                      <a:endParaRPr lang="en-US" sz="1200" dirty="0"/>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r>
              <a:tr h="347472">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1</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113</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4.34</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62.00</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0, 56, 12, 71</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347472">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2</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528</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8.34</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91.22</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0, 71, 21, 108</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r h="347472">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3</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143</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4.48</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177.52</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0, 169, 11, 186</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347472">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4</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206</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11.12</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201.41</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4, 192, 23, 209</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r h="347472">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5</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129</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4.06</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230.75</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0, 224, 10, 239</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347472">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latin typeface="Consolas" charset="0"/>
                        <a:ea typeface="Consolas" charset="0"/>
                        <a:cs typeface="Consolas" charset="0"/>
                      </a:endParaRPr>
                    </a:p>
                  </a:txBody>
                  <a:tcPr marL="73152" marR="73152"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bl>
          </a:graphicData>
        </a:graphic>
      </p:graphicFrame>
      <p:sp>
        <p:nvSpPr>
          <p:cNvPr id="14" name="point 0"/>
          <p:cNvSpPr/>
          <p:nvPr/>
        </p:nvSpPr>
        <p:spPr>
          <a:xfrm>
            <a:off x="5669280" y="4663440"/>
            <a:ext cx="2926080" cy="1463040"/>
          </a:xfrm>
          <a:prstGeom prst="roundRect">
            <a:avLst>
              <a:gd name="adj" fmla="val 5000"/>
            </a:avLst>
          </a:prstGeom>
          <a:solidFill>
            <a:schemeClr val="bg1"/>
          </a:solidFill>
          <a:ln/>
          <a:effectLst>
            <a:outerShdw sx="100000" sy="100000" kx="0" ky="0" algn="bl" rotWithShape="0" blurRad="127000" dist="25400" dir="5400000">
              <a:srgbClr val="1B1A33">
                <a:alpha val="8000"/>
              </a:srgbClr>
            </a:outerShdw>
          </a:effectLst>
        </p:spPr>
      </p:sp>
      <p:sp>
        <p:nvSpPr>
          <p:cNvPr id="15" name="icon LuListOrdered"/>
          <p:cNvSpPr/>
          <p:nvPr/>
        </p:nvSpPr>
        <p:spPr>
          <a:xfrm>
            <a:off x="5852160" y="4800600"/>
            <a:ext cx="457200" cy="457200"/>
          </a:xfrm>
          <a:prstGeom prst="ellipse">
            <a:avLst/>
          </a:prstGeom>
          <a:solidFill>
            <a:schemeClr val="accent2"/>
          </a:solidFill>
          <a:ln/>
        </p:spPr>
      </p:sp>
      <p:pic>
        <p:nvPicPr>
          <p:cNvPr id="16" name="LuListOrdered" descr="preencoded.png">    </p:cNvPr>
          <p:cNvPicPr>
            <a:picLocks noChangeAspect="1"/>
          </p:cNvPicPr>
          <p:nvPr/>
        </p:nvPicPr>
        <p:blipFill>
          <a:blip r:embed="rId2"/>
          <a:stretch>
            <a:fillRect/>
          </a:stretch>
        </p:blipFill>
        <p:spPr>
          <a:xfrm>
            <a:off x="5966460" y="4914900"/>
            <a:ext cx="228600" cy="228600"/>
          </a:xfrm>
          <a:prstGeom prst="rect">
            <a:avLst/>
          </a:prstGeom>
        </p:spPr>
      </p:pic>
      <p:sp>
        <p:nvSpPr>
          <p:cNvPr id="17" name="Text 12"/>
          <p:cNvSpPr txBox="1"/>
          <p:nvPr/>
        </p:nvSpPr>
        <p:spPr>
          <a:xfrm>
            <a:off x="6400800" y="4800600"/>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Reading-order numbering</a:t>
            </a:r>
            <a:endParaRPr lang="en-US" sz="1400" dirty="0"/>
          </a:p>
        </p:txBody>
      </p:sp>
      <p:sp>
        <p:nvSpPr>
          <p:cNvPr id="18" name="Text 13"/>
          <p:cNvSpPr txBox="1"/>
          <p:nvPr/>
        </p:nvSpPr>
        <p:spPr>
          <a:xfrm>
            <a:off x="5852160" y="5321808"/>
            <a:ext cx="2606040" cy="777240"/>
          </a:xfrm>
          <a:prstGeom prst="rect">
            <a:avLst/>
          </a:prstGeom>
          <a:noFill/>
          <a:ln/>
        </p:spPr>
        <p:txBody>
          <a:bodyPr wrap="square" lIns="0" tIns="0" rIns="0" bIns="0" rtlCol="0" anchor="t"/>
          <a:lstStyle/>
          <a:p>
            <a:pPr indent="0" marL="0">
              <a:buNone/>
            </a:pPr>
            <a:r>
              <a:rPr lang="en-US" sz="1200" dirty="0">
                <a:solidFill>
                  <a:schemeClr val="accent5"/>
                </a:solidFill>
              </a:rPr>
              <a:t>Top-left to bottom-right, so number 7 on the image is row 7 in the CSV.</a:t>
            </a:r>
            <a:endParaRPr lang="en-US" sz="1200" dirty="0"/>
          </a:p>
        </p:txBody>
      </p:sp>
      <p:sp>
        <p:nvSpPr>
          <p:cNvPr id="19" name="point 1"/>
          <p:cNvSpPr/>
          <p:nvPr/>
        </p:nvSpPr>
        <p:spPr>
          <a:xfrm>
            <a:off x="8686800" y="4663440"/>
            <a:ext cx="2926080" cy="1463040"/>
          </a:xfrm>
          <a:prstGeom prst="roundRect">
            <a:avLst>
              <a:gd name="adj" fmla="val 5000"/>
            </a:avLst>
          </a:prstGeom>
          <a:solidFill>
            <a:schemeClr val="bg1"/>
          </a:solidFill>
          <a:ln/>
          <a:effectLst>
            <a:outerShdw sx="100000" sy="100000" kx="0" ky="0" algn="bl" rotWithShape="0" blurRad="127000" dist="25400" dir="5400000">
              <a:srgbClr val="1B1A33">
                <a:alpha val="8000"/>
              </a:srgbClr>
            </a:outerShdw>
          </a:effectLst>
        </p:spPr>
      </p:sp>
      <p:sp>
        <p:nvSpPr>
          <p:cNvPr id="20" name="icon LuRuler"/>
          <p:cNvSpPr/>
          <p:nvPr/>
        </p:nvSpPr>
        <p:spPr>
          <a:xfrm>
            <a:off x="8869680" y="4800600"/>
            <a:ext cx="457200" cy="457200"/>
          </a:xfrm>
          <a:prstGeom prst="ellipse">
            <a:avLst/>
          </a:prstGeom>
          <a:solidFill>
            <a:schemeClr val="accent2"/>
          </a:solidFill>
          <a:ln/>
        </p:spPr>
      </p:sp>
      <p:pic>
        <p:nvPicPr>
          <p:cNvPr id="21" name="LuRuler" descr="preencoded.png">    </p:cNvPr>
          <p:cNvPicPr>
            <a:picLocks noChangeAspect="1"/>
          </p:cNvPicPr>
          <p:nvPr/>
        </p:nvPicPr>
        <p:blipFill>
          <a:blip r:embed="rId3"/>
          <a:stretch>
            <a:fillRect/>
          </a:stretch>
        </p:blipFill>
        <p:spPr>
          <a:xfrm>
            <a:off x="8983980" y="4914900"/>
            <a:ext cx="228600" cy="228600"/>
          </a:xfrm>
          <a:prstGeom prst="rect">
            <a:avLst/>
          </a:prstGeom>
        </p:spPr>
      </p:pic>
      <p:sp>
        <p:nvSpPr>
          <p:cNvPr id="22" name="Text 16"/>
          <p:cNvSpPr txBox="1"/>
          <p:nvPr/>
        </p:nvSpPr>
        <p:spPr>
          <a:xfrm>
            <a:off x="9418320" y="4800600"/>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Measured with regionprops</a:t>
            </a:r>
            <a:endParaRPr lang="en-US" sz="1400" dirty="0"/>
          </a:p>
        </p:txBody>
      </p:sp>
      <p:sp>
        <p:nvSpPr>
          <p:cNvPr id="23" name="Text 17"/>
          <p:cNvSpPr txBox="1"/>
          <p:nvPr/>
        </p:nvSpPr>
        <p:spPr>
          <a:xfrm>
            <a:off x="8869680" y="5321808"/>
            <a:ext cx="2606040" cy="777240"/>
          </a:xfrm>
          <a:prstGeom prst="rect">
            <a:avLst/>
          </a:prstGeom>
          <a:noFill/>
          <a:ln/>
        </p:spPr>
        <p:txBody>
          <a:bodyPr wrap="square" lIns="0" tIns="0" rIns="0" bIns="0" rtlCol="0" anchor="t"/>
          <a:lstStyle/>
          <a:p>
            <a:pPr indent="0" marL="0">
              <a:buNone/>
            </a:pPr>
            <a:r>
              <a:rPr lang="en-US" sz="1200" dirty="0">
                <a:solidFill>
                  <a:schemeClr val="accent5"/>
                </a:solidFill>
              </a:rPr>
              <a:t>Area, centroid and bounding box for every cell; tiny fragments under min area dropped.</a:t>
            </a:r>
            <a:endParaRPr lang="en-US" sz="12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06  ·  PARAMETERS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Parameters and what they control</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377440"/>
                <a:gridCol w="1371600"/>
                <a:gridCol w="1463040"/>
                <a:gridCol w="1371600"/>
                <a:gridCol w="4480560"/>
              </a:tblGrid>
              <a:tr h="475488">
                <a:tc>
                  <a:txBody>
                    <a:bodyPr/>
                    <a:lstStyle/>
                    <a:p>
                      <a:pPr indent="0" marL="0">
                        <a:buNone/>
                      </a:pPr>
                      <a:r>
                        <a:rPr lang="en-US" sz="1300" b="1" dirty="0">
                          <a:solidFill>
                            <a:schemeClr val="bg1"/>
                          </a:solidFill>
                        </a:rPr>
                        <a:t>Parameter</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Stage</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Range</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Default</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Effect when you change it</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r>
              <a:tr h="475488">
                <a:tc>
                  <a:txBody>
                    <a:bodyPr/>
                    <a:lstStyle/>
                    <a:p>
                      <a:pPr indent="0" marL="0">
                        <a:buNone/>
                      </a:pPr>
                      <a:r>
                        <a:rPr lang="en-US" sz="1300" b="1" dirty="0">
                          <a:solidFill>
                            <a:schemeClr val="tx1"/>
                          </a:solidFill>
                        </a:rPr>
                        <a:t>Probability threshold τ</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Mask</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0.05 – 0.95</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0.5</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Lower → faint cells kept, neighbours may merge. Higher → cells shrink or vanish</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Morphology kernel</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Mask</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 15</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3"/>
                          </a:solidFill>
                        </a:rPr>
                        <a:t>3  (was 5)</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Bigger closes the gaps between touching cells → fewer splits</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Peak ratio r</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Watershed</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0.1 – 0.9</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0.4</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Lower → more seeds → clumps split into more cells</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Min peak distance</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Watershed</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 50 px</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About the radius of the smallest cell; lower splits more</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Min cell area</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Mask + count</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 1000 px²</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3"/>
                          </a:solidFill>
                        </a:rPr>
                        <a:t>20  (was 50)</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Objects smaller than this are treated as debris</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CLAHE clip limit</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Preprocess</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0.5 – 8</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2.0</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Higher → stronger local contrast for dim images</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Blur kernel</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Preprocess</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odd size</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  (fixed)</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Light noise removal; kept the same as in training</a:t>
                      </a:r>
                      <a:endParaRPr lang="en-US" sz="1300" dirty="0"/>
                    </a:p>
                  </a:txBody>
                  <a:tcPr marL="91440" marR="91440"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bl>
          </a:graphicData>
        </a:graphic>
      </p:graphicFrame>
      <p:sp>
        <p:nvSpPr>
          <p:cNvPr id="5" name="presets"/>
          <p:cNvSpPr/>
          <p:nvPr/>
        </p:nvSpPr>
        <p:spPr>
          <a:xfrm>
            <a:off x="548640" y="5532120"/>
            <a:ext cx="11064240" cy="594360"/>
          </a:xfrm>
          <a:prstGeom prst="roundRect">
            <a:avLst>
              <a:gd name="adj" fmla="val 12308"/>
            </a:avLst>
          </a:prstGeom>
          <a:solidFill>
            <a:schemeClr val="tx2"/>
          </a:solidFill>
          <a:ln/>
          <a:effectLst>
            <a:outerShdw sx="100000" sy="100000" kx="0" ky="0" algn="bl" rotWithShape="0" blurRad="127000" dist="25400" dir="5400000">
              <a:srgbClr val="1B1A33">
                <a:alpha val="8000"/>
              </a:srgbClr>
            </a:outerShdw>
          </a:effectLst>
        </p:spPr>
      </p:sp>
      <p:sp>
        <p:nvSpPr>
          <p:cNvPr id="6" name="Text 3"/>
          <p:cNvSpPr txBox="1"/>
          <p:nvPr/>
        </p:nvSpPr>
        <p:spPr>
          <a:xfrm>
            <a:off x="777240" y="5532120"/>
            <a:ext cx="10607040" cy="594360"/>
          </a:xfrm>
          <a:prstGeom prst="rect">
            <a:avLst/>
          </a:prstGeom>
          <a:noFill/>
          <a:ln/>
        </p:spPr>
        <p:txBody>
          <a:bodyPr wrap="square" lIns="0" tIns="0" rIns="0" bIns="0" rtlCol="0" anchor="ctr"/>
          <a:lstStyle/>
          <a:p>
            <a:pPr indent="0" marL="0">
              <a:buNone/>
            </a:pPr>
            <a:r>
              <a:rPr lang="en-US" sz="1400" b="1" dirty="0">
                <a:solidFill>
                  <a:schemeClr val="accent3"/>
                </a:solidFill>
              </a:rPr>
              <a:t>Presets in the app:  </a:t>
            </a:r>
            <a:pPr indent="0" marL="0">
              <a:buNone/>
            </a:pPr>
            <a:r>
              <a:rPr lang="en-US" sz="1400" dirty="0">
                <a:solidFill>
                  <a:schemeClr val="bg1"/>
                </a:solidFill>
              </a:rPr>
              <a:t>Balanced (default, tuned)  ·  Faint / low contrast  ·  Dense, touching clumps  ·  Sparse, large cells  ·  Noisy / debris</a:t>
            </a:r>
            <a:endParaRPr lang="en-US" sz="14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06  ·  PARAMETER TUNING</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Parameter tuning: four iteration rounds</a:t>
            </a:r>
            <a:endParaRPr lang="en-US" sz="3200" dirty="0"/>
          </a:p>
        </p:txBody>
      </p:sp>
      <p:sp>
        <p:nvSpPr>
          <p:cNvPr id="4" name="round 22"/>
          <p:cNvSpPr/>
          <p:nvPr/>
        </p:nvSpPr>
        <p:spPr>
          <a:xfrm>
            <a:off x="548640" y="1600200"/>
            <a:ext cx="5760720" cy="1005840"/>
          </a:xfrm>
          <a:prstGeom prst="roundRect">
            <a:avLst>
              <a:gd name="adj" fmla="val 7273"/>
            </a:avLst>
          </a:prstGeom>
          <a:solidFill>
            <a:schemeClr val="bg1"/>
          </a:solidFill>
          <a:ln/>
          <a:effectLst>
            <a:outerShdw sx="100000" sy="100000" kx="0" ky="0" algn="bl" rotWithShape="0" blurRad="127000" dist="25400" dir="5400000">
              <a:srgbClr val="1B1A33">
                <a:alpha val="8000"/>
              </a:srgbClr>
            </a:outerShdw>
          </a:effectLst>
        </p:spPr>
      </p:sp>
      <p:sp>
        <p:nvSpPr>
          <p:cNvPr id="5" name="num R22"/>
          <p:cNvSpPr/>
          <p:nvPr/>
        </p:nvSpPr>
        <p:spPr>
          <a:xfrm>
            <a:off x="731520" y="1783080"/>
            <a:ext cx="640080" cy="640080"/>
          </a:xfrm>
          <a:prstGeom prst="ellipse">
            <a:avLst/>
          </a:prstGeom>
          <a:solidFill>
            <a:schemeClr val="accent2"/>
          </a:solidFill>
          <a:ln/>
        </p:spPr>
      </p:sp>
      <p:sp>
        <p:nvSpPr>
          <p:cNvPr id="6" name="Text 4"/>
          <p:cNvSpPr txBox="1"/>
          <p:nvPr/>
        </p:nvSpPr>
        <p:spPr>
          <a:xfrm>
            <a:off x="731520" y="1783080"/>
            <a:ext cx="640080" cy="640080"/>
          </a:xfrm>
          <a:prstGeom prst="rect">
            <a:avLst/>
          </a:prstGeom>
          <a:noFill/>
          <a:ln/>
        </p:spPr>
        <p:txBody>
          <a:bodyPr wrap="square" lIns="0" tIns="0" rIns="0" bIns="0" rtlCol="0" anchor="ctr"/>
          <a:lstStyle/>
          <a:p>
            <a:pPr algn="ctr" indent="0" marL="0">
              <a:buNone/>
            </a:pPr>
            <a:r>
              <a:rPr lang="en-US" sz="1300" b="1" dirty="0">
                <a:solidFill>
                  <a:schemeClr val="bg1"/>
                </a:solidFill>
              </a:rPr>
              <a:t>R22</a:t>
            </a:r>
            <a:endParaRPr lang="en-US" sz="1300" dirty="0"/>
          </a:p>
        </p:txBody>
      </p:sp>
      <p:sp>
        <p:nvSpPr>
          <p:cNvPr id="7" name="Text 5"/>
          <p:cNvSpPr txBox="1"/>
          <p:nvPr/>
        </p:nvSpPr>
        <p:spPr>
          <a:xfrm>
            <a:off x="1554480" y="1709928"/>
            <a:ext cx="2194560" cy="365760"/>
          </a:xfrm>
          <a:prstGeom prst="rect">
            <a:avLst/>
          </a:prstGeom>
          <a:noFill/>
          <a:ln/>
        </p:spPr>
        <p:txBody>
          <a:bodyPr wrap="square" lIns="0" tIns="0" rIns="0" bIns="0" rtlCol="0" anchor="t"/>
          <a:lstStyle/>
          <a:p>
            <a:pPr indent="0" marL="0">
              <a:buNone/>
            </a:pPr>
            <a:r>
              <a:rPr lang="en-US" sz="1500" b="1" dirty="0">
                <a:solidFill>
                  <a:schemeClr val="tx1"/>
                </a:solidFill>
              </a:rPr>
              <a:t>Small nuclei lost</a:t>
            </a:r>
            <a:endParaRPr lang="en-US" sz="1500" dirty="0"/>
          </a:p>
        </p:txBody>
      </p:sp>
      <p:sp>
        <p:nvSpPr>
          <p:cNvPr id="8" name="Text 6"/>
          <p:cNvSpPr txBox="1"/>
          <p:nvPr/>
        </p:nvSpPr>
        <p:spPr>
          <a:xfrm>
            <a:off x="1554480" y="2103120"/>
            <a:ext cx="2194560" cy="365760"/>
          </a:xfrm>
          <a:prstGeom prst="rect">
            <a:avLst/>
          </a:prstGeom>
          <a:noFill/>
          <a:ln/>
        </p:spPr>
        <p:txBody>
          <a:bodyPr wrap="square" lIns="0" tIns="0" rIns="0" bIns="0" rtlCol="0" anchor="t"/>
          <a:lstStyle/>
          <a:p>
            <a:pPr indent="0" marL="0">
              <a:buNone/>
            </a:pPr>
            <a:r>
              <a:rPr lang="en-US" sz="1300" b="1" dirty="0">
                <a:solidFill>
                  <a:schemeClr val="accent2"/>
                </a:solidFill>
              </a:rPr>
              <a:t>min area 50 → 20</a:t>
            </a:r>
            <a:endParaRPr lang="en-US" sz="1300" dirty="0"/>
          </a:p>
        </p:txBody>
      </p:sp>
      <p:sp>
        <p:nvSpPr>
          <p:cNvPr id="9" name="Text 7"/>
          <p:cNvSpPr txBox="1"/>
          <p:nvPr/>
        </p:nvSpPr>
        <p:spPr>
          <a:xfrm>
            <a:off x="3840480" y="1709928"/>
            <a:ext cx="2331720" cy="804672"/>
          </a:xfrm>
          <a:prstGeom prst="rect">
            <a:avLst/>
          </a:prstGeom>
          <a:noFill/>
          <a:ln/>
        </p:spPr>
        <p:txBody>
          <a:bodyPr wrap="square" lIns="0" tIns="0" rIns="0" bIns="0" rtlCol="0" anchor="ctr"/>
          <a:lstStyle/>
          <a:p>
            <a:pPr indent="0" marL="0">
              <a:buNone/>
            </a:pPr>
            <a:r>
              <a:rPr lang="en-US" sz="1300" dirty="0">
                <a:solidFill>
                  <a:schemeClr val="accent5"/>
                </a:solidFill>
              </a:rPr>
              <a:t>Sparse sample: 8 → 11 of 11 cells</a:t>
            </a:r>
            <a:endParaRPr lang="en-US" sz="1300" dirty="0"/>
          </a:p>
        </p:txBody>
      </p:sp>
      <p:sp>
        <p:nvSpPr>
          <p:cNvPr id="10" name="round 23"/>
          <p:cNvSpPr/>
          <p:nvPr/>
        </p:nvSpPr>
        <p:spPr>
          <a:xfrm>
            <a:off x="548640" y="2743200"/>
            <a:ext cx="5760720" cy="1005840"/>
          </a:xfrm>
          <a:prstGeom prst="roundRect">
            <a:avLst>
              <a:gd name="adj" fmla="val 7273"/>
            </a:avLst>
          </a:prstGeom>
          <a:solidFill>
            <a:schemeClr val="bg1"/>
          </a:solidFill>
          <a:ln/>
          <a:effectLst>
            <a:outerShdw sx="100000" sy="100000" kx="0" ky="0" algn="bl" rotWithShape="0" blurRad="127000" dist="25400" dir="5400000">
              <a:srgbClr val="1B1A33">
                <a:alpha val="8000"/>
              </a:srgbClr>
            </a:outerShdw>
          </a:effectLst>
        </p:spPr>
      </p:sp>
      <p:sp>
        <p:nvSpPr>
          <p:cNvPr id="11" name="num R23"/>
          <p:cNvSpPr/>
          <p:nvPr/>
        </p:nvSpPr>
        <p:spPr>
          <a:xfrm>
            <a:off x="731520" y="2926080"/>
            <a:ext cx="640080" cy="640080"/>
          </a:xfrm>
          <a:prstGeom prst="ellipse">
            <a:avLst/>
          </a:prstGeom>
          <a:solidFill>
            <a:schemeClr val="accent2"/>
          </a:solidFill>
          <a:ln/>
        </p:spPr>
      </p:sp>
      <p:sp>
        <p:nvSpPr>
          <p:cNvPr id="12" name="Text 10"/>
          <p:cNvSpPr txBox="1"/>
          <p:nvPr/>
        </p:nvSpPr>
        <p:spPr>
          <a:xfrm>
            <a:off x="731520" y="2926080"/>
            <a:ext cx="640080" cy="640080"/>
          </a:xfrm>
          <a:prstGeom prst="rect">
            <a:avLst/>
          </a:prstGeom>
          <a:noFill/>
          <a:ln/>
        </p:spPr>
        <p:txBody>
          <a:bodyPr wrap="square" lIns="0" tIns="0" rIns="0" bIns="0" rtlCol="0" anchor="ctr"/>
          <a:lstStyle/>
          <a:p>
            <a:pPr algn="ctr" indent="0" marL="0">
              <a:buNone/>
            </a:pPr>
            <a:r>
              <a:rPr lang="en-US" sz="1300" b="1" dirty="0">
                <a:solidFill>
                  <a:schemeClr val="bg1"/>
                </a:solidFill>
              </a:rPr>
              <a:t>R23</a:t>
            </a:r>
            <a:endParaRPr lang="en-US" sz="1300" dirty="0"/>
          </a:p>
        </p:txBody>
      </p:sp>
      <p:sp>
        <p:nvSpPr>
          <p:cNvPr id="13" name="Text 11"/>
          <p:cNvSpPr txBox="1"/>
          <p:nvPr/>
        </p:nvSpPr>
        <p:spPr>
          <a:xfrm>
            <a:off x="1554480" y="2852928"/>
            <a:ext cx="2194560" cy="365760"/>
          </a:xfrm>
          <a:prstGeom prst="rect">
            <a:avLst/>
          </a:prstGeom>
          <a:noFill/>
          <a:ln/>
        </p:spPr>
        <p:txBody>
          <a:bodyPr wrap="square" lIns="0" tIns="0" rIns="0" bIns="0" rtlCol="0" anchor="t"/>
          <a:lstStyle/>
          <a:p>
            <a:pPr indent="0" marL="0">
              <a:buNone/>
            </a:pPr>
            <a:r>
              <a:rPr lang="en-US" sz="1500" b="1" dirty="0">
                <a:solidFill>
                  <a:schemeClr val="tx1"/>
                </a:solidFill>
              </a:rPr>
              <a:t>Touching cells merged</a:t>
            </a:r>
            <a:endParaRPr lang="en-US" sz="1500" dirty="0"/>
          </a:p>
        </p:txBody>
      </p:sp>
      <p:sp>
        <p:nvSpPr>
          <p:cNvPr id="14" name="Text 12"/>
          <p:cNvSpPr txBox="1"/>
          <p:nvPr/>
        </p:nvSpPr>
        <p:spPr>
          <a:xfrm>
            <a:off x="1554480" y="3246120"/>
            <a:ext cx="2194560" cy="365760"/>
          </a:xfrm>
          <a:prstGeom prst="rect">
            <a:avLst/>
          </a:prstGeom>
          <a:noFill/>
          <a:ln/>
        </p:spPr>
        <p:txBody>
          <a:bodyPr wrap="square" lIns="0" tIns="0" rIns="0" bIns="0" rtlCol="0" anchor="t"/>
          <a:lstStyle/>
          <a:p>
            <a:pPr indent="0" marL="0">
              <a:buNone/>
            </a:pPr>
            <a:r>
              <a:rPr lang="en-US" sz="1300" b="1" dirty="0">
                <a:solidFill>
                  <a:schemeClr val="accent2"/>
                </a:solidFill>
              </a:rPr>
              <a:t>kernel 5 → 3</a:t>
            </a:r>
            <a:endParaRPr lang="en-US" sz="1300" dirty="0"/>
          </a:p>
        </p:txBody>
      </p:sp>
      <p:sp>
        <p:nvSpPr>
          <p:cNvPr id="15" name="Text 13"/>
          <p:cNvSpPr txBox="1"/>
          <p:nvPr/>
        </p:nvSpPr>
        <p:spPr>
          <a:xfrm>
            <a:off x="3840480" y="2852928"/>
            <a:ext cx="2331720" cy="804672"/>
          </a:xfrm>
          <a:prstGeom prst="rect">
            <a:avLst/>
          </a:prstGeom>
          <a:noFill/>
          <a:ln/>
        </p:spPr>
        <p:txBody>
          <a:bodyPr wrap="square" lIns="0" tIns="0" rIns="0" bIns="0" rtlCol="0" anchor="ctr"/>
          <a:lstStyle/>
          <a:p>
            <a:pPr indent="0" marL="0">
              <a:buNone/>
            </a:pPr>
            <a:r>
              <a:rPr lang="en-US" sz="1300" dirty="0">
                <a:solidFill>
                  <a:schemeClr val="accent5"/>
                </a:solidFill>
              </a:rPr>
              <a:t>Dense sample: 36 → 50 cells</a:t>
            </a:r>
            <a:endParaRPr lang="en-US" sz="1300" dirty="0"/>
          </a:p>
        </p:txBody>
      </p:sp>
      <p:sp>
        <p:nvSpPr>
          <p:cNvPr id="16" name="round 24"/>
          <p:cNvSpPr/>
          <p:nvPr/>
        </p:nvSpPr>
        <p:spPr>
          <a:xfrm>
            <a:off x="548640" y="3886200"/>
            <a:ext cx="5760720" cy="1005840"/>
          </a:xfrm>
          <a:prstGeom prst="roundRect">
            <a:avLst>
              <a:gd name="adj" fmla="val 7273"/>
            </a:avLst>
          </a:prstGeom>
          <a:solidFill>
            <a:schemeClr val="bg1"/>
          </a:solidFill>
          <a:ln/>
          <a:effectLst>
            <a:outerShdw sx="100000" sy="100000" kx="0" ky="0" algn="bl" rotWithShape="0" blurRad="127000" dist="25400" dir="5400000">
              <a:srgbClr val="1B1A33">
                <a:alpha val="8000"/>
              </a:srgbClr>
            </a:outerShdw>
          </a:effectLst>
        </p:spPr>
      </p:sp>
      <p:sp>
        <p:nvSpPr>
          <p:cNvPr id="17" name="num R24"/>
          <p:cNvSpPr/>
          <p:nvPr/>
        </p:nvSpPr>
        <p:spPr>
          <a:xfrm>
            <a:off x="731520" y="4069080"/>
            <a:ext cx="640080" cy="640080"/>
          </a:xfrm>
          <a:prstGeom prst="ellipse">
            <a:avLst/>
          </a:prstGeom>
          <a:solidFill>
            <a:schemeClr val="accent3"/>
          </a:solidFill>
          <a:ln/>
        </p:spPr>
      </p:sp>
      <p:sp>
        <p:nvSpPr>
          <p:cNvPr id="18" name="Text 16"/>
          <p:cNvSpPr txBox="1"/>
          <p:nvPr/>
        </p:nvSpPr>
        <p:spPr>
          <a:xfrm>
            <a:off x="731520" y="4069080"/>
            <a:ext cx="640080" cy="640080"/>
          </a:xfrm>
          <a:prstGeom prst="rect">
            <a:avLst/>
          </a:prstGeom>
          <a:noFill/>
          <a:ln/>
        </p:spPr>
        <p:txBody>
          <a:bodyPr wrap="square" lIns="0" tIns="0" rIns="0" bIns="0" rtlCol="0" anchor="ctr"/>
          <a:lstStyle/>
          <a:p>
            <a:pPr algn="ctr" indent="0" marL="0">
              <a:buNone/>
            </a:pPr>
            <a:r>
              <a:rPr lang="en-US" sz="1300" b="1" dirty="0">
                <a:solidFill>
                  <a:schemeClr val="bg1"/>
                </a:solidFill>
              </a:rPr>
              <a:t>R24</a:t>
            </a:r>
            <a:endParaRPr lang="en-US" sz="1300" dirty="0"/>
          </a:p>
        </p:txBody>
      </p:sp>
      <p:sp>
        <p:nvSpPr>
          <p:cNvPr id="19" name="Text 17"/>
          <p:cNvSpPr txBox="1"/>
          <p:nvPr/>
        </p:nvSpPr>
        <p:spPr>
          <a:xfrm>
            <a:off x="1554480" y="3995928"/>
            <a:ext cx="2194560" cy="365760"/>
          </a:xfrm>
          <a:prstGeom prst="rect">
            <a:avLst/>
          </a:prstGeom>
          <a:noFill/>
          <a:ln/>
        </p:spPr>
        <p:txBody>
          <a:bodyPr wrap="square" lIns="0" tIns="0" rIns="0" bIns="0" rtlCol="0" anchor="t"/>
          <a:lstStyle/>
          <a:p>
            <a:pPr indent="0" marL="0">
              <a:buNone/>
            </a:pPr>
            <a:r>
              <a:rPr lang="en-US" sz="1500" b="1" dirty="0">
                <a:solidFill>
                  <a:schemeClr val="tx1"/>
                </a:solidFill>
              </a:rPr>
              <a:t>Try min distance 5?</a:t>
            </a:r>
            <a:endParaRPr lang="en-US" sz="1500" dirty="0"/>
          </a:p>
        </p:txBody>
      </p:sp>
      <p:sp>
        <p:nvSpPr>
          <p:cNvPr id="20" name="Text 18"/>
          <p:cNvSpPr txBox="1"/>
          <p:nvPr/>
        </p:nvSpPr>
        <p:spPr>
          <a:xfrm>
            <a:off x="1554480" y="4389120"/>
            <a:ext cx="2194560" cy="365760"/>
          </a:xfrm>
          <a:prstGeom prst="rect">
            <a:avLst/>
          </a:prstGeom>
          <a:noFill/>
          <a:ln/>
        </p:spPr>
        <p:txBody>
          <a:bodyPr wrap="square" lIns="0" tIns="0" rIns="0" bIns="0" rtlCol="0" anchor="t"/>
          <a:lstStyle/>
          <a:p>
            <a:pPr indent="0" marL="0">
              <a:buNone/>
            </a:pPr>
            <a:r>
              <a:rPr lang="en-US" sz="1300" b="1" dirty="0">
                <a:solidFill>
                  <a:schemeClr val="accent3"/>
                </a:solidFill>
              </a:rPr>
              <a:t>Rejected</a:t>
            </a:r>
            <a:endParaRPr lang="en-US" sz="1300" dirty="0"/>
          </a:p>
        </p:txBody>
      </p:sp>
      <p:sp>
        <p:nvSpPr>
          <p:cNvPr id="21" name="Text 19"/>
          <p:cNvSpPr txBox="1"/>
          <p:nvPr/>
        </p:nvSpPr>
        <p:spPr>
          <a:xfrm>
            <a:off x="3840480" y="3995928"/>
            <a:ext cx="2331720" cy="804672"/>
          </a:xfrm>
          <a:prstGeom prst="rect">
            <a:avLst/>
          </a:prstGeom>
          <a:noFill/>
          <a:ln/>
        </p:spPr>
        <p:txBody>
          <a:bodyPr wrap="square" lIns="0" tIns="0" rIns="0" bIns="0" rtlCol="0" anchor="ctr"/>
          <a:lstStyle/>
          <a:p>
            <a:pPr indent="0" marL="0">
              <a:buNone/>
            </a:pPr>
            <a:r>
              <a:rPr lang="en-US" sz="1300" dirty="0">
                <a:solidFill>
                  <a:schemeClr val="accent5"/>
                </a:solidFill>
              </a:rPr>
              <a:t>Helped one image, test F1 fell 0.852 → 0.815</a:t>
            </a:r>
            <a:endParaRPr lang="en-US" sz="1300" dirty="0"/>
          </a:p>
        </p:txBody>
      </p:sp>
      <p:sp>
        <p:nvSpPr>
          <p:cNvPr id="22" name="round 25"/>
          <p:cNvSpPr/>
          <p:nvPr/>
        </p:nvSpPr>
        <p:spPr>
          <a:xfrm>
            <a:off x="548640" y="5029200"/>
            <a:ext cx="5760720" cy="1005840"/>
          </a:xfrm>
          <a:prstGeom prst="roundRect">
            <a:avLst>
              <a:gd name="adj" fmla="val 7273"/>
            </a:avLst>
          </a:prstGeom>
          <a:solidFill>
            <a:schemeClr val="bg1"/>
          </a:solidFill>
          <a:ln/>
          <a:effectLst>
            <a:outerShdw sx="100000" sy="100000" kx="0" ky="0" algn="bl" rotWithShape="0" blurRad="127000" dist="25400" dir="5400000">
              <a:srgbClr val="1B1A33">
                <a:alpha val="8000"/>
              </a:srgbClr>
            </a:outerShdw>
          </a:effectLst>
        </p:spPr>
      </p:sp>
      <p:sp>
        <p:nvSpPr>
          <p:cNvPr id="23" name="num R25"/>
          <p:cNvSpPr/>
          <p:nvPr/>
        </p:nvSpPr>
        <p:spPr>
          <a:xfrm>
            <a:off x="731520" y="5212080"/>
            <a:ext cx="640080" cy="640080"/>
          </a:xfrm>
          <a:prstGeom prst="ellipse">
            <a:avLst/>
          </a:prstGeom>
          <a:solidFill>
            <a:schemeClr val="accent1"/>
          </a:solidFill>
          <a:ln/>
        </p:spPr>
      </p:sp>
      <p:sp>
        <p:nvSpPr>
          <p:cNvPr id="24" name="Text 22"/>
          <p:cNvSpPr txBox="1"/>
          <p:nvPr/>
        </p:nvSpPr>
        <p:spPr>
          <a:xfrm>
            <a:off x="731520" y="5212080"/>
            <a:ext cx="640080" cy="640080"/>
          </a:xfrm>
          <a:prstGeom prst="rect">
            <a:avLst/>
          </a:prstGeom>
          <a:noFill/>
          <a:ln/>
        </p:spPr>
        <p:txBody>
          <a:bodyPr wrap="square" lIns="0" tIns="0" rIns="0" bIns="0" rtlCol="0" anchor="ctr"/>
          <a:lstStyle/>
          <a:p>
            <a:pPr algn="ctr" indent="0" marL="0">
              <a:buNone/>
            </a:pPr>
            <a:r>
              <a:rPr lang="en-US" sz="1300" b="1" dirty="0">
                <a:solidFill>
                  <a:schemeClr val="bg1"/>
                </a:solidFill>
              </a:rPr>
              <a:t>R25</a:t>
            </a:r>
            <a:endParaRPr lang="en-US" sz="1300" dirty="0"/>
          </a:p>
        </p:txBody>
      </p:sp>
      <p:sp>
        <p:nvSpPr>
          <p:cNvPr id="25" name="Text 23"/>
          <p:cNvSpPr txBox="1"/>
          <p:nvPr/>
        </p:nvSpPr>
        <p:spPr>
          <a:xfrm>
            <a:off x="1554480" y="5138928"/>
            <a:ext cx="2194560" cy="365760"/>
          </a:xfrm>
          <a:prstGeom prst="rect">
            <a:avLst/>
          </a:prstGeom>
          <a:noFill/>
          <a:ln/>
        </p:spPr>
        <p:txBody>
          <a:bodyPr wrap="square" lIns="0" tIns="0" rIns="0" bIns="0" rtlCol="0" anchor="t"/>
          <a:lstStyle/>
          <a:p>
            <a:pPr indent="0" marL="0">
              <a:buNone/>
            </a:pPr>
            <a:r>
              <a:rPr lang="en-US" sz="1500" b="1" dirty="0">
                <a:solidFill>
                  <a:schemeClr val="tx1"/>
                </a:solidFill>
              </a:rPr>
              <a:t>Check it properly</a:t>
            </a:r>
            <a:endParaRPr lang="en-US" sz="1500" dirty="0"/>
          </a:p>
        </p:txBody>
      </p:sp>
      <p:sp>
        <p:nvSpPr>
          <p:cNvPr id="26" name="Text 24"/>
          <p:cNvSpPr txBox="1"/>
          <p:nvPr/>
        </p:nvSpPr>
        <p:spPr>
          <a:xfrm>
            <a:off x="1554480" y="5532120"/>
            <a:ext cx="2194560" cy="365760"/>
          </a:xfrm>
          <a:prstGeom prst="rect">
            <a:avLst/>
          </a:prstGeom>
          <a:noFill/>
          <a:ln/>
        </p:spPr>
        <p:txBody>
          <a:bodyPr wrap="square" lIns="0" tIns="0" rIns="0" bIns="0" rtlCol="0" anchor="t"/>
          <a:lstStyle/>
          <a:p>
            <a:pPr indent="0" marL="0">
              <a:buNone/>
            </a:pPr>
            <a:r>
              <a:rPr lang="en-US" sz="1300" b="1" dirty="0">
                <a:solidFill>
                  <a:schemeClr val="accent1"/>
                </a:solidFill>
              </a:rPr>
              <a:t>Grid search, 288 settings</a:t>
            </a:r>
            <a:endParaRPr lang="en-US" sz="1300" dirty="0"/>
          </a:p>
        </p:txBody>
      </p:sp>
      <p:sp>
        <p:nvSpPr>
          <p:cNvPr id="27" name="Text 25"/>
          <p:cNvSpPr txBox="1"/>
          <p:nvPr/>
        </p:nvSpPr>
        <p:spPr>
          <a:xfrm>
            <a:off x="3840480" y="5138928"/>
            <a:ext cx="2331720" cy="804672"/>
          </a:xfrm>
          <a:prstGeom prst="rect">
            <a:avLst/>
          </a:prstGeom>
          <a:noFill/>
          <a:ln/>
        </p:spPr>
        <p:txBody>
          <a:bodyPr wrap="square" lIns="0" tIns="0" rIns="0" bIns="0" rtlCol="0" anchor="ctr"/>
          <a:lstStyle/>
          <a:p>
            <a:pPr indent="0" marL="0">
              <a:buNone/>
            </a:pPr>
            <a:r>
              <a:rPr lang="en-US" sz="1300" dirty="0">
                <a:solidFill>
                  <a:schemeClr val="accent5"/>
                </a:solidFill>
              </a:rPr>
              <a:t>On validation split → kernel 3, min area 20 confirmed</a:t>
            </a:r>
            <a:endParaRPr lang="en-US" sz="1300" dirty="0"/>
          </a:p>
        </p:txBody>
      </p:sp>
      <p:sp>
        <p:nvSpPr>
          <p:cNvPr id="28" name="tuning chart card"/>
          <p:cNvSpPr/>
          <p:nvPr/>
        </p:nvSpPr>
        <p:spPr>
          <a:xfrm>
            <a:off x="6583680" y="1600200"/>
            <a:ext cx="502920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graphicFrame>
        <p:nvGraphicFramePr>
          <p:cNvPr id="29" name="tuning chart" descr=""/>
          <p:cNvGraphicFramePr/>
          <p:nvPr/>
        </p:nvGraphicFramePr>
        <p:xfrm>
          <a:off x="6720840" y="1691640"/>
          <a:ext cx="4754880" cy="3520440"/>
        </p:xfrm>
        <a:graphic xmlns:a="http://schemas.openxmlformats.org/drawingml/2006/main">
          <a:graphicData uri="http://schemas.openxmlformats.org/drawingml/2006/chart">
            <c:chart xmlns:c="http://schemas.openxmlformats.org/drawingml/2006/chart" r:id="rId1"/>
          </a:graphicData>
        </a:graphic>
      </p:graphicFrame>
      <p:sp>
        <p:nvSpPr>
          <p:cNvPr id="30" name="Text 27"/>
          <p:cNvSpPr txBox="1"/>
          <p:nvPr/>
        </p:nvSpPr>
        <p:spPr>
          <a:xfrm>
            <a:off x="6858000" y="5303520"/>
            <a:ext cx="4480560" cy="731520"/>
          </a:xfrm>
          <a:prstGeom prst="rect">
            <a:avLst/>
          </a:prstGeom>
          <a:noFill/>
          <a:ln/>
        </p:spPr>
        <p:txBody>
          <a:bodyPr wrap="square" lIns="0" tIns="0" rIns="0" bIns="0" rtlCol="0" anchor="t"/>
          <a:lstStyle/>
          <a:p>
            <a:pPr algn="ctr" indent="0" marL="0">
              <a:buNone/>
            </a:pPr>
            <a:r>
              <a:rPr lang="en-US" sz="1400" b="1" dirty="0">
                <a:solidFill>
                  <a:schemeClr val="accent1"/>
                </a:solidFill>
              </a:rPr>
              <a:t>Median count error  10.0 % → 6.9 %</a:t>
            </a:r>
            <a:endParaRPr lang="en-US" sz="1400" dirty="0"/>
          </a:p>
          <a:p>
            <a:pPr algn="ctr" indent="0" marL="0">
              <a:buNone/>
            </a:pPr>
            <a:r>
              <a:rPr lang="en-US" sz="1400" dirty="0">
                <a:solidFill>
                  <a:schemeClr val="accent5"/>
                </a:solidFill>
              </a:rPr>
              <a:t>Chosen on validation data, reported on test data</a:t>
            </a:r>
            <a:endParaRPr lang="en-US" sz="14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06  ·  ABLATION STUDY</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Ablation: one image, four parameter sets</a:t>
            </a:r>
            <a:endParaRPr lang="en-US" sz="3200" dirty="0"/>
          </a:p>
        </p:txBody>
      </p:sp>
      <p:sp>
        <p:nvSpPr>
          <p:cNvPr id="4" name="ablation image card"/>
          <p:cNvSpPr/>
          <p:nvPr/>
        </p:nvSpPr>
        <p:spPr>
          <a:xfrm>
            <a:off x="548640" y="1554480"/>
            <a:ext cx="11064240" cy="2560320"/>
          </a:xfrm>
          <a:prstGeom prst="roundRect">
            <a:avLst>
              <a:gd name="adj" fmla="val 2857"/>
            </a:avLst>
          </a:prstGeom>
          <a:solidFill>
            <a:schemeClr val="bg1"/>
          </a:solidFill>
          <a:ln/>
          <a:effectLst>
            <a:outerShdw sx="100000" sy="100000" kx="0" ky="0" algn="bl" rotWithShape="0" blurRad="127000" dist="25400" dir="5400000">
              <a:srgbClr val="1B1A33">
                <a:alpha val="8000"/>
              </a:srgbClr>
            </a:outerShdw>
          </a:effectLst>
        </p:spPr>
      </p:sp>
      <p:pic>
        <p:nvPicPr>
          <p:cNvPr id="5" name="ablation figure" descr="Ground truth and four parameter sets">    </p:cNvPr>
          <p:cNvPicPr>
            <a:picLocks noChangeAspect="1"/>
          </p:cNvPicPr>
          <p:nvPr/>
        </p:nvPicPr>
        <p:blipFill>
          <a:blip r:embed="rId1"/>
          <a:stretch>
            <a:fillRect/>
          </a:stretch>
        </p:blipFill>
        <p:spPr>
          <a:xfrm>
            <a:off x="640080" y="1692097"/>
            <a:ext cx="10881360" cy="2285086"/>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7223760" cy="914400"/>
        </p:xfrm>
        <a:graphic>
          <a:graphicData uri="http://schemas.openxmlformats.org/drawingml/2006/table">
            <a:tbl>
              <a:tblPr/>
              <a:tblGrid>
                <a:gridCol w="1097280"/>
                <a:gridCol w="457200"/>
                <a:gridCol w="594360"/>
                <a:gridCol w="457200"/>
                <a:gridCol w="685800"/>
                <a:gridCol w="777240"/>
                <a:gridCol w="548640"/>
                <a:gridCol w="731520"/>
                <a:gridCol w="548640"/>
                <a:gridCol w="685800"/>
                <a:gridCol w="640080"/>
              </a:tblGrid>
              <a:tr h="347472">
                <a:tc>
                  <a:txBody>
                    <a:bodyPr/>
                    <a:lstStyle/>
                    <a:p>
                      <a:pPr algn="ctr" indent="0" marL="0">
                        <a:buNone/>
                      </a:pPr>
                      <a:r>
                        <a:rPr lang="en-US" sz="1200" b="1" dirty="0">
                          <a:solidFill>
                            <a:schemeClr val="bg1"/>
                          </a:solidFill>
                        </a:rPr>
                        <a:t>Set</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τ</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kernel</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r</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min area</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Count</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Dice</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PSNR dB</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SSIM</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Precision</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Recall</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1"/>
                    </a:solidFill>
                  </a:tcPr>
                </a:tc>
              </a:tr>
              <a:tr h="347472">
                <a:tc>
                  <a:txBody>
                    <a:bodyPr/>
                    <a:lstStyle/>
                    <a:p>
                      <a:pPr algn="l" indent="0" marL="0">
                        <a:buNone/>
                      </a:pPr>
                      <a:r>
                        <a:rPr lang="en-US" sz="1200" dirty="0">
                          <a:solidFill>
                            <a:schemeClr val="tx1"/>
                          </a:solidFill>
                        </a:rPr>
                        <a:t>A  lenient</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50</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50</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0.913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11.16</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0.725</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0.68</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0.39</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347472">
                <a:tc>
                  <a:txBody>
                    <a:bodyPr/>
                    <a:lstStyle/>
                    <a:p>
                      <a:pPr algn="l" indent="0" marL="0">
                        <a:buNone/>
                      </a:pPr>
                      <a:r>
                        <a:rPr lang="en-US" sz="1200" dirty="0">
                          <a:solidFill>
                            <a:schemeClr val="tx1"/>
                          </a:solidFill>
                        </a:rPr>
                        <a:t>B  mockup</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0.5</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5</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0.4</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50</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36</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0.894</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10.34</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0.699</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0.64</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0.26</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2"/>
                    </a:solidFill>
                  </a:tcPr>
                </a:tc>
              </a:tr>
              <a:tr h="347472">
                <a:tc>
                  <a:txBody>
                    <a:bodyPr/>
                    <a:lstStyle/>
                    <a:p>
                      <a:pPr algn="l" indent="0" marL="0">
                        <a:buNone/>
                      </a:pPr>
                      <a:r>
                        <a:rPr lang="en-US" sz="1200" dirty="0">
                          <a:solidFill>
                            <a:schemeClr val="tx1"/>
                          </a:solidFill>
                        </a:rPr>
                        <a:t>C  strict</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0.7</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7</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50</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0.873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9.70</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0.665</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0.67</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0.25</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bg1"/>
                    </a:solidFill>
                  </a:tcPr>
                </a:tc>
              </a:tr>
              <a:tr h="347472">
                <a:tc>
                  <a:txBody>
                    <a:bodyPr/>
                    <a:lstStyle/>
                    <a:p>
                      <a:pPr algn="l" indent="0" marL="0">
                        <a:buNone/>
                      </a:pPr>
                      <a:r>
                        <a:rPr lang="en-US" sz="1200" b="1" dirty="0">
                          <a:solidFill>
                            <a:schemeClr val="bg1"/>
                          </a:solidFill>
                        </a:rPr>
                        <a:t>D  tuned</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0.5</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0.4</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20</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52</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0.903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10.84</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0.711</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0.73</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0.44</a:t>
                      </a:r>
                      <a:endParaRPr lang="en-US" sz="1200" dirty="0"/>
                    </a:p>
                  </a:txBody>
                  <a:tcPr marL="54864" marR="54864" marT="0" marB="0" anchor="ctr">
                    <a:lnL w="6350" cap="flat" cmpd="sng" algn="ctr">
                      <a:solidFill>
                        <a:srgbClr val="E2E5EC"/>
                      </a:solidFill>
                      <a:prstDash val="solid"/>
                      <a:round/>
                      <a:headEnd type="none" w="med" len="med"/>
                      <a:tailEnd type="none" w="med" len="med"/>
                    </a:lnL>
                    <a:lnR w="6350" cap="flat" cmpd="sng" algn="ctr">
                      <a:solidFill>
                        <a:srgbClr val="E2E5EC"/>
                      </a:solidFill>
                      <a:prstDash val="solid"/>
                      <a:round/>
                      <a:headEnd type="none" w="med" len="med"/>
                      <a:tailEnd type="none" w="med" len="med"/>
                    </a:lnR>
                    <a:lnT w="6350" cap="flat" cmpd="sng" algn="ctr">
                      <a:solidFill>
                        <a:srgbClr val="E2E5EC"/>
                      </a:solidFill>
                      <a:prstDash val="solid"/>
                      <a:round/>
                      <a:headEnd type="none" w="med" len="med"/>
                      <a:tailEnd type="none" w="med" len="med"/>
                    </a:lnT>
                    <a:lnB w="6350" cap="flat" cmpd="sng" algn="ctr">
                      <a:solidFill>
                        <a:srgbClr val="E2E5EC"/>
                      </a:solidFill>
                      <a:prstDash val="solid"/>
                      <a:round/>
                      <a:headEnd type="none" w="med" len="med"/>
                      <a:tailEnd type="none" w="med" len="med"/>
                    </a:lnB>
                    <a:solidFill>
                      <a:schemeClr val="accent2"/>
                    </a:solidFill>
                  </a:tcPr>
                </a:tc>
              </a:tr>
            </a:tbl>
          </a:graphicData>
        </a:graphic>
      </p:graphicFrame>
      <p:sp>
        <p:nvSpPr>
          <p:cNvPr id="7" name="ablation takeaway"/>
          <p:cNvSpPr/>
          <p:nvPr/>
        </p:nvSpPr>
        <p:spPr>
          <a:xfrm>
            <a:off x="8046720" y="4297680"/>
            <a:ext cx="3566160" cy="1828800"/>
          </a:xfrm>
          <a:prstGeom prst="roundRect">
            <a:avLst>
              <a:gd name="adj" fmla="val 4000"/>
            </a:avLst>
          </a:prstGeom>
          <a:solidFill>
            <a:schemeClr val="tx2"/>
          </a:solidFill>
          <a:ln/>
          <a:effectLst>
            <a:outerShdw sx="100000" sy="100000" kx="0" ky="0" algn="bl" rotWithShape="0" blurRad="127000" dist="25400" dir="5400000">
              <a:srgbClr val="1B1A33">
                <a:alpha val="8000"/>
              </a:srgbClr>
            </a:outerShdw>
          </a:effectLst>
        </p:spPr>
      </p:sp>
      <p:sp>
        <p:nvSpPr>
          <p:cNvPr id="8" name="Text 4"/>
          <p:cNvSpPr txBox="1"/>
          <p:nvPr/>
        </p:nvSpPr>
        <p:spPr>
          <a:xfrm>
            <a:off x="8275320" y="4389120"/>
            <a:ext cx="3154680" cy="1645920"/>
          </a:xfrm>
          <a:prstGeom prst="rect">
            <a:avLst/>
          </a:prstGeom>
          <a:noFill/>
          <a:ln/>
        </p:spPr>
        <p:txBody>
          <a:bodyPr wrap="square" lIns="0" tIns="0" rIns="0" bIns="0" rtlCol="0" anchor="ctr"/>
          <a:lstStyle/>
          <a:p>
            <a:pPr indent="0" marL="0">
              <a:spcAft>
                <a:spcPts val="400"/>
              </a:spcAft>
              <a:buNone/>
            </a:pPr>
            <a:r>
              <a:rPr lang="en-US" sz="1300" b="1" dirty="0">
                <a:solidFill>
                  <a:schemeClr val="accent3"/>
                </a:solidFill>
              </a:rPr>
              <a:t>What it shows</a:t>
            </a:r>
            <a:endParaRPr lang="en-US" sz="1300" dirty="0"/>
          </a:p>
          <a:p>
            <a:pPr indent="0" marL="0">
              <a:spcAft>
                <a:spcPts val="400"/>
              </a:spcAft>
              <a:buNone/>
            </a:pPr>
            <a:r>
              <a:rPr lang="en-US" sz="1300" dirty="0">
                <a:solidFill>
                  <a:schemeClr val="bg1"/>
                </a:solidFill>
              </a:rPr>
              <a:t>Higher τ and a bigger kernel merge and shrink cells (C: 33). The tuned set D finds the most cells with the best per-cell precision and recall.</a:t>
            </a:r>
            <a:endParaRPr lang="en-US" sz="13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07  ·  RESULTS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Results on the unseen test split</a:t>
            </a:r>
            <a:endParaRPr lang="en-US" sz="3200" dirty="0"/>
          </a:p>
        </p:txBody>
      </p:sp>
      <p:sp>
        <p:nvSpPr>
          <p:cNvPr id="4" name="result stat 0"/>
          <p:cNvSpPr/>
          <p:nvPr/>
        </p:nvSpPr>
        <p:spPr>
          <a:xfrm>
            <a:off x="548640" y="1600200"/>
            <a:ext cx="2084832" cy="1417320"/>
          </a:xfrm>
          <a:prstGeom prst="roundRect">
            <a:avLst>
              <a:gd name="adj" fmla="val 5161"/>
            </a:avLst>
          </a:prstGeom>
          <a:solidFill>
            <a:schemeClr val="bg1"/>
          </a:solidFill>
          <a:ln/>
          <a:effectLst>
            <a:outerShdw sx="100000" sy="100000" kx="0" ky="0" algn="bl" rotWithShape="0" blurRad="127000" dist="25400" dir="5400000">
              <a:srgbClr val="1B1A33">
                <a:alpha val="8000"/>
              </a:srgbClr>
            </a:outerShdw>
          </a:effectLst>
        </p:spPr>
      </p:sp>
      <p:sp>
        <p:nvSpPr>
          <p:cNvPr id="5" name="Text 3"/>
          <p:cNvSpPr txBox="1"/>
          <p:nvPr/>
        </p:nvSpPr>
        <p:spPr>
          <a:xfrm>
            <a:off x="640080" y="1709928"/>
            <a:ext cx="1901952" cy="73152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0.915</a:t>
            </a:r>
            <a:endParaRPr lang="en-US" sz="3600" dirty="0"/>
          </a:p>
        </p:txBody>
      </p:sp>
      <p:sp>
        <p:nvSpPr>
          <p:cNvPr id="6" name="Text 4"/>
          <p:cNvSpPr txBox="1"/>
          <p:nvPr/>
        </p:nvSpPr>
        <p:spPr>
          <a:xfrm>
            <a:off x="640080" y="2468880"/>
            <a:ext cx="1901952" cy="411480"/>
          </a:xfrm>
          <a:prstGeom prst="rect">
            <a:avLst/>
          </a:prstGeom>
          <a:noFill/>
          <a:ln/>
        </p:spPr>
        <p:txBody>
          <a:bodyPr wrap="square" lIns="0" tIns="0" rIns="0" bIns="0" rtlCol="0" anchor="t"/>
          <a:lstStyle/>
          <a:p>
            <a:pPr algn="ctr" indent="0" marL="0">
              <a:buNone/>
            </a:pPr>
            <a:r>
              <a:rPr lang="en-US" sz="1300" dirty="0">
                <a:solidFill>
                  <a:schemeClr val="accent5"/>
                </a:solidFill>
              </a:rPr>
              <a:t>Dice (pixel overlap)</a:t>
            </a:r>
            <a:endParaRPr lang="en-US" sz="1300" dirty="0"/>
          </a:p>
        </p:txBody>
      </p:sp>
      <p:sp>
        <p:nvSpPr>
          <p:cNvPr id="7" name="result stat 1"/>
          <p:cNvSpPr/>
          <p:nvPr/>
        </p:nvSpPr>
        <p:spPr>
          <a:xfrm>
            <a:off x="2798064" y="1600200"/>
            <a:ext cx="2084832" cy="1417320"/>
          </a:xfrm>
          <a:prstGeom prst="roundRect">
            <a:avLst>
              <a:gd name="adj" fmla="val 5161"/>
            </a:avLst>
          </a:prstGeom>
          <a:solidFill>
            <a:schemeClr val="bg1"/>
          </a:solidFill>
          <a:ln/>
          <a:effectLst>
            <a:outerShdw sx="100000" sy="100000" kx="0" ky="0" algn="bl" rotWithShape="0" blurRad="127000" dist="25400" dir="5400000">
              <a:srgbClr val="1B1A33">
                <a:alpha val="8000"/>
              </a:srgbClr>
            </a:outerShdw>
          </a:effectLst>
        </p:spPr>
      </p:sp>
      <p:sp>
        <p:nvSpPr>
          <p:cNvPr id="8" name="Text 6"/>
          <p:cNvSpPr txBox="1"/>
          <p:nvPr/>
        </p:nvSpPr>
        <p:spPr>
          <a:xfrm>
            <a:off x="2889504" y="1709928"/>
            <a:ext cx="1901952" cy="73152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0.852</a:t>
            </a:r>
            <a:endParaRPr lang="en-US" sz="3600" dirty="0"/>
          </a:p>
        </p:txBody>
      </p:sp>
      <p:sp>
        <p:nvSpPr>
          <p:cNvPr id="9" name="Text 7"/>
          <p:cNvSpPr txBox="1"/>
          <p:nvPr/>
        </p:nvSpPr>
        <p:spPr>
          <a:xfrm>
            <a:off x="2889504" y="2468880"/>
            <a:ext cx="1901952" cy="411480"/>
          </a:xfrm>
          <a:prstGeom prst="rect">
            <a:avLst/>
          </a:prstGeom>
          <a:noFill/>
          <a:ln/>
        </p:spPr>
        <p:txBody>
          <a:bodyPr wrap="square" lIns="0" tIns="0" rIns="0" bIns="0" rtlCol="0" anchor="t"/>
          <a:lstStyle/>
          <a:p>
            <a:pPr algn="ctr" indent="0" marL="0">
              <a:buNone/>
            </a:pPr>
            <a:r>
              <a:rPr lang="en-US" sz="1300" dirty="0">
                <a:solidFill>
                  <a:schemeClr val="accent5"/>
                </a:solidFill>
              </a:rPr>
              <a:t>Cell F1 (IoU ≥ 0.5)</a:t>
            </a:r>
            <a:endParaRPr lang="en-US" sz="1300" dirty="0"/>
          </a:p>
        </p:txBody>
      </p:sp>
      <p:sp>
        <p:nvSpPr>
          <p:cNvPr id="10" name="result stat 2"/>
          <p:cNvSpPr/>
          <p:nvPr/>
        </p:nvSpPr>
        <p:spPr>
          <a:xfrm>
            <a:off x="5047488" y="1600200"/>
            <a:ext cx="2084832" cy="1417320"/>
          </a:xfrm>
          <a:prstGeom prst="roundRect">
            <a:avLst>
              <a:gd name="adj" fmla="val 5161"/>
            </a:avLst>
          </a:prstGeom>
          <a:solidFill>
            <a:schemeClr val="bg1"/>
          </a:solidFill>
          <a:ln/>
          <a:effectLst>
            <a:outerShdw sx="100000" sy="100000" kx="0" ky="0" algn="bl" rotWithShape="0" blurRad="127000" dist="25400" dir="5400000">
              <a:srgbClr val="1B1A33">
                <a:alpha val="8000"/>
              </a:srgbClr>
            </a:outerShdw>
          </a:effectLst>
        </p:spPr>
      </p:sp>
      <p:sp>
        <p:nvSpPr>
          <p:cNvPr id="11" name="Text 9"/>
          <p:cNvSpPr txBox="1"/>
          <p:nvPr/>
        </p:nvSpPr>
        <p:spPr>
          <a:xfrm>
            <a:off x="5138928" y="1709928"/>
            <a:ext cx="1901952" cy="73152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0.867</a:t>
            </a:r>
            <a:endParaRPr lang="en-US" sz="3600" dirty="0"/>
          </a:p>
        </p:txBody>
      </p:sp>
      <p:sp>
        <p:nvSpPr>
          <p:cNvPr id="12" name="Text 10"/>
          <p:cNvSpPr txBox="1"/>
          <p:nvPr/>
        </p:nvSpPr>
        <p:spPr>
          <a:xfrm>
            <a:off x="5138928" y="2468880"/>
            <a:ext cx="1901952" cy="411480"/>
          </a:xfrm>
          <a:prstGeom prst="rect">
            <a:avLst/>
          </a:prstGeom>
          <a:noFill/>
          <a:ln/>
        </p:spPr>
        <p:txBody>
          <a:bodyPr wrap="square" lIns="0" tIns="0" rIns="0" bIns="0" rtlCol="0" anchor="t"/>
          <a:lstStyle/>
          <a:p>
            <a:pPr algn="ctr" indent="0" marL="0">
              <a:buNone/>
            </a:pPr>
            <a:r>
              <a:rPr lang="en-US" sz="1300" dirty="0">
                <a:solidFill>
                  <a:schemeClr val="accent5"/>
                </a:solidFill>
              </a:rPr>
              <a:t>Cell precision</a:t>
            </a:r>
            <a:endParaRPr lang="en-US" sz="1300" dirty="0"/>
          </a:p>
        </p:txBody>
      </p:sp>
      <p:sp>
        <p:nvSpPr>
          <p:cNvPr id="13" name="result stat 3"/>
          <p:cNvSpPr/>
          <p:nvPr/>
        </p:nvSpPr>
        <p:spPr>
          <a:xfrm>
            <a:off x="7296912" y="1600200"/>
            <a:ext cx="2084832" cy="1417320"/>
          </a:xfrm>
          <a:prstGeom prst="roundRect">
            <a:avLst>
              <a:gd name="adj" fmla="val 5161"/>
            </a:avLst>
          </a:prstGeom>
          <a:solidFill>
            <a:schemeClr val="bg1"/>
          </a:solidFill>
          <a:ln/>
          <a:effectLst>
            <a:outerShdw sx="100000" sy="100000" kx="0" ky="0" algn="bl" rotWithShape="0" blurRad="127000" dist="25400" dir="5400000">
              <a:srgbClr val="1B1A33">
                <a:alpha val="8000"/>
              </a:srgbClr>
            </a:outerShdw>
          </a:effectLst>
        </p:spPr>
      </p:sp>
      <p:sp>
        <p:nvSpPr>
          <p:cNvPr id="14" name="Text 12"/>
          <p:cNvSpPr txBox="1"/>
          <p:nvPr/>
        </p:nvSpPr>
        <p:spPr>
          <a:xfrm>
            <a:off x="7388352" y="1709928"/>
            <a:ext cx="1901952" cy="731520"/>
          </a:xfrm>
          <a:prstGeom prst="rect">
            <a:avLst/>
          </a:prstGeom>
          <a:noFill/>
          <a:ln/>
        </p:spPr>
        <p:txBody>
          <a:bodyPr wrap="square" lIns="0" tIns="0" rIns="0" bIns="0" rtlCol="0" anchor="t"/>
          <a:lstStyle/>
          <a:p>
            <a:pPr algn="ctr" indent="0" marL="0">
              <a:buNone/>
            </a:pPr>
            <a:r>
              <a:rPr lang="en-US" sz="3600" b="1" dirty="0">
                <a:solidFill>
                  <a:schemeClr val="accent1"/>
                </a:solidFill>
                <a:latin typeface="Cambria" pitchFamily="34" charset="0"/>
                <a:ea typeface="Cambria" pitchFamily="34" charset="-122"/>
                <a:cs typeface="Cambria" pitchFamily="34" charset="-120"/>
              </a:rPr>
              <a:t>0.837</a:t>
            </a:r>
            <a:endParaRPr lang="en-US" sz="3600" dirty="0"/>
          </a:p>
        </p:txBody>
      </p:sp>
      <p:sp>
        <p:nvSpPr>
          <p:cNvPr id="15" name="Text 13"/>
          <p:cNvSpPr txBox="1"/>
          <p:nvPr/>
        </p:nvSpPr>
        <p:spPr>
          <a:xfrm>
            <a:off x="7388352" y="2468880"/>
            <a:ext cx="1901952" cy="411480"/>
          </a:xfrm>
          <a:prstGeom prst="rect">
            <a:avLst/>
          </a:prstGeom>
          <a:noFill/>
          <a:ln/>
        </p:spPr>
        <p:txBody>
          <a:bodyPr wrap="square" lIns="0" tIns="0" rIns="0" bIns="0" rtlCol="0" anchor="t"/>
          <a:lstStyle/>
          <a:p>
            <a:pPr algn="ctr" indent="0" marL="0">
              <a:buNone/>
            </a:pPr>
            <a:r>
              <a:rPr lang="en-US" sz="1300" dirty="0">
                <a:solidFill>
                  <a:schemeClr val="accent5"/>
                </a:solidFill>
              </a:rPr>
              <a:t>Cell recall</a:t>
            </a:r>
            <a:endParaRPr lang="en-US" sz="1300" dirty="0"/>
          </a:p>
        </p:txBody>
      </p:sp>
      <p:sp>
        <p:nvSpPr>
          <p:cNvPr id="16" name="result stat 4"/>
          <p:cNvSpPr/>
          <p:nvPr/>
        </p:nvSpPr>
        <p:spPr>
          <a:xfrm>
            <a:off x="9546336" y="1600200"/>
            <a:ext cx="2084832" cy="1417320"/>
          </a:xfrm>
          <a:prstGeom prst="roundRect">
            <a:avLst>
              <a:gd name="adj" fmla="val 5161"/>
            </a:avLst>
          </a:prstGeom>
          <a:solidFill>
            <a:schemeClr val="tx2"/>
          </a:solidFill>
          <a:ln/>
          <a:effectLst>
            <a:outerShdw sx="100000" sy="100000" kx="0" ky="0" algn="bl" rotWithShape="0" blurRad="127000" dist="25400" dir="5400000">
              <a:srgbClr val="1B1A33">
                <a:alpha val="8000"/>
              </a:srgbClr>
            </a:outerShdw>
          </a:effectLst>
        </p:spPr>
      </p:sp>
      <p:sp>
        <p:nvSpPr>
          <p:cNvPr id="17" name="Text 15"/>
          <p:cNvSpPr txBox="1"/>
          <p:nvPr/>
        </p:nvSpPr>
        <p:spPr>
          <a:xfrm>
            <a:off x="9637776" y="1709928"/>
            <a:ext cx="1901952" cy="731520"/>
          </a:xfrm>
          <a:prstGeom prst="rect">
            <a:avLst/>
          </a:prstGeom>
          <a:noFill/>
          <a:ln/>
        </p:spPr>
        <p:txBody>
          <a:bodyPr wrap="square" lIns="0" tIns="0" rIns="0" bIns="0" rtlCol="0" anchor="t"/>
          <a:lstStyle/>
          <a:p>
            <a:pPr algn="ctr" indent="0" marL="0">
              <a:buNone/>
            </a:pPr>
            <a:r>
              <a:rPr lang="en-US" sz="3600" b="1" dirty="0">
                <a:solidFill>
                  <a:schemeClr val="accent3"/>
                </a:solidFill>
                <a:latin typeface="Cambria" pitchFamily="34" charset="0"/>
                <a:ea typeface="Cambria" pitchFamily="34" charset="-122"/>
                <a:cs typeface="Cambria" pitchFamily="34" charset="-120"/>
              </a:rPr>
              <a:t>6.9 %</a:t>
            </a:r>
            <a:endParaRPr lang="en-US" sz="3600" dirty="0"/>
          </a:p>
        </p:txBody>
      </p:sp>
      <p:sp>
        <p:nvSpPr>
          <p:cNvPr id="18" name="Text 16"/>
          <p:cNvSpPr txBox="1"/>
          <p:nvPr/>
        </p:nvSpPr>
        <p:spPr>
          <a:xfrm>
            <a:off x="9637776" y="2468880"/>
            <a:ext cx="1901952" cy="411480"/>
          </a:xfrm>
          <a:prstGeom prst="rect">
            <a:avLst/>
          </a:prstGeom>
          <a:noFill/>
          <a:ln/>
        </p:spPr>
        <p:txBody>
          <a:bodyPr wrap="square" lIns="0" tIns="0" rIns="0" bIns="0" rtlCol="0" anchor="t"/>
          <a:lstStyle/>
          <a:p>
            <a:pPr algn="ctr" indent="0" marL="0">
              <a:buNone/>
            </a:pPr>
            <a:r>
              <a:rPr lang="en-US" sz="1300" dirty="0">
                <a:solidFill>
                  <a:schemeClr val="bg2"/>
                </a:solidFill>
              </a:rPr>
              <a:t>Median count error</a:t>
            </a:r>
            <a:endParaRPr lang="en-US" sz="1300" dirty="0"/>
          </a:p>
        </p:txBody>
      </p:sp>
      <p:sp>
        <p:nvSpPr>
          <p:cNvPr id="19" name="Text 17"/>
          <p:cNvSpPr txBox="1"/>
          <p:nvPr/>
        </p:nvSpPr>
        <p:spPr>
          <a:xfrm>
            <a:off x="548640" y="3127248"/>
            <a:ext cx="11064240" cy="274320"/>
          </a:xfrm>
          <a:prstGeom prst="rect">
            <a:avLst/>
          </a:prstGeom>
          <a:noFill/>
          <a:ln/>
        </p:spPr>
        <p:txBody>
          <a:bodyPr wrap="square" lIns="0" tIns="0" rIns="0" bIns="0" rtlCol="0" anchor="t"/>
          <a:lstStyle/>
          <a:p>
            <a:pPr indent="0" marL="0">
              <a:buNone/>
            </a:pPr>
            <a:r>
              <a:rPr lang="en-US" sz="1200" i="1" dirty="0">
                <a:solidFill>
                  <a:schemeClr val="accent5"/>
                </a:solidFill>
              </a:rPr>
              <a:t>67 test images the model never saw during training or tuning</a:t>
            </a:r>
            <a:endParaRPr lang="en-US" sz="1200" dirty="0"/>
          </a:p>
        </p:txBody>
      </p:sp>
      <p:sp>
        <p:nvSpPr>
          <p:cNvPr id="20" name="sample result 0"/>
          <p:cNvSpPr/>
          <p:nvPr/>
        </p:nvSpPr>
        <p:spPr>
          <a:xfrm>
            <a:off x="548640" y="3520440"/>
            <a:ext cx="3566160" cy="2606040"/>
          </a:xfrm>
          <a:prstGeom prst="roundRect">
            <a:avLst>
              <a:gd name="adj" fmla="val 2807"/>
            </a:avLst>
          </a:prstGeom>
          <a:solidFill>
            <a:schemeClr val="bg1"/>
          </a:solidFill>
          <a:ln/>
          <a:effectLst>
            <a:outerShdw sx="100000" sy="100000" kx="0" ky="0" algn="bl" rotWithShape="0" blurRad="127000" dist="25400" dir="5400000">
              <a:srgbClr val="1B1A33">
                <a:alpha val="8000"/>
              </a:srgbClr>
            </a:outerShdw>
          </a:effectLst>
        </p:spPr>
      </p:sp>
      <p:pic>
        <p:nvPicPr>
          <p:cNvPr id="21" name="Sparse overlay" descr="C:\Users\admin\AppData\Local\Temp\claude\c--Users-admin-Desktop-Microscopic-Cell-Image\a5404c32-f9e8-462d-b663-48f8cfe84d83\scratchpad\deck\img\01_sparse_overlay.png">    </p:cNvPr>
          <p:cNvPicPr>
            <a:picLocks noChangeAspect="1"/>
          </p:cNvPicPr>
          <p:nvPr/>
        </p:nvPicPr>
        <p:blipFill>
          <a:blip r:embed="rId1"/>
          <a:stretch>
            <a:fillRect/>
          </a:stretch>
        </p:blipFill>
        <p:spPr>
          <a:xfrm>
            <a:off x="685800" y="3703320"/>
            <a:ext cx="1783080" cy="1783080"/>
          </a:xfrm>
          <a:prstGeom prst="rect">
            <a:avLst/>
          </a:prstGeom>
        </p:spPr>
      </p:pic>
      <p:sp>
        <p:nvSpPr>
          <p:cNvPr id="22" name="Text 19"/>
          <p:cNvSpPr txBox="1"/>
          <p:nvPr/>
        </p:nvSpPr>
        <p:spPr>
          <a:xfrm>
            <a:off x="2560320" y="3703320"/>
            <a:ext cx="1463040" cy="548640"/>
          </a:xfrm>
          <a:prstGeom prst="rect">
            <a:avLst/>
          </a:prstGeom>
          <a:noFill/>
          <a:ln/>
        </p:spPr>
        <p:txBody>
          <a:bodyPr wrap="square" lIns="0" tIns="0" rIns="0" bIns="0" rtlCol="0" anchor="t"/>
          <a:lstStyle/>
          <a:p>
            <a:pPr indent="0" marL="0">
              <a:buNone/>
            </a:pPr>
            <a:r>
              <a:rPr lang="en-US" sz="1400" b="1" dirty="0">
                <a:solidFill>
                  <a:schemeClr val="tx1"/>
                </a:solidFill>
              </a:rPr>
              <a:t>Sparse</a:t>
            </a:r>
            <a:endParaRPr lang="en-US" sz="1400" dirty="0"/>
          </a:p>
        </p:txBody>
      </p:sp>
      <p:sp>
        <p:nvSpPr>
          <p:cNvPr id="23" name="Text 20"/>
          <p:cNvSpPr txBox="1"/>
          <p:nvPr/>
        </p:nvSpPr>
        <p:spPr>
          <a:xfrm>
            <a:off x="2560320" y="4297680"/>
            <a:ext cx="1463040" cy="548640"/>
          </a:xfrm>
          <a:prstGeom prst="rect">
            <a:avLst/>
          </a:prstGeom>
          <a:noFill/>
          <a:ln/>
        </p:spPr>
        <p:txBody>
          <a:bodyPr wrap="square" lIns="0" tIns="0" rIns="0" bIns="0" rtlCol="0" anchor="t"/>
          <a:lstStyle/>
          <a:p>
            <a:pPr indent="0" marL="0">
              <a:buNone/>
            </a:pPr>
            <a:r>
              <a:rPr lang="en-US" sz="1400" b="1" dirty="0">
                <a:solidFill>
                  <a:schemeClr val="accent2"/>
                </a:solidFill>
              </a:rPr>
              <a:t>11 found / 11 true</a:t>
            </a:r>
            <a:endParaRPr lang="en-US" sz="1400" dirty="0"/>
          </a:p>
        </p:txBody>
      </p:sp>
      <p:sp>
        <p:nvSpPr>
          <p:cNvPr id="24" name="Text 21"/>
          <p:cNvSpPr txBox="1"/>
          <p:nvPr/>
        </p:nvSpPr>
        <p:spPr>
          <a:xfrm>
            <a:off x="2560320" y="4892040"/>
            <a:ext cx="1463040" cy="1097280"/>
          </a:xfrm>
          <a:prstGeom prst="rect">
            <a:avLst/>
          </a:prstGeom>
          <a:noFill/>
          <a:ln/>
        </p:spPr>
        <p:txBody>
          <a:bodyPr wrap="square" lIns="0" tIns="0" rIns="0" bIns="0" rtlCol="0" anchor="t"/>
          <a:lstStyle/>
          <a:p>
            <a:pPr indent="0" marL="0">
              <a:buNone/>
            </a:pPr>
            <a:r>
              <a:rPr lang="en-US" sz="1200" dirty="0">
                <a:solidFill>
                  <a:schemeClr val="accent5"/>
                </a:solidFill>
              </a:rPr>
              <a:t>All cells found</a:t>
            </a:r>
            <a:endParaRPr lang="en-US" sz="1200" dirty="0"/>
          </a:p>
        </p:txBody>
      </p:sp>
      <p:sp>
        <p:nvSpPr>
          <p:cNvPr id="25" name="sample result 1"/>
          <p:cNvSpPr/>
          <p:nvPr/>
        </p:nvSpPr>
        <p:spPr>
          <a:xfrm>
            <a:off x="4297680" y="3520440"/>
            <a:ext cx="3566160" cy="2606040"/>
          </a:xfrm>
          <a:prstGeom prst="roundRect">
            <a:avLst>
              <a:gd name="adj" fmla="val 2807"/>
            </a:avLst>
          </a:prstGeom>
          <a:solidFill>
            <a:schemeClr val="bg1"/>
          </a:solidFill>
          <a:ln/>
          <a:effectLst>
            <a:outerShdw sx="100000" sy="100000" kx="0" ky="0" algn="bl" rotWithShape="0" blurRad="127000" dist="25400" dir="5400000">
              <a:srgbClr val="1B1A33">
                <a:alpha val="8000"/>
              </a:srgbClr>
            </a:outerShdw>
          </a:effectLst>
        </p:spPr>
      </p:sp>
      <p:pic>
        <p:nvPicPr>
          <p:cNvPr id="26" name="Dense, touching overlay" descr="C:\Users\admin\AppData\Local\Temp\claude\c--Users-admin-Desktop-Microscopic-Cell-Image\a5404c32-f9e8-462d-b663-48f8cfe84d83\scratchpad\deck\img\02_dense_touching_overlay.png">    </p:cNvPr>
          <p:cNvPicPr>
            <a:picLocks noChangeAspect="1"/>
          </p:cNvPicPr>
          <p:nvPr/>
        </p:nvPicPr>
        <p:blipFill>
          <a:blip r:embed="rId2"/>
          <a:stretch>
            <a:fillRect/>
          </a:stretch>
        </p:blipFill>
        <p:spPr>
          <a:xfrm>
            <a:off x="4434840" y="3703320"/>
            <a:ext cx="1783080" cy="1426464"/>
          </a:xfrm>
          <a:prstGeom prst="rect">
            <a:avLst/>
          </a:prstGeom>
        </p:spPr>
      </p:pic>
      <p:sp>
        <p:nvSpPr>
          <p:cNvPr id="27" name="Text 23"/>
          <p:cNvSpPr txBox="1"/>
          <p:nvPr/>
        </p:nvSpPr>
        <p:spPr>
          <a:xfrm>
            <a:off x="6309360" y="3703320"/>
            <a:ext cx="1463040" cy="548640"/>
          </a:xfrm>
          <a:prstGeom prst="rect">
            <a:avLst/>
          </a:prstGeom>
          <a:noFill/>
          <a:ln/>
        </p:spPr>
        <p:txBody>
          <a:bodyPr wrap="square" lIns="0" tIns="0" rIns="0" bIns="0" rtlCol="0" anchor="t"/>
          <a:lstStyle/>
          <a:p>
            <a:pPr indent="0" marL="0">
              <a:buNone/>
            </a:pPr>
            <a:r>
              <a:rPr lang="en-US" sz="1400" b="1" dirty="0">
                <a:solidFill>
                  <a:schemeClr val="tx1"/>
                </a:solidFill>
              </a:rPr>
              <a:t>Dense, touching</a:t>
            </a:r>
            <a:endParaRPr lang="en-US" sz="1400" dirty="0"/>
          </a:p>
        </p:txBody>
      </p:sp>
      <p:sp>
        <p:nvSpPr>
          <p:cNvPr id="28" name="Text 24"/>
          <p:cNvSpPr txBox="1"/>
          <p:nvPr/>
        </p:nvSpPr>
        <p:spPr>
          <a:xfrm>
            <a:off x="6309360" y="4297680"/>
            <a:ext cx="1463040" cy="548640"/>
          </a:xfrm>
          <a:prstGeom prst="rect">
            <a:avLst/>
          </a:prstGeom>
          <a:noFill/>
          <a:ln/>
        </p:spPr>
        <p:txBody>
          <a:bodyPr wrap="square" lIns="0" tIns="0" rIns="0" bIns="0" rtlCol="0" anchor="t"/>
          <a:lstStyle/>
          <a:p>
            <a:pPr indent="0" marL="0">
              <a:buNone/>
            </a:pPr>
            <a:r>
              <a:rPr lang="en-US" sz="1400" b="1" dirty="0">
                <a:solidFill>
                  <a:schemeClr val="accent4"/>
                </a:solidFill>
              </a:rPr>
              <a:t>52 found / 87 true</a:t>
            </a:r>
            <a:endParaRPr lang="en-US" sz="1400" dirty="0"/>
          </a:p>
        </p:txBody>
      </p:sp>
      <p:sp>
        <p:nvSpPr>
          <p:cNvPr id="29" name="Text 25"/>
          <p:cNvSpPr txBox="1"/>
          <p:nvPr/>
        </p:nvSpPr>
        <p:spPr>
          <a:xfrm>
            <a:off x="6309360" y="4892040"/>
            <a:ext cx="1463040" cy="1097280"/>
          </a:xfrm>
          <a:prstGeom prst="rect">
            <a:avLst/>
          </a:prstGeom>
          <a:noFill/>
          <a:ln/>
        </p:spPr>
        <p:txBody>
          <a:bodyPr wrap="square" lIns="0" tIns="0" rIns="0" bIns="0" rtlCol="0" anchor="t"/>
          <a:lstStyle/>
          <a:p>
            <a:pPr indent="0" marL="0">
              <a:buNone/>
            </a:pPr>
            <a:r>
              <a:rPr lang="en-US" sz="1200" dirty="0">
                <a:solidFill>
                  <a:schemeClr val="accent5"/>
                </a:solidFill>
              </a:rPr>
              <a:t>Hardest case: many cells touch with no gap</a:t>
            </a:r>
            <a:endParaRPr lang="en-US" sz="1200" dirty="0"/>
          </a:p>
        </p:txBody>
      </p:sp>
      <p:sp>
        <p:nvSpPr>
          <p:cNvPr id="30" name="sample result 2"/>
          <p:cNvSpPr/>
          <p:nvPr/>
        </p:nvSpPr>
        <p:spPr>
          <a:xfrm>
            <a:off x="8046720" y="3520440"/>
            <a:ext cx="3566160" cy="2606040"/>
          </a:xfrm>
          <a:prstGeom prst="roundRect">
            <a:avLst>
              <a:gd name="adj" fmla="val 2807"/>
            </a:avLst>
          </a:prstGeom>
          <a:solidFill>
            <a:schemeClr val="bg1"/>
          </a:solidFill>
          <a:ln/>
          <a:effectLst>
            <a:outerShdw sx="100000" sy="100000" kx="0" ky="0" algn="bl" rotWithShape="0" blurRad="127000" dist="25400" dir="5400000">
              <a:srgbClr val="1B1A33">
                <a:alpha val="8000"/>
              </a:srgbClr>
            </a:outerShdw>
          </a:effectLst>
        </p:spPr>
      </p:sp>
      <p:pic>
        <p:nvPicPr>
          <p:cNvPr id="31" name="H&amp;E low contrast overlay" descr="C:\Users\admin\AppData\Local\Temp\claude\c--Users-admin-Desktop-Microscopic-Cell-Image\a5404c32-f9e8-462d-b663-48f8cfe84d83\scratchpad\deck\img\03_low_contrast_overlay.png">    </p:cNvPr>
          <p:cNvPicPr>
            <a:picLocks noChangeAspect="1"/>
          </p:cNvPicPr>
          <p:nvPr/>
        </p:nvPicPr>
        <p:blipFill>
          <a:blip r:embed="rId3"/>
          <a:stretch>
            <a:fillRect/>
          </a:stretch>
        </p:blipFill>
        <p:spPr>
          <a:xfrm>
            <a:off x="8183880" y="3703320"/>
            <a:ext cx="1783080" cy="1426464"/>
          </a:xfrm>
          <a:prstGeom prst="rect">
            <a:avLst/>
          </a:prstGeom>
        </p:spPr>
      </p:pic>
      <p:sp>
        <p:nvSpPr>
          <p:cNvPr id="32" name="Text 27"/>
          <p:cNvSpPr txBox="1"/>
          <p:nvPr/>
        </p:nvSpPr>
        <p:spPr>
          <a:xfrm>
            <a:off x="10058400" y="3703320"/>
            <a:ext cx="1463040" cy="548640"/>
          </a:xfrm>
          <a:prstGeom prst="rect">
            <a:avLst/>
          </a:prstGeom>
          <a:noFill/>
          <a:ln/>
        </p:spPr>
        <p:txBody>
          <a:bodyPr wrap="square" lIns="0" tIns="0" rIns="0" bIns="0" rtlCol="0" anchor="t"/>
          <a:lstStyle/>
          <a:p>
            <a:pPr indent="0" marL="0">
              <a:buNone/>
            </a:pPr>
            <a:r>
              <a:rPr lang="en-US" sz="1400" b="1" dirty="0">
                <a:solidFill>
                  <a:schemeClr val="tx1"/>
                </a:solidFill>
              </a:rPr>
              <a:t>H&amp;E low contrast</a:t>
            </a:r>
            <a:endParaRPr lang="en-US" sz="1400" dirty="0"/>
          </a:p>
        </p:txBody>
      </p:sp>
      <p:sp>
        <p:nvSpPr>
          <p:cNvPr id="33" name="Text 28"/>
          <p:cNvSpPr txBox="1"/>
          <p:nvPr/>
        </p:nvSpPr>
        <p:spPr>
          <a:xfrm>
            <a:off x="10058400" y="4297680"/>
            <a:ext cx="1463040" cy="548640"/>
          </a:xfrm>
          <a:prstGeom prst="rect">
            <a:avLst/>
          </a:prstGeom>
          <a:noFill/>
          <a:ln/>
        </p:spPr>
        <p:txBody>
          <a:bodyPr wrap="square" lIns="0" tIns="0" rIns="0" bIns="0" rtlCol="0" anchor="t"/>
          <a:lstStyle/>
          <a:p>
            <a:pPr indent="0" marL="0">
              <a:buNone/>
            </a:pPr>
            <a:r>
              <a:rPr lang="en-US" sz="1400" b="1" dirty="0">
                <a:solidFill>
                  <a:schemeClr val="accent3"/>
                </a:solidFill>
              </a:rPr>
              <a:t>20 found / 12 true</a:t>
            </a:r>
            <a:endParaRPr lang="en-US" sz="1400" dirty="0"/>
          </a:p>
        </p:txBody>
      </p:sp>
      <p:sp>
        <p:nvSpPr>
          <p:cNvPr id="34" name="Text 29"/>
          <p:cNvSpPr txBox="1"/>
          <p:nvPr/>
        </p:nvSpPr>
        <p:spPr>
          <a:xfrm>
            <a:off x="10058400" y="4892040"/>
            <a:ext cx="1463040" cy="1097280"/>
          </a:xfrm>
          <a:prstGeom prst="rect">
            <a:avLst/>
          </a:prstGeom>
          <a:noFill/>
          <a:ln/>
        </p:spPr>
        <p:txBody>
          <a:bodyPr wrap="square" lIns="0" tIns="0" rIns="0" bIns="0" rtlCol="0" anchor="t"/>
          <a:lstStyle/>
          <a:p>
            <a:pPr indent="0" marL="0">
              <a:buNone/>
            </a:pPr>
            <a:r>
              <a:rPr lang="en-US" sz="1200" dirty="0">
                <a:solidFill>
                  <a:schemeClr val="accent5"/>
                </a:solidFill>
              </a:rPr>
              <a:t>Elongated nuclei get over-split</a:t>
            </a:r>
            <a:endParaRPr lang="en-US" sz="12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07  ·  RELIABILITY</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Robustness, error handling and testing</a:t>
            </a:r>
            <a:endParaRPr lang="en-US" sz="3200" dirty="0"/>
          </a:p>
        </p:txBody>
      </p:sp>
      <p:sp>
        <p:nvSpPr>
          <p:cNvPr id="4" name="flow card"/>
          <p:cNvSpPr/>
          <p:nvPr/>
        </p:nvSpPr>
        <p:spPr>
          <a:xfrm>
            <a:off x="548640" y="1600200"/>
            <a:ext cx="7406640" cy="4526280"/>
          </a:xfrm>
          <a:prstGeom prst="roundRect">
            <a:avLst>
              <a:gd name="adj" fmla="val 1616"/>
            </a:avLst>
          </a:prstGeom>
          <a:solidFill>
            <a:schemeClr val="bg2"/>
          </a:solidFill>
          <a:ln/>
          <a:effectLst>
            <a:outerShdw sx="100000" sy="100000" kx="0" ky="0" algn="bl" rotWithShape="0" blurRad="127000" dist="25400" dir="5400000">
              <a:srgbClr val="1B1A33">
                <a:alpha val="8000"/>
              </a:srgbClr>
            </a:outerShdw>
          </a:effectLst>
        </p:spPr>
      </p:sp>
      <p:pic>
        <p:nvPicPr>
          <p:cNvPr id="5" name="error handling flow" descr="Error handling decision flow">    </p:cNvPr>
          <p:cNvPicPr>
            <a:picLocks noChangeAspect="1"/>
          </p:cNvPicPr>
          <p:nvPr/>
        </p:nvPicPr>
        <p:blipFill>
          <a:blip r:embed="rId1"/>
          <a:stretch>
            <a:fillRect/>
          </a:stretch>
        </p:blipFill>
        <p:spPr>
          <a:xfrm>
            <a:off x="685800" y="2344979"/>
            <a:ext cx="7132320" cy="3036722"/>
          </a:xfrm>
          <a:prstGeom prst="rect">
            <a:avLst/>
          </a:prstGeom>
        </p:spPr>
      </p:pic>
      <p:sp>
        <p:nvSpPr>
          <p:cNvPr id="6" name="robust 0"/>
          <p:cNvSpPr/>
          <p:nvPr/>
        </p:nvSpPr>
        <p:spPr>
          <a:xfrm>
            <a:off x="8183880" y="1600200"/>
            <a:ext cx="3429000" cy="1005840"/>
          </a:xfrm>
          <a:prstGeom prst="roundRect">
            <a:avLst>
              <a:gd name="adj" fmla="val 7273"/>
            </a:avLst>
          </a:prstGeom>
          <a:solidFill>
            <a:schemeClr val="bg1"/>
          </a:solidFill>
          <a:ln/>
          <a:effectLst>
            <a:outerShdw sx="100000" sy="100000" kx="0" ky="0" algn="bl" rotWithShape="0" blurRad="127000" dist="25400" dir="5400000">
              <a:srgbClr val="1B1A33">
                <a:alpha val="8000"/>
              </a:srgbClr>
            </a:outerShdw>
          </a:effectLst>
        </p:spPr>
      </p:sp>
      <p:sp>
        <p:nvSpPr>
          <p:cNvPr id="7" name="icon LuShieldCheck"/>
          <p:cNvSpPr/>
          <p:nvPr/>
        </p:nvSpPr>
        <p:spPr>
          <a:xfrm>
            <a:off x="8321040" y="1828800"/>
            <a:ext cx="548640" cy="548640"/>
          </a:xfrm>
          <a:prstGeom prst="ellipse">
            <a:avLst/>
          </a:prstGeom>
          <a:solidFill>
            <a:schemeClr val="accent1"/>
          </a:solidFill>
          <a:ln/>
        </p:spPr>
      </p:sp>
      <p:pic>
        <p:nvPicPr>
          <p:cNvPr id="8" name="LuShieldCheck" descr="preencoded.png">    </p:cNvPr>
          <p:cNvPicPr>
            <a:picLocks noChangeAspect="1"/>
          </p:cNvPicPr>
          <p:nvPr/>
        </p:nvPicPr>
        <p:blipFill>
          <a:blip r:embed="rId2"/>
          <a:stretch>
            <a:fillRect/>
          </a:stretch>
        </p:blipFill>
        <p:spPr>
          <a:xfrm>
            <a:off x="8458200" y="1965960"/>
            <a:ext cx="274320" cy="274320"/>
          </a:xfrm>
          <a:prstGeom prst="rect">
            <a:avLst/>
          </a:prstGeom>
        </p:spPr>
      </p:pic>
      <p:sp>
        <p:nvSpPr>
          <p:cNvPr id="9" name="Text 5"/>
          <p:cNvSpPr txBox="1"/>
          <p:nvPr/>
        </p:nvSpPr>
        <p:spPr>
          <a:xfrm>
            <a:off x="9006840" y="1691640"/>
            <a:ext cx="2514600" cy="320040"/>
          </a:xfrm>
          <a:prstGeom prst="rect">
            <a:avLst/>
          </a:prstGeom>
          <a:noFill/>
          <a:ln/>
        </p:spPr>
        <p:txBody>
          <a:bodyPr wrap="square" lIns="0" tIns="0" rIns="0" bIns="0" rtlCol="0" anchor="t"/>
          <a:lstStyle/>
          <a:p>
            <a:pPr indent="0" marL="0">
              <a:buNone/>
            </a:pPr>
            <a:r>
              <a:rPr lang="en-US" sz="1400" b="1" dirty="0">
                <a:solidFill>
                  <a:schemeClr val="tx1"/>
                </a:solidFill>
              </a:rPr>
              <a:t>58 unit tests</a:t>
            </a:r>
            <a:endParaRPr lang="en-US" sz="1400" dirty="0"/>
          </a:p>
        </p:txBody>
      </p:sp>
      <p:sp>
        <p:nvSpPr>
          <p:cNvPr id="10" name="Text 6"/>
          <p:cNvSpPr txBox="1"/>
          <p:nvPr/>
        </p:nvSpPr>
        <p:spPr>
          <a:xfrm>
            <a:off x="9006840" y="2011680"/>
            <a:ext cx="2514600" cy="548640"/>
          </a:xfrm>
          <a:prstGeom prst="rect">
            <a:avLst/>
          </a:prstGeom>
          <a:noFill/>
          <a:ln/>
        </p:spPr>
        <p:txBody>
          <a:bodyPr wrap="square" lIns="0" tIns="0" rIns="0" bIns="0" rtlCol="0" anchor="t"/>
          <a:lstStyle/>
          <a:p>
            <a:pPr indent="0" marL="0">
              <a:buNone/>
            </a:pPr>
            <a:r>
              <a:rPr lang="en-US" sz="1100" dirty="0">
                <a:solidFill>
                  <a:schemeClr val="accent5"/>
                </a:solidFill>
              </a:rPr>
              <a:t>All pass in 4.4 s on CPU with a fake U-Net</a:t>
            </a:r>
            <a:endParaRPr lang="en-US" sz="1100" dirty="0"/>
          </a:p>
        </p:txBody>
      </p:sp>
      <p:sp>
        <p:nvSpPr>
          <p:cNvPr id="11" name="robust 1"/>
          <p:cNvSpPr/>
          <p:nvPr/>
        </p:nvSpPr>
        <p:spPr>
          <a:xfrm>
            <a:off x="8183880" y="2743200"/>
            <a:ext cx="3429000" cy="1005840"/>
          </a:xfrm>
          <a:prstGeom prst="roundRect">
            <a:avLst>
              <a:gd name="adj" fmla="val 7273"/>
            </a:avLst>
          </a:prstGeom>
          <a:solidFill>
            <a:schemeClr val="bg1"/>
          </a:solidFill>
          <a:ln/>
          <a:effectLst>
            <a:outerShdw sx="100000" sy="100000" kx="0" ky="0" algn="bl" rotWithShape="0" blurRad="127000" dist="25400" dir="5400000">
              <a:srgbClr val="1B1A33">
                <a:alpha val="8000"/>
              </a:srgbClr>
            </a:outerShdw>
          </a:effectLst>
        </p:spPr>
      </p:sp>
      <p:sp>
        <p:nvSpPr>
          <p:cNvPr id="12" name="icon LuMemoryStick"/>
          <p:cNvSpPr/>
          <p:nvPr/>
        </p:nvSpPr>
        <p:spPr>
          <a:xfrm>
            <a:off x="8321040" y="2971800"/>
            <a:ext cx="548640" cy="548640"/>
          </a:xfrm>
          <a:prstGeom prst="ellipse">
            <a:avLst/>
          </a:prstGeom>
          <a:solidFill>
            <a:schemeClr val="accent2"/>
          </a:solidFill>
          <a:ln/>
        </p:spPr>
      </p:sp>
      <p:pic>
        <p:nvPicPr>
          <p:cNvPr id="13" name="LuMemoryStick" descr="preencoded.png">    </p:cNvPr>
          <p:cNvPicPr>
            <a:picLocks noChangeAspect="1"/>
          </p:cNvPicPr>
          <p:nvPr/>
        </p:nvPicPr>
        <p:blipFill>
          <a:blip r:embed="rId3"/>
          <a:stretch>
            <a:fillRect/>
          </a:stretch>
        </p:blipFill>
        <p:spPr>
          <a:xfrm>
            <a:off x="8458200" y="3108960"/>
            <a:ext cx="274320" cy="274320"/>
          </a:xfrm>
          <a:prstGeom prst="rect">
            <a:avLst/>
          </a:prstGeom>
        </p:spPr>
      </p:pic>
      <p:sp>
        <p:nvSpPr>
          <p:cNvPr id="14" name="Text 9"/>
          <p:cNvSpPr txBox="1"/>
          <p:nvPr/>
        </p:nvSpPr>
        <p:spPr>
          <a:xfrm>
            <a:off x="9006840" y="2834640"/>
            <a:ext cx="2514600" cy="320040"/>
          </a:xfrm>
          <a:prstGeom prst="rect">
            <a:avLst/>
          </a:prstGeom>
          <a:noFill/>
          <a:ln/>
        </p:spPr>
        <p:txBody>
          <a:bodyPr wrap="square" lIns="0" tIns="0" rIns="0" bIns="0" rtlCol="0" anchor="t"/>
          <a:lstStyle/>
          <a:p>
            <a:pPr indent="0" marL="0">
              <a:buNone/>
            </a:pPr>
            <a:r>
              <a:rPr lang="en-US" sz="1400" b="1" dirty="0">
                <a:solidFill>
                  <a:schemeClr val="tx1"/>
                </a:solidFill>
              </a:rPr>
              <a:t>Out of GPU memory</a:t>
            </a:r>
            <a:endParaRPr lang="en-US" sz="1400" dirty="0"/>
          </a:p>
        </p:txBody>
      </p:sp>
      <p:sp>
        <p:nvSpPr>
          <p:cNvPr id="15" name="Text 10"/>
          <p:cNvSpPr txBox="1"/>
          <p:nvPr/>
        </p:nvSpPr>
        <p:spPr>
          <a:xfrm>
            <a:off x="9006840" y="3154680"/>
            <a:ext cx="2514600" cy="548640"/>
          </a:xfrm>
          <a:prstGeom prst="rect">
            <a:avLst/>
          </a:prstGeom>
          <a:noFill/>
          <a:ln/>
        </p:spPr>
        <p:txBody>
          <a:bodyPr wrap="square" lIns="0" tIns="0" rIns="0" bIns="0" rtlCol="0" anchor="t"/>
          <a:lstStyle/>
          <a:p>
            <a:pPr indent="0" marL="0">
              <a:buNone/>
            </a:pPr>
            <a:r>
              <a:rPr lang="en-US" sz="1100" dirty="0">
                <a:solidFill>
                  <a:schemeClr val="accent5"/>
                </a:solidFill>
              </a:rPr>
              <a:t>Retry in 512 px tiles, then CPU: 99.98 % same mask</a:t>
            </a:r>
            <a:endParaRPr lang="en-US" sz="1100" dirty="0"/>
          </a:p>
        </p:txBody>
      </p:sp>
      <p:sp>
        <p:nvSpPr>
          <p:cNvPr id="16" name="robust 2"/>
          <p:cNvSpPr/>
          <p:nvPr/>
        </p:nvSpPr>
        <p:spPr>
          <a:xfrm>
            <a:off x="8183880" y="3886200"/>
            <a:ext cx="3429000" cy="1005840"/>
          </a:xfrm>
          <a:prstGeom prst="roundRect">
            <a:avLst>
              <a:gd name="adj" fmla="val 7273"/>
            </a:avLst>
          </a:prstGeom>
          <a:solidFill>
            <a:schemeClr val="bg1"/>
          </a:solidFill>
          <a:ln/>
          <a:effectLst>
            <a:outerShdw sx="100000" sy="100000" kx="0" ky="0" algn="bl" rotWithShape="0" blurRad="127000" dist="25400" dir="5400000">
              <a:srgbClr val="1B1A33">
                <a:alpha val="8000"/>
              </a:srgbClr>
            </a:outerShdw>
          </a:effectLst>
        </p:spPr>
      </p:sp>
      <p:sp>
        <p:nvSpPr>
          <p:cNvPr id="17" name="icon LuImage"/>
          <p:cNvSpPr/>
          <p:nvPr/>
        </p:nvSpPr>
        <p:spPr>
          <a:xfrm>
            <a:off x="8321040" y="4114800"/>
            <a:ext cx="548640" cy="548640"/>
          </a:xfrm>
          <a:prstGeom prst="ellipse">
            <a:avLst/>
          </a:prstGeom>
          <a:solidFill>
            <a:schemeClr val="accent1"/>
          </a:solidFill>
          <a:ln/>
        </p:spPr>
      </p:sp>
      <p:pic>
        <p:nvPicPr>
          <p:cNvPr id="18" name="LuImage" descr="preencoded.png">    </p:cNvPr>
          <p:cNvPicPr>
            <a:picLocks noChangeAspect="1"/>
          </p:cNvPicPr>
          <p:nvPr/>
        </p:nvPicPr>
        <p:blipFill>
          <a:blip r:embed="rId4"/>
          <a:stretch>
            <a:fillRect/>
          </a:stretch>
        </p:blipFill>
        <p:spPr>
          <a:xfrm>
            <a:off x="8458200" y="4251960"/>
            <a:ext cx="274320" cy="274320"/>
          </a:xfrm>
          <a:prstGeom prst="rect">
            <a:avLst/>
          </a:prstGeom>
        </p:spPr>
      </p:pic>
      <p:sp>
        <p:nvSpPr>
          <p:cNvPr id="19" name="Text 13"/>
          <p:cNvSpPr txBox="1"/>
          <p:nvPr/>
        </p:nvSpPr>
        <p:spPr>
          <a:xfrm>
            <a:off x="9006840" y="3977640"/>
            <a:ext cx="2514600" cy="320040"/>
          </a:xfrm>
          <a:prstGeom prst="rect">
            <a:avLst/>
          </a:prstGeom>
          <a:noFill/>
          <a:ln/>
        </p:spPr>
        <p:txBody>
          <a:bodyPr wrap="square" lIns="0" tIns="0" rIns="0" bIns="0" rtlCol="0" anchor="t"/>
          <a:lstStyle/>
          <a:p>
            <a:pPr indent="0" marL="0">
              <a:buNone/>
            </a:pPr>
            <a:r>
              <a:rPr lang="en-US" sz="1400" b="1" dirty="0">
                <a:solidFill>
                  <a:schemeClr val="tx1"/>
                </a:solidFill>
              </a:rPr>
              <a:t>Any input</a:t>
            </a:r>
            <a:endParaRPr lang="en-US" sz="1400" dirty="0"/>
          </a:p>
        </p:txBody>
      </p:sp>
      <p:sp>
        <p:nvSpPr>
          <p:cNvPr id="20" name="Text 14"/>
          <p:cNvSpPr txBox="1"/>
          <p:nvPr/>
        </p:nvSpPr>
        <p:spPr>
          <a:xfrm>
            <a:off x="9006840" y="4297680"/>
            <a:ext cx="2514600" cy="548640"/>
          </a:xfrm>
          <a:prstGeom prst="rect">
            <a:avLst/>
          </a:prstGeom>
          <a:noFill/>
          <a:ln/>
        </p:spPr>
        <p:txBody>
          <a:bodyPr wrap="square" lIns="0" tIns="0" rIns="0" bIns="0" rtlCol="0" anchor="t"/>
          <a:lstStyle/>
          <a:p>
            <a:pPr indent="0" marL="0">
              <a:buNone/>
            </a:pPr>
            <a:r>
              <a:rPr lang="en-US" sz="1100" dirty="0">
                <a:solidFill>
                  <a:schemeClr val="accent5"/>
                </a:solidFill>
              </a:rPr>
              <a:t>Gray, RGBA, 16-bit TIF, float; bad files get a clear message</a:t>
            </a:r>
            <a:endParaRPr lang="en-US" sz="1100" dirty="0"/>
          </a:p>
        </p:txBody>
      </p:sp>
      <p:sp>
        <p:nvSpPr>
          <p:cNvPr id="21" name="robust 3"/>
          <p:cNvSpPr/>
          <p:nvPr/>
        </p:nvSpPr>
        <p:spPr>
          <a:xfrm>
            <a:off x="8183880" y="5029200"/>
            <a:ext cx="3429000" cy="1005840"/>
          </a:xfrm>
          <a:prstGeom prst="roundRect">
            <a:avLst>
              <a:gd name="adj" fmla="val 7273"/>
            </a:avLst>
          </a:prstGeom>
          <a:solidFill>
            <a:schemeClr val="bg1"/>
          </a:solidFill>
          <a:ln/>
          <a:effectLst>
            <a:outerShdw sx="100000" sy="100000" kx="0" ky="0" algn="bl" rotWithShape="0" blurRad="127000" dist="25400" dir="5400000">
              <a:srgbClr val="1B1A33">
                <a:alpha val="8000"/>
              </a:srgbClr>
            </a:outerShdw>
          </a:effectLst>
        </p:spPr>
      </p:sp>
      <p:sp>
        <p:nvSpPr>
          <p:cNvPr id="22" name="icon LuTimer"/>
          <p:cNvSpPr/>
          <p:nvPr/>
        </p:nvSpPr>
        <p:spPr>
          <a:xfrm>
            <a:off x="8321040" y="5257800"/>
            <a:ext cx="548640" cy="548640"/>
          </a:xfrm>
          <a:prstGeom prst="ellipse">
            <a:avLst/>
          </a:prstGeom>
          <a:solidFill>
            <a:schemeClr val="accent2"/>
          </a:solidFill>
          <a:ln/>
        </p:spPr>
      </p:sp>
      <p:pic>
        <p:nvPicPr>
          <p:cNvPr id="23" name="LuTimer" descr="preencoded.png">    </p:cNvPr>
          <p:cNvPicPr>
            <a:picLocks noChangeAspect="1"/>
          </p:cNvPicPr>
          <p:nvPr/>
        </p:nvPicPr>
        <p:blipFill>
          <a:blip r:embed="rId5"/>
          <a:stretch>
            <a:fillRect/>
          </a:stretch>
        </p:blipFill>
        <p:spPr>
          <a:xfrm>
            <a:off x="8458200" y="5394960"/>
            <a:ext cx="274320" cy="274320"/>
          </a:xfrm>
          <a:prstGeom prst="rect">
            <a:avLst/>
          </a:prstGeom>
        </p:spPr>
      </p:pic>
      <p:sp>
        <p:nvSpPr>
          <p:cNvPr id="24" name="Text 17"/>
          <p:cNvSpPr txBox="1"/>
          <p:nvPr/>
        </p:nvSpPr>
        <p:spPr>
          <a:xfrm>
            <a:off x="9006840" y="5120640"/>
            <a:ext cx="2514600" cy="320040"/>
          </a:xfrm>
          <a:prstGeom prst="rect">
            <a:avLst/>
          </a:prstGeom>
          <a:noFill/>
          <a:ln/>
        </p:spPr>
        <p:txBody>
          <a:bodyPr wrap="square" lIns="0" tIns="0" rIns="0" bIns="0" rtlCol="0" anchor="t"/>
          <a:lstStyle/>
          <a:p>
            <a:pPr indent="0" marL="0">
              <a:buNone/>
            </a:pPr>
            <a:r>
              <a:rPr lang="en-US" sz="1400" b="1" dirty="0">
                <a:solidFill>
                  <a:schemeClr val="tx1"/>
                </a:solidFill>
              </a:rPr>
              <a:t>Fast</a:t>
            </a:r>
            <a:endParaRPr lang="en-US" sz="1400" dirty="0"/>
          </a:p>
        </p:txBody>
      </p:sp>
      <p:sp>
        <p:nvSpPr>
          <p:cNvPr id="25" name="Text 18"/>
          <p:cNvSpPr txBox="1"/>
          <p:nvPr/>
        </p:nvSpPr>
        <p:spPr>
          <a:xfrm>
            <a:off x="9006840" y="5440680"/>
            <a:ext cx="2514600" cy="548640"/>
          </a:xfrm>
          <a:prstGeom prst="rect">
            <a:avLst/>
          </a:prstGeom>
          <a:noFill/>
          <a:ln/>
        </p:spPr>
        <p:txBody>
          <a:bodyPr wrap="square" lIns="0" tIns="0" rIns="0" bIns="0" rtlCol="0" anchor="t"/>
          <a:lstStyle/>
          <a:p>
            <a:pPr indent="0" marL="0">
              <a:buNone/>
            </a:pPr>
            <a:r>
              <a:rPr lang="en-US" sz="1100" dirty="0">
                <a:solidFill>
                  <a:schemeClr val="accent5"/>
                </a:solidFill>
              </a:rPr>
              <a:t>1024 × 819 image in 0.5 s; &gt; 4096 px auto-downscaled</a:t>
            </a:r>
            <a:endParaRPr lang="en-US" sz="11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08  ·  SOFTWARE</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The finished software</a:t>
            </a:r>
            <a:endParaRPr lang="en-US" sz="3200" dirty="0"/>
          </a:p>
        </p:txBody>
      </p:sp>
      <p:sp>
        <p:nvSpPr>
          <p:cNvPr id="4" name="screenshot card"/>
          <p:cNvSpPr/>
          <p:nvPr/>
        </p:nvSpPr>
        <p:spPr>
          <a:xfrm>
            <a:off x="548640" y="1600200"/>
            <a:ext cx="740664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pic>
        <p:nvPicPr>
          <p:cNvPr id="5" name="software screenshot" descr="Cell Segmentation and Counting web app">    </p:cNvPr>
          <p:cNvPicPr>
            <a:picLocks noChangeAspect="1"/>
          </p:cNvPicPr>
          <p:nvPr/>
        </p:nvPicPr>
        <p:blipFill>
          <a:blip r:embed="rId1"/>
          <a:stretch>
            <a:fillRect/>
          </a:stretch>
        </p:blipFill>
        <p:spPr>
          <a:xfrm>
            <a:off x="685800" y="1857375"/>
            <a:ext cx="7132320" cy="4011930"/>
          </a:xfrm>
          <a:prstGeom prst="rect">
            <a:avLst/>
          </a:prstGeom>
        </p:spPr>
      </p:pic>
      <p:sp>
        <p:nvSpPr>
          <p:cNvPr id="6" name="icon LuUpload"/>
          <p:cNvSpPr/>
          <p:nvPr/>
        </p:nvSpPr>
        <p:spPr>
          <a:xfrm>
            <a:off x="8229600" y="1645920"/>
            <a:ext cx="548640" cy="548640"/>
          </a:xfrm>
          <a:prstGeom prst="ellipse">
            <a:avLst/>
          </a:prstGeom>
          <a:solidFill>
            <a:schemeClr val="accent1"/>
          </a:solidFill>
          <a:ln/>
        </p:spPr>
      </p:sp>
      <p:pic>
        <p:nvPicPr>
          <p:cNvPr id="7" name="LuUpload" descr="preencoded.png">    </p:cNvPr>
          <p:cNvPicPr>
            <a:picLocks noChangeAspect="1"/>
          </p:cNvPicPr>
          <p:nvPr/>
        </p:nvPicPr>
        <p:blipFill>
          <a:blip r:embed="rId2"/>
          <a:stretch>
            <a:fillRect/>
          </a:stretch>
        </p:blipFill>
        <p:spPr>
          <a:xfrm>
            <a:off x="8366760" y="1783080"/>
            <a:ext cx="274320" cy="274320"/>
          </a:xfrm>
          <a:prstGeom prst="rect">
            <a:avLst/>
          </a:prstGeom>
        </p:spPr>
      </p:pic>
      <p:sp>
        <p:nvSpPr>
          <p:cNvPr id="8" name="Text 4"/>
          <p:cNvSpPr txBox="1"/>
          <p:nvPr/>
        </p:nvSpPr>
        <p:spPr>
          <a:xfrm>
            <a:off x="8915400" y="1627632"/>
            <a:ext cx="2697480" cy="320040"/>
          </a:xfrm>
          <a:prstGeom prst="rect">
            <a:avLst/>
          </a:prstGeom>
          <a:noFill/>
          <a:ln/>
        </p:spPr>
        <p:txBody>
          <a:bodyPr wrap="square" lIns="0" tIns="0" rIns="0" bIns="0" rtlCol="0" anchor="t"/>
          <a:lstStyle/>
          <a:p>
            <a:pPr indent="0" marL="0">
              <a:buNone/>
            </a:pPr>
            <a:r>
              <a:rPr lang="en-US" sz="1500" b="1" dirty="0">
                <a:solidFill>
                  <a:schemeClr val="tx1"/>
                </a:solidFill>
              </a:rPr>
              <a:t>Upload or pick a sample</a:t>
            </a:r>
            <a:endParaRPr lang="en-US" sz="1500" dirty="0"/>
          </a:p>
        </p:txBody>
      </p:sp>
      <p:sp>
        <p:nvSpPr>
          <p:cNvPr id="9" name="Text 5"/>
          <p:cNvSpPr txBox="1"/>
          <p:nvPr/>
        </p:nvSpPr>
        <p:spPr>
          <a:xfrm>
            <a:off x="8915400" y="1947672"/>
            <a:ext cx="2697480" cy="457200"/>
          </a:xfrm>
          <a:prstGeom prst="rect">
            <a:avLst/>
          </a:prstGeom>
          <a:noFill/>
          <a:ln/>
        </p:spPr>
        <p:txBody>
          <a:bodyPr wrap="square" lIns="0" tIns="0" rIns="0" bIns="0" rtlCol="0" anchor="t"/>
          <a:lstStyle/>
          <a:p>
            <a:pPr indent="0" marL="0">
              <a:buNone/>
            </a:pPr>
            <a:r>
              <a:rPr lang="en-US" sz="1200" dirty="0">
                <a:solidFill>
                  <a:schemeClr val="accent5"/>
                </a:solidFill>
              </a:rPr>
              <a:t>PNG, JPG, TIF; 3 samples built in</a:t>
            </a:r>
            <a:endParaRPr lang="en-US" sz="1200" dirty="0"/>
          </a:p>
        </p:txBody>
      </p:sp>
      <p:sp>
        <p:nvSpPr>
          <p:cNvPr id="10" name="icon LuSlidersHorizontal"/>
          <p:cNvSpPr/>
          <p:nvPr/>
        </p:nvSpPr>
        <p:spPr>
          <a:xfrm>
            <a:off x="8229600" y="2542032"/>
            <a:ext cx="548640" cy="548640"/>
          </a:xfrm>
          <a:prstGeom prst="ellipse">
            <a:avLst/>
          </a:prstGeom>
          <a:solidFill>
            <a:schemeClr val="accent2"/>
          </a:solidFill>
          <a:ln/>
        </p:spPr>
      </p:sp>
      <p:pic>
        <p:nvPicPr>
          <p:cNvPr id="11" name="LuSlidersHorizontal" descr="preencoded.png">    </p:cNvPr>
          <p:cNvPicPr>
            <a:picLocks noChangeAspect="1"/>
          </p:cNvPicPr>
          <p:nvPr/>
        </p:nvPicPr>
        <p:blipFill>
          <a:blip r:embed="rId3"/>
          <a:stretch>
            <a:fillRect/>
          </a:stretch>
        </p:blipFill>
        <p:spPr>
          <a:xfrm>
            <a:off x="8366760" y="2679192"/>
            <a:ext cx="274320" cy="274320"/>
          </a:xfrm>
          <a:prstGeom prst="rect">
            <a:avLst/>
          </a:prstGeom>
        </p:spPr>
      </p:pic>
      <p:sp>
        <p:nvSpPr>
          <p:cNvPr id="12" name="Text 7"/>
          <p:cNvSpPr txBox="1"/>
          <p:nvPr/>
        </p:nvSpPr>
        <p:spPr>
          <a:xfrm>
            <a:off x="8915400" y="2523744"/>
            <a:ext cx="2697480" cy="320040"/>
          </a:xfrm>
          <a:prstGeom prst="rect">
            <a:avLst/>
          </a:prstGeom>
          <a:noFill/>
          <a:ln/>
        </p:spPr>
        <p:txBody>
          <a:bodyPr wrap="square" lIns="0" tIns="0" rIns="0" bIns="0" rtlCol="0" anchor="t"/>
          <a:lstStyle/>
          <a:p>
            <a:pPr indent="0" marL="0">
              <a:buNone/>
            </a:pPr>
            <a:r>
              <a:rPr lang="en-US" sz="1500" b="1" dirty="0">
                <a:solidFill>
                  <a:schemeClr val="tx1"/>
                </a:solidFill>
              </a:rPr>
              <a:t>Presets + 6 sliders</a:t>
            </a:r>
            <a:endParaRPr lang="en-US" sz="1500" dirty="0"/>
          </a:p>
        </p:txBody>
      </p:sp>
      <p:sp>
        <p:nvSpPr>
          <p:cNvPr id="13" name="Text 8"/>
          <p:cNvSpPr txBox="1"/>
          <p:nvPr/>
        </p:nvSpPr>
        <p:spPr>
          <a:xfrm>
            <a:off x="8915400" y="2843784"/>
            <a:ext cx="2697480" cy="457200"/>
          </a:xfrm>
          <a:prstGeom prst="rect">
            <a:avLst/>
          </a:prstGeom>
          <a:noFill/>
          <a:ln/>
        </p:spPr>
        <p:txBody>
          <a:bodyPr wrap="square" lIns="0" tIns="0" rIns="0" bIns="0" rtlCol="0" anchor="t"/>
          <a:lstStyle/>
          <a:p>
            <a:pPr indent="0" marL="0">
              <a:buNone/>
            </a:pPr>
            <a:r>
              <a:rPr lang="en-US" sz="1200" dirty="0">
                <a:solidFill>
                  <a:schemeClr val="accent5"/>
                </a:solidFill>
              </a:rPr>
              <a:t>Help text under every slider</a:t>
            </a:r>
            <a:endParaRPr lang="en-US" sz="1200" dirty="0"/>
          </a:p>
        </p:txBody>
      </p:sp>
      <p:sp>
        <p:nvSpPr>
          <p:cNvPr id="14" name="icon LuLayers"/>
          <p:cNvSpPr/>
          <p:nvPr/>
        </p:nvSpPr>
        <p:spPr>
          <a:xfrm>
            <a:off x="8229600" y="3438144"/>
            <a:ext cx="548640" cy="548640"/>
          </a:xfrm>
          <a:prstGeom prst="ellipse">
            <a:avLst/>
          </a:prstGeom>
          <a:solidFill>
            <a:schemeClr val="accent1"/>
          </a:solidFill>
          <a:ln/>
        </p:spPr>
      </p:sp>
      <p:pic>
        <p:nvPicPr>
          <p:cNvPr id="15" name="LuLayers" descr="preencoded.png">    </p:cNvPr>
          <p:cNvPicPr>
            <a:picLocks noChangeAspect="1"/>
          </p:cNvPicPr>
          <p:nvPr/>
        </p:nvPicPr>
        <p:blipFill>
          <a:blip r:embed="rId4"/>
          <a:stretch>
            <a:fillRect/>
          </a:stretch>
        </p:blipFill>
        <p:spPr>
          <a:xfrm>
            <a:off x="8366760" y="3575304"/>
            <a:ext cx="274320" cy="274320"/>
          </a:xfrm>
          <a:prstGeom prst="rect">
            <a:avLst/>
          </a:prstGeom>
        </p:spPr>
      </p:pic>
      <p:sp>
        <p:nvSpPr>
          <p:cNvPr id="16" name="Text 10"/>
          <p:cNvSpPr txBox="1"/>
          <p:nvPr/>
        </p:nvSpPr>
        <p:spPr>
          <a:xfrm>
            <a:off x="8915400" y="3419856"/>
            <a:ext cx="2697480" cy="320040"/>
          </a:xfrm>
          <a:prstGeom prst="rect">
            <a:avLst/>
          </a:prstGeom>
          <a:noFill/>
          <a:ln/>
        </p:spPr>
        <p:txBody>
          <a:bodyPr wrap="square" lIns="0" tIns="0" rIns="0" bIns="0" rtlCol="0" anchor="t"/>
          <a:lstStyle/>
          <a:p>
            <a:pPr indent="0" marL="0">
              <a:buNone/>
            </a:pPr>
            <a:r>
              <a:rPr lang="en-US" sz="1500" b="1" dirty="0">
                <a:solidFill>
                  <a:schemeClr val="tx1"/>
                </a:solidFill>
              </a:rPr>
              <a:t>Layer viewer</a:t>
            </a:r>
            <a:endParaRPr lang="en-US" sz="1500" dirty="0"/>
          </a:p>
        </p:txBody>
      </p:sp>
      <p:sp>
        <p:nvSpPr>
          <p:cNvPr id="17" name="Text 11"/>
          <p:cNvSpPr txBox="1"/>
          <p:nvPr/>
        </p:nvSpPr>
        <p:spPr>
          <a:xfrm>
            <a:off x="8915400" y="3739896"/>
            <a:ext cx="2697480" cy="457200"/>
          </a:xfrm>
          <a:prstGeom prst="rect">
            <a:avLst/>
          </a:prstGeom>
          <a:noFill/>
          <a:ln/>
        </p:spPr>
        <p:txBody>
          <a:bodyPr wrap="square" lIns="0" tIns="0" rIns="0" bIns="0" rtlCol="0" anchor="t"/>
          <a:lstStyle/>
          <a:p>
            <a:pPr indent="0" marL="0">
              <a:buNone/>
            </a:pPr>
            <a:r>
              <a:rPr lang="en-US" sz="1200" dirty="0">
                <a:solidFill>
                  <a:schemeClr val="accent5"/>
                </a:solidFill>
              </a:rPr>
              <a:t>Overlay, probability, mask, distance map</a:t>
            </a:r>
            <a:endParaRPr lang="en-US" sz="1200" dirty="0"/>
          </a:p>
        </p:txBody>
      </p:sp>
      <p:sp>
        <p:nvSpPr>
          <p:cNvPr id="18" name="icon LuChartColumn"/>
          <p:cNvSpPr/>
          <p:nvPr/>
        </p:nvSpPr>
        <p:spPr>
          <a:xfrm>
            <a:off x="8229600" y="4334256"/>
            <a:ext cx="548640" cy="548640"/>
          </a:xfrm>
          <a:prstGeom prst="ellipse">
            <a:avLst/>
          </a:prstGeom>
          <a:solidFill>
            <a:schemeClr val="accent2"/>
          </a:solidFill>
          <a:ln/>
        </p:spPr>
      </p:sp>
      <p:pic>
        <p:nvPicPr>
          <p:cNvPr id="19" name="LuChartColumn" descr="preencoded.png">    </p:cNvPr>
          <p:cNvPicPr>
            <a:picLocks noChangeAspect="1"/>
          </p:cNvPicPr>
          <p:nvPr/>
        </p:nvPicPr>
        <p:blipFill>
          <a:blip r:embed="rId5"/>
          <a:stretch>
            <a:fillRect/>
          </a:stretch>
        </p:blipFill>
        <p:spPr>
          <a:xfrm>
            <a:off x="8366760" y="4471416"/>
            <a:ext cx="274320" cy="274320"/>
          </a:xfrm>
          <a:prstGeom prst="rect">
            <a:avLst/>
          </a:prstGeom>
        </p:spPr>
      </p:pic>
      <p:sp>
        <p:nvSpPr>
          <p:cNvPr id="20" name="Text 13"/>
          <p:cNvSpPr txBox="1"/>
          <p:nvPr/>
        </p:nvSpPr>
        <p:spPr>
          <a:xfrm>
            <a:off x="8915400" y="4315968"/>
            <a:ext cx="2697480" cy="320040"/>
          </a:xfrm>
          <a:prstGeom prst="rect">
            <a:avLst/>
          </a:prstGeom>
          <a:noFill/>
          <a:ln/>
        </p:spPr>
        <p:txBody>
          <a:bodyPr wrap="square" lIns="0" tIns="0" rIns="0" bIns="0" rtlCol="0" anchor="t"/>
          <a:lstStyle/>
          <a:p>
            <a:pPr indent="0" marL="0">
              <a:buNone/>
            </a:pPr>
            <a:r>
              <a:rPr lang="en-US" sz="1500" b="1" dirty="0">
                <a:solidFill>
                  <a:schemeClr val="tx1"/>
                </a:solidFill>
              </a:rPr>
              <a:t>Statistics</a:t>
            </a:r>
            <a:endParaRPr lang="en-US" sz="1500" dirty="0"/>
          </a:p>
        </p:txBody>
      </p:sp>
      <p:sp>
        <p:nvSpPr>
          <p:cNvPr id="21" name="Text 14"/>
          <p:cNvSpPr txBox="1"/>
          <p:nvPr/>
        </p:nvSpPr>
        <p:spPr>
          <a:xfrm>
            <a:off x="8915400" y="4636008"/>
            <a:ext cx="2697480" cy="457200"/>
          </a:xfrm>
          <a:prstGeom prst="rect">
            <a:avLst/>
          </a:prstGeom>
          <a:noFill/>
          <a:ln/>
        </p:spPr>
        <p:txBody>
          <a:bodyPr wrap="square" lIns="0" tIns="0" rIns="0" bIns="0" rtlCol="0" anchor="t"/>
          <a:lstStyle/>
          <a:p>
            <a:pPr indent="0" marL="0">
              <a:buNone/>
            </a:pPr>
            <a:r>
              <a:rPr lang="en-US" sz="1200" dirty="0">
                <a:solidFill>
                  <a:schemeClr val="accent5"/>
                </a:solidFill>
              </a:rPr>
              <a:t>Count, mean, median, std, range + histogram</a:t>
            </a:r>
            <a:endParaRPr lang="en-US" sz="1200" dirty="0"/>
          </a:p>
        </p:txBody>
      </p:sp>
      <p:sp>
        <p:nvSpPr>
          <p:cNvPr id="22" name="icon LuDownload"/>
          <p:cNvSpPr/>
          <p:nvPr/>
        </p:nvSpPr>
        <p:spPr>
          <a:xfrm>
            <a:off x="8229600" y="5230368"/>
            <a:ext cx="548640" cy="548640"/>
          </a:xfrm>
          <a:prstGeom prst="ellipse">
            <a:avLst/>
          </a:prstGeom>
          <a:solidFill>
            <a:schemeClr val="accent1"/>
          </a:solidFill>
          <a:ln/>
        </p:spPr>
      </p:sp>
      <p:pic>
        <p:nvPicPr>
          <p:cNvPr id="23" name="LuDownload" descr="preencoded.png">    </p:cNvPr>
          <p:cNvPicPr>
            <a:picLocks noChangeAspect="1"/>
          </p:cNvPicPr>
          <p:nvPr/>
        </p:nvPicPr>
        <p:blipFill>
          <a:blip r:embed="rId6"/>
          <a:stretch>
            <a:fillRect/>
          </a:stretch>
        </p:blipFill>
        <p:spPr>
          <a:xfrm>
            <a:off x="8366760" y="5367528"/>
            <a:ext cx="274320" cy="274320"/>
          </a:xfrm>
          <a:prstGeom prst="rect">
            <a:avLst/>
          </a:prstGeom>
        </p:spPr>
      </p:pic>
      <p:sp>
        <p:nvSpPr>
          <p:cNvPr id="24" name="Text 16"/>
          <p:cNvSpPr txBox="1"/>
          <p:nvPr/>
        </p:nvSpPr>
        <p:spPr>
          <a:xfrm>
            <a:off x="8915400" y="5212080"/>
            <a:ext cx="2697480" cy="320040"/>
          </a:xfrm>
          <a:prstGeom prst="rect">
            <a:avLst/>
          </a:prstGeom>
          <a:noFill/>
          <a:ln/>
        </p:spPr>
        <p:txBody>
          <a:bodyPr wrap="square" lIns="0" tIns="0" rIns="0" bIns="0" rtlCol="0" anchor="t"/>
          <a:lstStyle/>
          <a:p>
            <a:pPr indent="0" marL="0">
              <a:buNone/>
            </a:pPr>
            <a:r>
              <a:rPr lang="en-US" sz="1500" b="1" dirty="0">
                <a:solidFill>
                  <a:schemeClr val="tx1"/>
                </a:solidFill>
              </a:rPr>
              <a:t>Export + extras</a:t>
            </a:r>
            <a:endParaRPr lang="en-US" sz="1500" dirty="0"/>
          </a:p>
        </p:txBody>
      </p:sp>
      <p:sp>
        <p:nvSpPr>
          <p:cNvPr id="25" name="Text 17"/>
          <p:cNvSpPr txBox="1"/>
          <p:nvPr/>
        </p:nvSpPr>
        <p:spPr>
          <a:xfrm>
            <a:off x="8915400" y="5532120"/>
            <a:ext cx="2697480" cy="457200"/>
          </a:xfrm>
          <a:prstGeom prst="rect">
            <a:avLst/>
          </a:prstGeom>
          <a:noFill/>
          <a:ln/>
        </p:spPr>
        <p:txBody>
          <a:bodyPr wrap="square" lIns="0" tIns="0" rIns="0" bIns="0" rtlCol="0" anchor="t"/>
          <a:lstStyle/>
          <a:p>
            <a:pPr indent="0" marL="0">
              <a:buNone/>
            </a:pPr>
            <a:r>
              <a:rPr lang="en-US" sz="1200" dirty="0">
                <a:solidFill>
                  <a:schemeClr val="accent5"/>
                </a:solidFill>
              </a:rPr>
              <a:t>Per-cell CSV, dark mode, GPU/CPU badge</a:t>
            </a:r>
            <a:endParaRPr lang="en-US" sz="12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3"/>
                </a:solidFill>
              </a:rPr>
              <a:t>08  ·  LIVE DEMO</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Live demo: running the software locally</a:t>
            </a:r>
            <a:endParaRPr lang="en-US" sz="3200" dirty="0"/>
          </a:p>
        </p:txBody>
      </p:sp>
      <p:sp>
        <p:nvSpPr>
          <p:cNvPr id="4" name="run card"/>
          <p:cNvSpPr/>
          <p:nvPr/>
        </p:nvSpPr>
        <p:spPr>
          <a:xfrm>
            <a:off x="548640" y="1600200"/>
            <a:ext cx="5120640" cy="4526280"/>
          </a:xfrm>
          <a:prstGeom prst="roundRect">
            <a:avLst>
              <a:gd name="adj" fmla="val 1616"/>
            </a:avLst>
          </a:prstGeom>
          <a:solidFill>
            <a:schemeClr val="tx1"/>
          </a:solidFill>
          <a:ln/>
          <a:effectLst>
            <a:outerShdw sx="100000" sy="100000" kx="0" ky="0" algn="bl" rotWithShape="0" blurRad="127000" dist="25400" dir="5400000">
              <a:srgbClr val="1B1A33">
                <a:alpha val="8000"/>
              </a:srgbClr>
            </a:outerShdw>
          </a:effectLst>
        </p:spPr>
      </p:sp>
      <p:sp>
        <p:nvSpPr>
          <p:cNvPr id="5" name="Text 3"/>
          <p:cNvSpPr txBox="1"/>
          <p:nvPr/>
        </p:nvSpPr>
        <p:spPr>
          <a:xfrm>
            <a:off x="822960" y="1828800"/>
            <a:ext cx="45720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START THE APP</a:t>
            </a:r>
            <a:endParaRPr lang="en-US" sz="1200" dirty="0"/>
          </a:p>
        </p:txBody>
      </p:sp>
      <p:sp>
        <p:nvSpPr>
          <p:cNvPr id="6" name="Text 4"/>
          <p:cNvSpPr txBox="1"/>
          <p:nvPr/>
        </p:nvSpPr>
        <p:spPr>
          <a:xfrm>
            <a:off x="822960" y="2240280"/>
            <a:ext cx="4572000" cy="914400"/>
          </a:xfrm>
          <a:prstGeom prst="rect">
            <a:avLst/>
          </a:prstGeom>
          <a:noFill/>
          <a:ln/>
        </p:spPr>
        <p:txBody>
          <a:bodyPr wrap="square" lIns="0" tIns="0" rIns="0" bIns="0" rtlCol="0" anchor="t"/>
          <a:lstStyle/>
          <a:p>
            <a:pPr indent="0" marL="0">
              <a:spcAft>
                <a:spcPts val="600"/>
              </a:spcAft>
              <a:buNone/>
            </a:pPr>
            <a:r>
              <a:rPr lang="en-US" sz="1400" dirty="0">
                <a:solidFill>
                  <a:schemeClr val="bg1"/>
                </a:solidFill>
                <a:latin typeface="Consolas" pitchFamily="34" charset="0"/>
                <a:ea typeface="Consolas" pitchFamily="34" charset="-122"/>
                <a:cs typeface="Consolas" pitchFamily="34" charset="-120"/>
              </a:rPr>
              <a:t>cd "Microscopic Cell Image\cell_seg"</a:t>
            </a:r>
            <a:endParaRPr lang="en-US" sz="1400" dirty="0"/>
          </a:p>
          <a:p>
            <a:pPr indent="0" marL="0">
              <a:spcAft>
                <a:spcPts val="600"/>
              </a:spcAft>
              <a:buNone/>
            </a:pPr>
            <a:r>
              <a:rPr lang="en-US" sz="1400" dirty="0">
                <a:solidFill>
                  <a:schemeClr val="bg1"/>
                </a:solidFill>
                <a:latin typeface="Consolas" pitchFamily="34" charset="0"/>
                <a:ea typeface="Consolas" pitchFamily="34" charset="-122"/>
                <a:cs typeface="Consolas" pitchFamily="34" charset="-120"/>
              </a:rPr>
              <a:t>D:\envs\cellseg\python.exe app.py</a:t>
            </a:r>
            <a:endParaRPr lang="en-US" sz="1400" dirty="0"/>
          </a:p>
        </p:txBody>
      </p:sp>
      <p:sp>
        <p:nvSpPr>
          <p:cNvPr id="7" name="Text 5"/>
          <p:cNvSpPr txBox="1"/>
          <p:nvPr/>
        </p:nvSpPr>
        <p:spPr>
          <a:xfrm>
            <a:off x="822960" y="3383280"/>
            <a:ext cx="45720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THEN OPEN</a:t>
            </a:r>
            <a:endParaRPr lang="en-US" sz="1200" dirty="0"/>
          </a:p>
        </p:txBody>
      </p:sp>
      <p:sp>
        <p:nvSpPr>
          <p:cNvPr id="8" name="Text 6"/>
          <p:cNvSpPr txBox="1"/>
          <p:nvPr/>
        </p:nvSpPr>
        <p:spPr>
          <a:xfrm>
            <a:off x="822960" y="3703320"/>
            <a:ext cx="4572000" cy="457200"/>
          </a:xfrm>
          <a:prstGeom prst="rect">
            <a:avLst/>
          </a:prstGeom>
          <a:noFill/>
          <a:ln/>
        </p:spPr>
        <p:txBody>
          <a:bodyPr wrap="square" lIns="0" tIns="0" rIns="0" bIns="0" rtlCol="0" anchor="t"/>
          <a:lstStyle/>
          <a:p>
            <a:pPr indent="0" marL="0">
              <a:buNone/>
            </a:pPr>
            <a:r>
              <a:rPr lang="en-US" sz="2400" b="1" dirty="0">
                <a:solidFill>
                  <a:schemeClr val="bg1"/>
                </a:solidFill>
                <a:latin typeface="Consolas" pitchFamily="34" charset="0"/>
                <a:ea typeface="Consolas" pitchFamily="34" charset="-122"/>
                <a:cs typeface="Consolas" pitchFamily="34" charset="-120"/>
              </a:rPr>
              <a:t>http://127.0.0.1:7860</a:t>
            </a:r>
            <a:endParaRPr lang="en-US" sz="2400" dirty="0"/>
          </a:p>
        </p:txBody>
      </p:sp>
      <p:sp>
        <p:nvSpPr>
          <p:cNvPr id="9" name="Text 7"/>
          <p:cNvSpPr txBox="1"/>
          <p:nvPr/>
        </p:nvSpPr>
        <p:spPr>
          <a:xfrm>
            <a:off x="822960" y="4480560"/>
            <a:ext cx="4572000" cy="1371600"/>
          </a:xfrm>
          <a:prstGeom prst="rect">
            <a:avLst/>
          </a:prstGeom>
          <a:noFill/>
          <a:ln/>
        </p:spPr>
        <p:txBody>
          <a:bodyPr wrap="square" lIns="0" tIns="0" rIns="0" bIns="0" rtlCol="0" anchor="t"/>
          <a:lstStyle/>
          <a:p>
            <a:pPr indent="0" marL="0">
              <a:buNone/>
            </a:pPr>
            <a:r>
              <a:rPr lang="en-US" sz="1400" dirty="0">
                <a:solidFill>
                  <a:srgbClr val="B9B3D9"/>
                </a:solidFill>
              </a:rPr>
              <a:t>Runs fully offline on this laptop. Uses the GPU if present, otherwise the CPU. Needs the trained weights file weights/unet_cells.pth.</a:t>
            </a:r>
            <a:endParaRPr lang="en-US" sz="1400" dirty="0"/>
          </a:p>
        </p:txBody>
      </p:sp>
      <p:sp>
        <p:nvSpPr>
          <p:cNvPr id="10" name="num 1"/>
          <p:cNvSpPr/>
          <p:nvPr/>
        </p:nvSpPr>
        <p:spPr>
          <a:xfrm>
            <a:off x="6035040" y="1645920"/>
            <a:ext cx="502920" cy="502920"/>
          </a:xfrm>
          <a:prstGeom prst="ellipse">
            <a:avLst/>
          </a:prstGeom>
          <a:solidFill>
            <a:schemeClr val="accent3"/>
          </a:solidFill>
          <a:ln/>
        </p:spPr>
      </p:sp>
      <p:sp>
        <p:nvSpPr>
          <p:cNvPr id="11" name="Text 9"/>
          <p:cNvSpPr txBox="1"/>
          <p:nvPr/>
        </p:nvSpPr>
        <p:spPr>
          <a:xfrm>
            <a:off x="603504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 10"/>
          <p:cNvSpPr txBox="1"/>
          <p:nvPr/>
        </p:nvSpPr>
        <p:spPr>
          <a:xfrm>
            <a:off x="6720840" y="1645920"/>
            <a:ext cx="4892040" cy="502920"/>
          </a:xfrm>
          <a:prstGeom prst="rect">
            <a:avLst/>
          </a:prstGeom>
          <a:noFill/>
          <a:ln/>
        </p:spPr>
        <p:txBody>
          <a:bodyPr wrap="square" lIns="0" tIns="0" rIns="0" bIns="0" rtlCol="0" anchor="ctr"/>
          <a:lstStyle/>
          <a:p>
            <a:pPr indent="0" marL="0">
              <a:buNone/>
            </a:pPr>
            <a:r>
              <a:rPr lang="en-US" sz="1700" dirty="0">
                <a:solidFill>
                  <a:schemeClr val="bg1"/>
                </a:solidFill>
              </a:rPr>
              <a:t>Pick the dense sample → Segment cells</a:t>
            </a:r>
            <a:endParaRPr lang="en-US" sz="1700" dirty="0"/>
          </a:p>
        </p:txBody>
      </p:sp>
      <p:sp>
        <p:nvSpPr>
          <p:cNvPr id="13" name="num 2"/>
          <p:cNvSpPr/>
          <p:nvPr/>
        </p:nvSpPr>
        <p:spPr>
          <a:xfrm>
            <a:off x="6035040" y="2395728"/>
            <a:ext cx="502920" cy="502920"/>
          </a:xfrm>
          <a:prstGeom prst="ellipse">
            <a:avLst/>
          </a:prstGeom>
          <a:solidFill>
            <a:schemeClr val="accent3"/>
          </a:solidFill>
          <a:ln/>
        </p:spPr>
      </p:sp>
      <p:sp>
        <p:nvSpPr>
          <p:cNvPr id="14" name="Text 12"/>
          <p:cNvSpPr txBox="1"/>
          <p:nvPr/>
        </p:nvSpPr>
        <p:spPr>
          <a:xfrm>
            <a:off x="6035040" y="239572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3"/>
          <p:cNvSpPr txBox="1"/>
          <p:nvPr/>
        </p:nvSpPr>
        <p:spPr>
          <a:xfrm>
            <a:off x="6720840" y="2395728"/>
            <a:ext cx="4892040" cy="502920"/>
          </a:xfrm>
          <a:prstGeom prst="rect">
            <a:avLst/>
          </a:prstGeom>
          <a:noFill/>
          <a:ln/>
        </p:spPr>
        <p:txBody>
          <a:bodyPr wrap="square" lIns="0" tIns="0" rIns="0" bIns="0" rtlCol="0" anchor="ctr"/>
          <a:lstStyle/>
          <a:p>
            <a:pPr indent="0" marL="0">
              <a:buNone/>
            </a:pPr>
            <a:r>
              <a:rPr lang="en-US" sz="1700" dirty="0">
                <a:solidFill>
                  <a:schemeClr val="bg1"/>
                </a:solidFill>
              </a:rPr>
              <a:t>Pipeline stages tab: heatmap, mask, distance map</a:t>
            </a:r>
            <a:endParaRPr lang="en-US" sz="1700" dirty="0"/>
          </a:p>
        </p:txBody>
      </p:sp>
      <p:sp>
        <p:nvSpPr>
          <p:cNvPr id="16" name="num 3"/>
          <p:cNvSpPr/>
          <p:nvPr/>
        </p:nvSpPr>
        <p:spPr>
          <a:xfrm>
            <a:off x="6035040" y="3145536"/>
            <a:ext cx="502920" cy="502920"/>
          </a:xfrm>
          <a:prstGeom prst="ellipse">
            <a:avLst/>
          </a:prstGeom>
          <a:solidFill>
            <a:schemeClr val="accent3"/>
          </a:solidFill>
          <a:ln/>
        </p:spPr>
      </p:sp>
      <p:sp>
        <p:nvSpPr>
          <p:cNvPr id="17" name="Text 15"/>
          <p:cNvSpPr txBox="1"/>
          <p:nvPr/>
        </p:nvSpPr>
        <p:spPr>
          <a:xfrm>
            <a:off x="6035040" y="314553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6720840" y="3145536"/>
            <a:ext cx="4892040" cy="502920"/>
          </a:xfrm>
          <a:prstGeom prst="rect">
            <a:avLst/>
          </a:prstGeom>
          <a:noFill/>
          <a:ln/>
        </p:spPr>
        <p:txBody>
          <a:bodyPr wrap="square" lIns="0" tIns="0" rIns="0" bIns="0" rtlCol="0" anchor="ctr"/>
          <a:lstStyle/>
          <a:p>
            <a:pPr indent="0" marL="0">
              <a:buNone/>
            </a:pPr>
            <a:r>
              <a:rPr lang="en-US" sz="1700" dirty="0">
                <a:solidFill>
                  <a:schemeClr val="bg1"/>
                </a:solidFill>
              </a:rPr>
              <a:t>Move τ to 0.3, then 0.7: watch the count change</a:t>
            </a:r>
            <a:endParaRPr lang="en-US" sz="1700" dirty="0"/>
          </a:p>
        </p:txBody>
      </p:sp>
      <p:sp>
        <p:nvSpPr>
          <p:cNvPr id="19" name="num 4"/>
          <p:cNvSpPr/>
          <p:nvPr/>
        </p:nvSpPr>
        <p:spPr>
          <a:xfrm>
            <a:off x="6035040" y="3895344"/>
            <a:ext cx="502920" cy="502920"/>
          </a:xfrm>
          <a:prstGeom prst="ellipse">
            <a:avLst/>
          </a:prstGeom>
          <a:solidFill>
            <a:schemeClr val="accent3"/>
          </a:solidFill>
          <a:ln/>
        </p:spPr>
      </p:sp>
      <p:sp>
        <p:nvSpPr>
          <p:cNvPr id="20" name="Text 18"/>
          <p:cNvSpPr txBox="1"/>
          <p:nvPr/>
        </p:nvSpPr>
        <p:spPr>
          <a:xfrm>
            <a:off x="6035040" y="389534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720840" y="3895344"/>
            <a:ext cx="4892040" cy="502920"/>
          </a:xfrm>
          <a:prstGeom prst="rect">
            <a:avLst/>
          </a:prstGeom>
          <a:noFill/>
          <a:ln/>
        </p:spPr>
        <p:txBody>
          <a:bodyPr wrap="square" lIns="0" tIns="0" rIns="0" bIns="0" rtlCol="0" anchor="ctr"/>
          <a:lstStyle/>
          <a:p>
            <a:pPr indent="0" marL="0">
              <a:buNone/>
            </a:pPr>
            <a:r>
              <a:rPr lang="en-US" sz="1700" dirty="0">
                <a:solidFill>
                  <a:schemeClr val="bg1"/>
                </a:solidFill>
              </a:rPr>
              <a:t>Preset “Dense, touching clumps” → more splits</a:t>
            </a:r>
            <a:endParaRPr lang="en-US" sz="1700" dirty="0"/>
          </a:p>
        </p:txBody>
      </p:sp>
      <p:sp>
        <p:nvSpPr>
          <p:cNvPr id="22" name="num 5"/>
          <p:cNvSpPr/>
          <p:nvPr/>
        </p:nvSpPr>
        <p:spPr>
          <a:xfrm>
            <a:off x="6035040" y="4645152"/>
            <a:ext cx="502920" cy="502920"/>
          </a:xfrm>
          <a:prstGeom prst="ellipse">
            <a:avLst/>
          </a:prstGeom>
          <a:solidFill>
            <a:schemeClr val="accent3"/>
          </a:solidFill>
          <a:ln/>
        </p:spPr>
      </p:sp>
      <p:sp>
        <p:nvSpPr>
          <p:cNvPr id="23" name="Text 21"/>
          <p:cNvSpPr txBox="1"/>
          <p:nvPr/>
        </p:nvSpPr>
        <p:spPr>
          <a:xfrm>
            <a:off x="6035040" y="464515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Text 22"/>
          <p:cNvSpPr txBox="1"/>
          <p:nvPr/>
        </p:nvSpPr>
        <p:spPr>
          <a:xfrm>
            <a:off x="6720840" y="4645152"/>
            <a:ext cx="4892040" cy="502920"/>
          </a:xfrm>
          <a:prstGeom prst="rect">
            <a:avLst/>
          </a:prstGeom>
          <a:noFill/>
          <a:ln/>
        </p:spPr>
        <p:txBody>
          <a:bodyPr wrap="square" lIns="0" tIns="0" rIns="0" bIns="0" rtlCol="0" anchor="ctr"/>
          <a:lstStyle/>
          <a:p>
            <a:pPr indent="0" marL="0">
              <a:buNone/>
            </a:pPr>
            <a:r>
              <a:rPr lang="en-US" sz="1700" dirty="0">
                <a:solidFill>
                  <a:schemeClr val="bg1"/>
                </a:solidFill>
              </a:rPr>
              <a:t>Measurements tab → download the CSV</a:t>
            </a:r>
            <a:endParaRPr lang="en-US" sz="1700" dirty="0"/>
          </a:p>
        </p:txBody>
      </p:sp>
      <p:sp>
        <p:nvSpPr>
          <p:cNvPr id="25" name="num 6"/>
          <p:cNvSpPr/>
          <p:nvPr/>
        </p:nvSpPr>
        <p:spPr>
          <a:xfrm>
            <a:off x="6035040" y="5394960"/>
            <a:ext cx="502920" cy="502920"/>
          </a:xfrm>
          <a:prstGeom prst="ellipse">
            <a:avLst/>
          </a:prstGeom>
          <a:solidFill>
            <a:schemeClr val="accent3"/>
          </a:solidFill>
          <a:ln/>
        </p:spPr>
      </p:sp>
      <p:sp>
        <p:nvSpPr>
          <p:cNvPr id="26" name="Text 24"/>
          <p:cNvSpPr txBox="1"/>
          <p:nvPr/>
        </p:nvSpPr>
        <p:spPr>
          <a:xfrm>
            <a:off x="6035040" y="5394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7" name="Text 25"/>
          <p:cNvSpPr txBox="1"/>
          <p:nvPr/>
        </p:nvSpPr>
        <p:spPr>
          <a:xfrm>
            <a:off x="6720840" y="5394960"/>
            <a:ext cx="4892040" cy="502920"/>
          </a:xfrm>
          <a:prstGeom prst="rect">
            <a:avLst/>
          </a:prstGeom>
          <a:noFill/>
          <a:ln/>
        </p:spPr>
        <p:txBody>
          <a:bodyPr wrap="square" lIns="0" tIns="0" rIns="0" bIns="0" rtlCol="0" anchor="ctr"/>
          <a:lstStyle/>
          <a:p>
            <a:pPr indent="0" marL="0">
              <a:buNone/>
            </a:pPr>
            <a:r>
              <a:rPr lang="en-US" sz="1700" dirty="0">
                <a:solidFill>
                  <a:schemeClr val="bg1"/>
                </a:solidFill>
              </a:rPr>
              <a:t>Try my own image, toggle dark mode</a:t>
            </a:r>
            <a:endParaRPr lang="en-US" sz="17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9B3D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09  ·  DISCUSSION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rPr>
              <a:t>Limitations and future work</a:t>
            </a:r>
            <a:endParaRPr lang="en-US" sz="3200" dirty="0"/>
          </a:p>
        </p:txBody>
      </p:sp>
      <p:sp>
        <p:nvSpPr>
          <p:cNvPr id="4" name="limits card"/>
          <p:cNvSpPr/>
          <p:nvPr/>
        </p:nvSpPr>
        <p:spPr>
          <a:xfrm>
            <a:off x="548640" y="1600200"/>
            <a:ext cx="5440680" cy="4526280"/>
          </a:xfrm>
          <a:prstGeom prst="roundRect">
            <a:avLst>
              <a:gd name="adj" fmla="val 1616"/>
            </a:avLst>
          </a:prstGeom>
          <a:solidFill>
            <a:schemeClr val="bg1"/>
          </a:solidFill>
          <a:ln/>
          <a:effectLst>
            <a:outerShdw sx="100000" sy="100000" kx="0" ky="0" algn="bl" rotWithShape="0" blurRad="127000" dist="25400" dir="5400000">
              <a:srgbClr val="1B1A33">
                <a:alpha val="8000"/>
              </a:srgbClr>
            </a:outerShdw>
          </a:effectLst>
        </p:spPr>
      </p:sp>
      <p:sp>
        <p:nvSpPr>
          <p:cNvPr id="5" name="future card"/>
          <p:cNvSpPr/>
          <p:nvPr/>
        </p:nvSpPr>
        <p:spPr>
          <a:xfrm>
            <a:off x="6172200" y="1600200"/>
            <a:ext cx="5440680" cy="4526280"/>
          </a:xfrm>
          <a:prstGeom prst="roundRect">
            <a:avLst>
              <a:gd name="adj" fmla="val 1616"/>
            </a:avLst>
          </a:prstGeom>
          <a:solidFill>
            <a:schemeClr val="tx2"/>
          </a:solidFill>
          <a:ln/>
          <a:effectLst>
            <a:outerShdw sx="100000" sy="100000" kx="0" ky="0" algn="bl" rotWithShape="0" blurRad="127000" dist="25400" dir="5400000">
              <a:srgbClr val="1B1A33">
                <a:alpha val="8000"/>
              </a:srgbClr>
            </a:outerShdw>
          </a:effectLst>
        </p:spPr>
      </p:sp>
      <p:sp>
        <p:nvSpPr>
          <p:cNvPr id="6" name="icon LuTriangleAlert"/>
          <p:cNvSpPr/>
          <p:nvPr/>
        </p:nvSpPr>
        <p:spPr>
          <a:xfrm>
            <a:off x="822960" y="1828800"/>
            <a:ext cx="548640" cy="548640"/>
          </a:xfrm>
          <a:prstGeom prst="ellipse">
            <a:avLst/>
          </a:prstGeom>
          <a:solidFill>
            <a:schemeClr val="accent4"/>
          </a:solidFill>
          <a:ln/>
        </p:spPr>
      </p:sp>
      <p:pic>
        <p:nvPicPr>
          <p:cNvPr id="7" name="LuTriangleAlert" descr="preencoded.png">    </p:cNvPr>
          <p:cNvPicPr>
            <a:picLocks noChangeAspect="1"/>
          </p:cNvPicPr>
          <p:nvPr/>
        </p:nvPicPr>
        <p:blipFill>
          <a:blip r:embed="rId1"/>
          <a:stretch>
            <a:fillRect/>
          </a:stretch>
        </p:blipFill>
        <p:spPr>
          <a:xfrm>
            <a:off x="960120" y="1965960"/>
            <a:ext cx="274320" cy="274320"/>
          </a:xfrm>
          <a:prstGeom prst="rect">
            <a:avLst/>
          </a:prstGeom>
        </p:spPr>
      </p:pic>
      <p:sp>
        <p:nvSpPr>
          <p:cNvPr id="8" name="Text 5"/>
          <p:cNvSpPr txBox="1"/>
          <p:nvPr/>
        </p:nvSpPr>
        <p:spPr>
          <a:xfrm>
            <a:off x="1508760" y="1828800"/>
            <a:ext cx="4114800" cy="548640"/>
          </a:xfrm>
          <a:prstGeom prst="rect">
            <a:avLst/>
          </a:prstGeom>
          <a:noFill/>
          <a:ln/>
        </p:spPr>
        <p:txBody>
          <a:bodyPr wrap="square" lIns="0" tIns="0" rIns="0" bIns="0" rtlCol="0" anchor="ctr"/>
          <a:lstStyle/>
          <a:p>
            <a:pPr indent="0" marL="0">
              <a:buNone/>
            </a:pPr>
            <a:r>
              <a:rPr lang="en-US" sz="2000" b="1" dirty="0">
                <a:solidFill>
                  <a:schemeClr val="tx1"/>
                </a:solidFill>
              </a:rPr>
              <a:t>Limitations</a:t>
            </a:r>
            <a:endParaRPr lang="en-US" sz="2000" dirty="0"/>
          </a:p>
        </p:txBody>
      </p:sp>
      <p:sp>
        <p:nvSpPr>
          <p:cNvPr id="9" name="icon LuRocket"/>
          <p:cNvSpPr/>
          <p:nvPr/>
        </p:nvSpPr>
        <p:spPr>
          <a:xfrm>
            <a:off x="6446520" y="1828800"/>
            <a:ext cx="548640" cy="548640"/>
          </a:xfrm>
          <a:prstGeom prst="ellipse">
            <a:avLst/>
          </a:prstGeom>
          <a:solidFill>
            <a:schemeClr val="accent3"/>
          </a:solidFill>
          <a:ln/>
        </p:spPr>
      </p:sp>
      <p:pic>
        <p:nvPicPr>
          <p:cNvPr id="10" name="LuRocket" descr="preencoded.png">    </p:cNvPr>
          <p:cNvPicPr>
            <a:picLocks noChangeAspect="1"/>
          </p:cNvPicPr>
          <p:nvPr/>
        </p:nvPicPr>
        <p:blipFill>
          <a:blip r:embed="rId2"/>
          <a:stretch>
            <a:fillRect/>
          </a:stretch>
        </p:blipFill>
        <p:spPr>
          <a:xfrm>
            <a:off x="6583680" y="1965960"/>
            <a:ext cx="274320" cy="274320"/>
          </a:xfrm>
          <a:prstGeom prst="rect">
            <a:avLst/>
          </a:prstGeom>
        </p:spPr>
      </p:pic>
      <p:sp>
        <p:nvSpPr>
          <p:cNvPr id="11" name="Text 7"/>
          <p:cNvSpPr txBox="1"/>
          <p:nvPr/>
        </p:nvSpPr>
        <p:spPr>
          <a:xfrm>
            <a:off x="7132320" y="1828800"/>
            <a:ext cx="4114800" cy="548640"/>
          </a:xfrm>
          <a:prstGeom prst="rect">
            <a:avLst/>
          </a:prstGeom>
          <a:noFill/>
          <a:ln/>
        </p:spPr>
        <p:txBody>
          <a:bodyPr wrap="square" lIns="0" tIns="0" rIns="0" bIns="0" rtlCol="0" anchor="ctr"/>
          <a:lstStyle/>
          <a:p>
            <a:pPr indent="0" marL="0">
              <a:buNone/>
            </a:pPr>
            <a:r>
              <a:rPr lang="en-US" sz="2000" b="1" dirty="0">
                <a:solidFill>
                  <a:schemeClr val="bg1"/>
                </a:solidFill>
              </a:rPr>
              <a:t>Future work</a:t>
            </a:r>
            <a:endParaRPr lang="en-US" sz="2000" dirty="0"/>
          </a:p>
        </p:txBody>
      </p:sp>
      <p:sp>
        <p:nvSpPr>
          <p:cNvPr id="12" name="Text 8"/>
          <p:cNvSpPr txBox="1"/>
          <p:nvPr/>
        </p:nvSpPr>
        <p:spPr>
          <a:xfrm>
            <a:off x="822960" y="2606040"/>
            <a:ext cx="4937760" cy="33832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Nuclei touching with no gap stay merged (dense sample: 52 of 87)</a:t>
            </a:r>
            <a:endParaRPr lang="en-US" sz="1500" dirty="0"/>
          </a:p>
          <a:p>
            <a:pPr marL="342900" indent="-342900">
              <a:spcAft>
                <a:spcPts val="1000"/>
              </a:spcAft>
              <a:buSzPct val="100000"/>
              <a:buChar char="•"/>
            </a:pPr>
            <a:r>
              <a:rPr lang="en-US" sz="1500" dirty="0">
                <a:solidFill>
                  <a:schemeClr val="tx1"/>
                </a:solidFill>
              </a:rPr>
              <a:t>H&amp;E tissue: elongated nuclei over-split (20 vs 12)</a:t>
            </a:r>
            <a:endParaRPr lang="en-US" sz="1500" dirty="0"/>
          </a:p>
          <a:p>
            <a:pPr marL="342900" indent="-342900">
              <a:spcAft>
                <a:spcPts val="1000"/>
              </a:spcAft>
              <a:buSzPct val="100000"/>
              <a:buChar char="•"/>
            </a:pPr>
            <a:r>
              <a:rPr lang="en-US" sz="1500" dirty="0">
                <a:solidFill>
                  <a:schemeClr val="tx1"/>
                </a:solidFill>
              </a:rPr>
              <a:t>Model learned DSB cell sizes; very different magnification fails</a:t>
            </a:r>
            <a:endParaRPr lang="en-US" sz="1500" dirty="0"/>
          </a:p>
          <a:p>
            <a:pPr marL="342900" indent="-342900">
              <a:spcAft>
                <a:spcPts val="1000"/>
              </a:spcAft>
              <a:buSzPct val="100000"/>
              <a:buChar char="•"/>
            </a:pPr>
            <a:r>
              <a:rPr lang="en-US" sz="1500" dirty="0">
                <a:solidFill>
                  <a:schemeClr val="tx1"/>
                </a:solidFill>
              </a:rPr>
              <a:t>Huge images: watershed takes about half the time, sliders slower</a:t>
            </a:r>
            <a:endParaRPr lang="en-US" sz="1500" dirty="0"/>
          </a:p>
          <a:p>
            <a:pPr marL="342900" indent="-342900">
              <a:spcAft>
                <a:spcPts val="1000"/>
              </a:spcAft>
              <a:buSzPct val="100000"/>
              <a:buChar char="•"/>
            </a:pPr>
            <a:r>
              <a:rPr lang="en-US" sz="1500" dirty="0">
                <a:solidFill>
                  <a:schemeClr val="tx1"/>
                </a:solidFill>
              </a:rPr>
              <a:t>2 of 3 samples are in the training split, so their scores are optimistic</a:t>
            </a:r>
            <a:endParaRPr lang="en-US" sz="1500" dirty="0"/>
          </a:p>
        </p:txBody>
      </p:sp>
      <p:sp>
        <p:nvSpPr>
          <p:cNvPr id="13" name="Text 9"/>
          <p:cNvSpPr txBox="1"/>
          <p:nvPr/>
        </p:nvSpPr>
        <p:spPr>
          <a:xfrm>
            <a:off x="6446520" y="2606040"/>
            <a:ext cx="4937760" cy="33832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Instance-aware model (e.g. boundary channel, StarDist, Cellpose)</a:t>
            </a:r>
            <a:endParaRPr lang="en-US" sz="1500" dirty="0"/>
          </a:p>
          <a:p>
            <a:pPr marL="342900" indent="-342900">
              <a:spcAft>
                <a:spcPts val="1000"/>
              </a:spcAft>
              <a:buSzPct val="100000"/>
              <a:buChar char="•"/>
            </a:pPr>
            <a:r>
              <a:rPr lang="en-US" sz="1500" dirty="0">
                <a:solidFill>
                  <a:schemeClr val="bg1"/>
                </a:solidFill>
              </a:rPr>
              <a:t>More H&amp;E training data, or a separate tissue model</a:t>
            </a:r>
            <a:endParaRPr lang="en-US" sz="1500" dirty="0"/>
          </a:p>
          <a:p>
            <a:pPr marL="342900" indent="-342900">
              <a:spcAft>
                <a:spcPts val="1000"/>
              </a:spcAft>
              <a:buSzPct val="100000"/>
              <a:buChar char="•"/>
            </a:pPr>
            <a:r>
              <a:rPr lang="en-US" sz="1500" dirty="0">
                <a:solidFill>
                  <a:schemeClr val="bg1"/>
                </a:solidFill>
              </a:rPr>
              <a:t>Auto-rescale input to the training magnification</a:t>
            </a:r>
            <a:endParaRPr lang="en-US" sz="1500" dirty="0"/>
          </a:p>
          <a:p>
            <a:pPr marL="342900" indent="-342900">
              <a:spcAft>
                <a:spcPts val="1000"/>
              </a:spcAft>
              <a:buSzPct val="100000"/>
              <a:buChar char="•"/>
            </a:pPr>
            <a:r>
              <a:rPr lang="en-US" sz="1500" dirty="0">
                <a:solidFill>
                  <a:schemeClr val="bg1"/>
                </a:solidFill>
              </a:rPr>
              <a:t>Re-run watershed only inside changed blobs</a:t>
            </a:r>
            <a:endParaRPr lang="en-US" sz="1500" dirty="0"/>
          </a:p>
          <a:p>
            <a:pPr marL="342900" indent="-342900">
              <a:spcAft>
                <a:spcPts val="1000"/>
              </a:spcAft>
              <a:buSzPct val="100000"/>
              <a:buChar char="•"/>
            </a:pPr>
            <a:r>
              <a:rPr lang="en-US" sz="1500" dirty="0">
                <a:solidFill>
                  <a:schemeClr val="bg1"/>
                </a:solidFill>
              </a:rPr>
              <a:t>Batch mode: process a whole folder, one CSV</a:t>
            </a:r>
            <a:endParaRPr lang="en-US" sz="15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74320"/>
          </a:xfrm>
          <a:prstGeom prst="rect">
            <a:avLst/>
          </a:prstGeom>
          <a:noFill/>
          <a:ln/>
        </p:spPr>
        <p:txBody>
          <a:bodyPr wrap="square" lIns="0" tIns="0" rIns="0" bIns="0" rtlCol="0"/>
          <a:lstStyle/>
          <a:p>
            <a:pPr indent="0" marL="0">
              <a:buNone/>
            </a:pPr>
            <a:r>
              <a:rPr lang="en-US" sz="1200" b="1" spc="200" kern="0" dirty="0">
                <a:solidFill>
                  <a:schemeClr val="accent3"/>
                </a:solidFill>
              </a:rPr>
              <a:t>09  ·  CONCLUSION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4" name="takeaway 0"/>
          <p:cNvSpPr/>
          <p:nvPr/>
        </p:nvSpPr>
        <p:spPr>
          <a:xfrm>
            <a:off x="548640" y="1691640"/>
            <a:ext cx="2615184" cy="2514600"/>
          </a:xfrm>
          <a:prstGeom prst="roundRect">
            <a:avLst>
              <a:gd name="adj" fmla="val 2909"/>
            </a:avLst>
          </a:prstGeom>
          <a:solidFill>
            <a:schemeClr val="tx1"/>
          </a:solidFill>
          <a:ln/>
          <a:effectLst>
            <a:outerShdw sx="100000" sy="100000" kx="0" ky="0" algn="bl" rotWithShape="0" blurRad="127000" dist="25400" dir="5400000">
              <a:srgbClr val="1B1A33">
                <a:alpha val="8000"/>
              </a:srgbClr>
            </a:outerShdw>
          </a:effectLst>
        </p:spPr>
      </p:sp>
      <p:sp>
        <p:nvSpPr>
          <p:cNvPr id="5" name="icon LuWorkflow"/>
          <p:cNvSpPr/>
          <p:nvPr/>
        </p:nvSpPr>
        <p:spPr>
          <a:xfrm>
            <a:off x="822960" y="1920240"/>
            <a:ext cx="594360" cy="594360"/>
          </a:xfrm>
          <a:prstGeom prst="ellipse">
            <a:avLst/>
          </a:prstGeom>
          <a:solidFill>
            <a:schemeClr val="accent3"/>
          </a:solidFill>
          <a:ln/>
        </p:spPr>
      </p:sp>
      <p:pic>
        <p:nvPicPr>
          <p:cNvPr id="6" name="LuWorkflow" descr="preencoded.png">    </p:cNvPr>
          <p:cNvPicPr>
            <a:picLocks noChangeAspect="1"/>
          </p:cNvPicPr>
          <p:nvPr/>
        </p:nvPicPr>
        <p:blipFill>
          <a:blip r:embed="rId1"/>
          <a:stretch>
            <a:fillRect/>
          </a:stretch>
        </p:blipFill>
        <p:spPr>
          <a:xfrm>
            <a:off x="971550" y="2068830"/>
            <a:ext cx="297180" cy="297180"/>
          </a:xfrm>
          <a:prstGeom prst="rect">
            <a:avLst/>
          </a:prstGeom>
        </p:spPr>
      </p:pic>
      <p:sp>
        <p:nvSpPr>
          <p:cNvPr id="7" name="Text 4"/>
          <p:cNvSpPr txBox="1"/>
          <p:nvPr/>
        </p:nvSpPr>
        <p:spPr>
          <a:xfrm>
            <a:off x="822960" y="2697480"/>
            <a:ext cx="2148840" cy="365760"/>
          </a:xfrm>
          <a:prstGeom prst="rect">
            <a:avLst/>
          </a:prstGeom>
          <a:noFill/>
          <a:ln/>
        </p:spPr>
        <p:txBody>
          <a:bodyPr wrap="square" lIns="0" tIns="0" rIns="0" bIns="0" rtlCol="0" anchor="t"/>
          <a:lstStyle/>
          <a:p>
            <a:pPr indent="0" marL="0">
              <a:buNone/>
            </a:pPr>
            <a:r>
              <a:rPr lang="en-US" sz="1700" b="1" dirty="0">
                <a:solidFill>
                  <a:schemeClr val="bg1"/>
                </a:solidFill>
              </a:rPr>
              <a:t>Complete system</a:t>
            </a:r>
            <a:endParaRPr lang="en-US" sz="1700" dirty="0"/>
          </a:p>
        </p:txBody>
      </p:sp>
      <p:sp>
        <p:nvSpPr>
          <p:cNvPr id="8" name="Text 5"/>
          <p:cNvSpPr txBox="1"/>
          <p:nvPr/>
        </p:nvSpPr>
        <p:spPr>
          <a:xfrm>
            <a:off x="822960" y="3108960"/>
            <a:ext cx="2148840" cy="1005840"/>
          </a:xfrm>
          <a:prstGeom prst="rect">
            <a:avLst/>
          </a:prstGeom>
          <a:noFill/>
          <a:ln/>
        </p:spPr>
        <p:txBody>
          <a:bodyPr wrap="square" lIns="0" tIns="0" rIns="0" bIns="0" rtlCol="0" anchor="t"/>
          <a:lstStyle/>
          <a:p>
            <a:pPr indent="0" marL="0">
              <a:buNone/>
            </a:pPr>
            <a:r>
              <a:rPr lang="en-US" sz="1300" dirty="0">
                <a:solidFill>
                  <a:srgbClr val="B9B3D9"/>
                </a:solidFill>
              </a:rPr>
              <a:t>Stained image in → numbered cells, areas, histogram and CSV out</a:t>
            </a:r>
            <a:endParaRPr lang="en-US" sz="1300" dirty="0"/>
          </a:p>
        </p:txBody>
      </p:sp>
      <p:sp>
        <p:nvSpPr>
          <p:cNvPr id="9" name="takeaway 1"/>
          <p:cNvSpPr/>
          <p:nvPr/>
        </p:nvSpPr>
        <p:spPr>
          <a:xfrm>
            <a:off x="3364992" y="1691640"/>
            <a:ext cx="2615184" cy="2514600"/>
          </a:xfrm>
          <a:prstGeom prst="roundRect">
            <a:avLst>
              <a:gd name="adj" fmla="val 2909"/>
            </a:avLst>
          </a:prstGeom>
          <a:solidFill>
            <a:schemeClr val="tx1"/>
          </a:solidFill>
          <a:ln/>
          <a:effectLst>
            <a:outerShdw sx="100000" sy="100000" kx="0" ky="0" algn="bl" rotWithShape="0" blurRad="127000" dist="25400" dir="5400000">
              <a:srgbClr val="1B1A33">
                <a:alpha val="8000"/>
              </a:srgbClr>
            </a:outerShdw>
          </a:effectLst>
        </p:spPr>
      </p:sp>
      <p:sp>
        <p:nvSpPr>
          <p:cNvPr id="10" name="icon LuBrainCircuit"/>
          <p:cNvSpPr/>
          <p:nvPr/>
        </p:nvSpPr>
        <p:spPr>
          <a:xfrm>
            <a:off x="3639312" y="1920240"/>
            <a:ext cx="594360" cy="594360"/>
          </a:xfrm>
          <a:prstGeom prst="ellipse">
            <a:avLst/>
          </a:prstGeom>
          <a:solidFill>
            <a:schemeClr val="accent3"/>
          </a:solidFill>
          <a:ln/>
        </p:spPr>
      </p:sp>
      <p:pic>
        <p:nvPicPr>
          <p:cNvPr id="11" name="LuBrainCircuit" descr="preencoded.png">    </p:cNvPr>
          <p:cNvPicPr>
            <a:picLocks noChangeAspect="1"/>
          </p:cNvPicPr>
          <p:nvPr/>
        </p:nvPicPr>
        <p:blipFill>
          <a:blip r:embed="rId2"/>
          <a:stretch>
            <a:fillRect/>
          </a:stretch>
        </p:blipFill>
        <p:spPr>
          <a:xfrm>
            <a:off x="3787902" y="2068830"/>
            <a:ext cx="297180" cy="297180"/>
          </a:xfrm>
          <a:prstGeom prst="rect">
            <a:avLst/>
          </a:prstGeom>
        </p:spPr>
      </p:pic>
      <p:sp>
        <p:nvSpPr>
          <p:cNvPr id="12" name="Text 8"/>
          <p:cNvSpPr txBox="1"/>
          <p:nvPr/>
        </p:nvSpPr>
        <p:spPr>
          <a:xfrm>
            <a:off x="3639312" y="2697480"/>
            <a:ext cx="2148840" cy="365760"/>
          </a:xfrm>
          <a:prstGeom prst="rect">
            <a:avLst/>
          </a:prstGeom>
          <a:noFill/>
          <a:ln/>
        </p:spPr>
        <p:txBody>
          <a:bodyPr wrap="square" lIns="0" tIns="0" rIns="0" bIns="0" rtlCol="0" anchor="t"/>
          <a:lstStyle/>
          <a:p>
            <a:pPr indent="0" marL="0">
              <a:buNone/>
            </a:pPr>
            <a:r>
              <a:rPr lang="en-US" sz="1700" b="1" dirty="0">
                <a:solidFill>
                  <a:schemeClr val="bg1"/>
                </a:solidFill>
              </a:rPr>
              <a:t>AI + classic vision</a:t>
            </a:r>
            <a:endParaRPr lang="en-US" sz="1700" dirty="0"/>
          </a:p>
        </p:txBody>
      </p:sp>
      <p:sp>
        <p:nvSpPr>
          <p:cNvPr id="13" name="Text 9"/>
          <p:cNvSpPr txBox="1"/>
          <p:nvPr/>
        </p:nvSpPr>
        <p:spPr>
          <a:xfrm>
            <a:off x="3639312" y="3108960"/>
            <a:ext cx="2148840" cy="1005840"/>
          </a:xfrm>
          <a:prstGeom prst="rect">
            <a:avLst/>
          </a:prstGeom>
          <a:noFill/>
          <a:ln/>
        </p:spPr>
        <p:txBody>
          <a:bodyPr wrap="square" lIns="0" tIns="0" rIns="0" bIns="0" rtlCol="0" anchor="t"/>
          <a:lstStyle/>
          <a:p>
            <a:pPr indent="0" marL="0">
              <a:buNone/>
            </a:pPr>
            <a:r>
              <a:rPr lang="en-US" sz="1300" dirty="0">
                <a:solidFill>
                  <a:srgbClr val="B9B3D9"/>
                </a:solidFill>
              </a:rPr>
              <a:t>U-Net (test Dice 0.915) with distance transform + watershed</a:t>
            </a:r>
            <a:endParaRPr lang="en-US" sz="1300" dirty="0"/>
          </a:p>
        </p:txBody>
      </p:sp>
      <p:sp>
        <p:nvSpPr>
          <p:cNvPr id="14" name="takeaway 2"/>
          <p:cNvSpPr/>
          <p:nvPr/>
        </p:nvSpPr>
        <p:spPr>
          <a:xfrm>
            <a:off x="6181344" y="1691640"/>
            <a:ext cx="2615184" cy="2514600"/>
          </a:xfrm>
          <a:prstGeom prst="roundRect">
            <a:avLst>
              <a:gd name="adj" fmla="val 2909"/>
            </a:avLst>
          </a:prstGeom>
          <a:solidFill>
            <a:schemeClr val="tx1"/>
          </a:solidFill>
          <a:ln/>
          <a:effectLst>
            <a:outerShdw sx="100000" sy="100000" kx="0" ky="0" algn="bl" rotWithShape="0" blurRad="127000" dist="25400" dir="5400000">
              <a:srgbClr val="1B1A33">
                <a:alpha val="8000"/>
              </a:srgbClr>
            </a:outerShdw>
          </a:effectLst>
        </p:spPr>
      </p:sp>
      <p:sp>
        <p:nvSpPr>
          <p:cNvPr id="15" name="icon LuTarget"/>
          <p:cNvSpPr/>
          <p:nvPr/>
        </p:nvSpPr>
        <p:spPr>
          <a:xfrm>
            <a:off x="6455664" y="1920240"/>
            <a:ext cx="594360" cy="594360"/>
          </a:xfrm>
          <a:prstGeom prst="ellipse">
            <a:avLst/>
          </a:prstGeom>
          <a:solidFill>
            <a:schemeClr val="accent3"/>
          </a:solidFill>
          <a:ln/>
        </p:spPr>
      </p:sp>
      <p:pic>
        <p:nvPicPr>
          <p:cNvPr id="16" name="LuTarget" descr="preencoded.png">    </p:cNvPr>
          <p:cNvPicPr>
            <a:picLocks noChangeAspect="1"/>
          </p:cNvPicPr>
          <p:nvPr/>
        </p:nvPicPr>
        <p:blipFill>
          <a:blip r:embed="rId3"/>
          <a:stretch>
            <a:fillRect/>
          </a:stretch>
        </p:blipFill>
        <p:spPr>
          <a:xfrm>
            <a:off x="6604254" y="2068830"/>
            <a:ext cx="297180" cy="297180"/>
          </a:xfrm>
          <a:prstGeom prst="rect">
            <a:avLst/>
          </a:prstGeom>
        </p:spPr>
      </p:pic>
      <p:sp>
        <p:nvSpPr>
          <p:cNvPr id="17" name="Text 12"/>
          <p:cNvSpPr txBox="1"/>
          <p:nvPr/>
        </p:nvSpPr>
        <p:spPr>
          <a:xfrm>
            <a:off x="6455664" y="2697480"/>
            <a:ext cx="2148840" cy="365760"/>
          </a:xfrm>
          <a:prstGeom prst="rect">
            <a:avLst/>
          </a:prstGeom>
          <a:noFill/>
          <a:ln/>
        </p:spPr>
        <p:txBody>
          <a:bodyPr wrap="square" lIns="0" tIns="0" rIns="0" bIns="0" rtlCol="0" anchor="t"/>
          <a:lstStyle/>
          <a:p>
            <a:pPr indent="0" marL="0">
              <a:buNone/>
            </a:pPr>
            <a:r>
              <a:rPr lang="en-US" sz="1700" b="1" dirty="0">
                <a:solidFill>
                  <a:schemeClr val="bg1"/>
                </a:solidFill>
              </a:rPr>
              <a:t>Tuned the right way</a:t>
            </a:r>
            <a:endParaRPr lang="en-US" sz="1700" dirty="0"/>
          </a:p>
        </p:txBody>
      </p:sp>
      <p:sp>
        <p:nvSpPr>
          <p:cNvPr id="18" name="Text 13"/>
          <p:cNvSpPr txBox="1"/>
          <p:nvPr/>
        </p:nvSpPr>
        <p:spPr>
          <a:xfrm>
            <a:off x="6455664" y="3108960"/>
            <a:ext cx="2148840" cy="1005840"/>
          </a:xfrm>
          <a:prstGeom prst="rect">
            <a:avLst/>
          </a:prstGeom>
          <a:noFill/>
          <a:ln/>
        </p:spPr>
        <p:txBody>
          <a:bodyPr wrap="square" lIns="0" tIns="0" rIns="0" bIns="0" rtlCol="0" anchor="t"/>
          <a:lstStyle/>
          <a:p>
            <a:pPr indent="0" marL="0">
              <a:buNone/>
            </a:pPr>
            <a:r>
              <a:rPr lang="en-US" sz="1300" dirty="0">
                <a:solidFill>
                  <a:srgbClr val="B9B3D9"/>
                </a:solidFill>
              </a:rPr>
              <a:t>Chosen on validation data: F1 0.852, median count error 6.9 %</a:t>
            </a:r>
            <a:endParaRPr lang="en-US" sz="1300" dirty="0"/>
          </a:p>
        </p:txBody>
      </p:sp>
      <p:sp>
        <p:nvSpPr>
          <p:cNvPr id="19" name="takeaway 3"/>
          <p:cNvSpPr/>
          <p:nvPr/>
        </p:nvSpPr>
        <p:spPr>
          <a:xfrm>
            <a:off x="8997696" y="1691640"/>
            <a:ext cx="2615184" cy="2514600"/>
          </a:xfrm>
          <a:prstGeom prst="roundRect">
            <a:avLst>
              <a:gd name="adj" fmla="val 2909"/>
            </a:avLst>
          </a:prstGeom>
          <a:solidFill>
            <a:schemeClr val="tx1"/>
          </a:solidFill>
          <a:ln/>
          <a:effectLst>
            <a:outerShdw sx="100000" sy="100000" kx="0" ky="0" algn="bl" rotWithShape="0" blurRad="127000" dist="25400" dir="5400000">
              <a:srgbClr val="1B1A33">
                <a:alpha val="8000"/>
              </a:srgbClr>
            </a:outerShdw>
          </a:effectLst>
        </p:spPr>
      </p:sp>
      <p:sp>
        <p:nvSpPr>
          <p:cNvPr id="20" name="icon LuShieldCheck"/>
          <p:cNvSpPr/>
          <p:nvPr/>
        </p:nvSpPr>
        <p:spPr>
          <a:xfrm>
            <a:off x="9272016" y="1920240"/>
            <a:ext cx="594360" cy="594360"/>
          </a:xfrm>
          <a:prstGeom prst="ellipse">
            <a:avLst/>
          </a:prstGeom>
          <a:solidFill>
            <a:schemeClr val="accent3"/>
          </a:solidFill>
          <a:ln/>
        </p:spPr>
      </p:sp>
      <p:pic>
        <p:nvPicPr>
          <p:cNvPr id="21" name="LuShieldCheck" descr="preencoded.png">    </p:cNvPr>
          <p:cNvPicPr>
            <a:picLocks noChangeAspect="1"/>
          </p:cNvPicPr>
          <p:nvPr/>
        </p:nvPicPr>
        <p:blipFill>
          <a:blip r:embed="rId4"/>
          <a:stretch>
            <a:fillRect/>
          </a:stretch>
        </p:blipFill>
        <p:spPr>
          <a:xfrm>
            <a:off x="9420606" y="2068830"/>
            <a:ext cx="297180" cy="297180"/>
          </a:xfrm>
          <a:prstGeom prst="rect">
            <a:avLst/>
          </a:prstGeom>
        </p:spPr>
      </p:pic>
      <p:sp>
        <p:nvSpPr>
          <p:cNvPr id="22" name="Text 16"/>
          <p:cNvSpPr txBox="1"/>
          <p:nvPr/>
        </p:nvSpPr>
        <p:spPr>
          <a:xfrm>
            <a:off x="9272016" y="2697480"/>
            <a:ext cx="2148840" cy="365760"/>
          </a:xfrm>
          <a:prstGeom prst="rect">
            <a:avLst/>
          </a:prstGeom>
          <a:noFill/>
          <a:ln/>
        </p:spPr>
        <p:txBody>
          <a:bodyPr wrap="square" lIns="0" tIns="0" rIns="0" bIns="0" rtlCol="0" anchor="t"/>
          <a:lstStyle/>
          <a:p>
            <a:pPr indent="0" marL="0">
              <a:buNone/>
            </a:pPr>
            <a:r>
              <a:rPr lang="en-US" sz="1700" b="1" dirty="0">
                <a:solidFill>
                  <a:schemeClr val="bg1"/>
                </a:solidFill>
              </a:rPr>
              <a:t>Usable and robust</a:t>
            </a:r>
            <a:endParaRPr lang="en-US" sz="1700" dirty="0"/>
          </a:p>
        </p:txBody>
      </p:sp>
      <p:sp>
        <p:nvSpPr>
          <p:cNvPr id="23" name="Text 17"/>
          <p:cNvSpPr txBox="1"/>
          <p:nvPr/>
        </p:nvSpPr>
        <p:spPr>
          <a:xfrm>
            <a:off x="9272016" y="3108960"/>
            <a:ext cx="2148840" cy="1005840"/>
          </a:xfrm>
          <a:prstGeom prst="rect">
            <a:avLst/>
          </a:prstGeom>
          <a:noFill/>
          <a:ln/>
        </p:spPr>
        <p:txBody>
          <a:bodyPr wrap="square" lIns="0" tIns="0" rIns="0" bIns="0" rtlCol="0" anchor="t"/>
          <a:lstStyle/>
          <a:p>
            <a:pPr indent="0" marL="0">
              <a:buNone/>
            </a:pPr>
            <a:r>
              <a:rPr lang="en-US" sz="1300" dirty="0">
                <a:solidFill>
                  <a:srgbClr val="B9B3D9"/>
                </a:solidFill>
              </a:rPr>
              <a:t>Local web app, GPU/CPU fallback, 58 tests, 29 logged iterations</a:t>
            </a:r>
            <a:endParaRPr lang="en-US" sz="1300" dirty="0"/>
          </a:p>
        </p:txBody>
      </p:sp>
      <p:sp>
        <p:nvSpPr>
          <p:cNvPr id="24" name="Text 18"/>
          <p:cNvSpPr txBox="1"/>
          <p:nvPr/>
        </p:nvSpPr>
        <p:spPr>
          <a:xfrm>
            <a:off x="548640" y="4572000"/>
            <a:ext cx="7315200" cy="8229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25" name="Text 19"/>
          <p:cNvSpPr txBox="1"/>
          <p:nvPr/>
        </p:nvSpPr>
        <p:spPr>
          <a:xfrm>
            <a:off x="548640" y="5394960"/>
            <a:ext cx="7315200" cy="548640"/>
          </a:xfrm>
          <a:prstGeom prst="rect">
            <a:avLst/>
          </a:prstGeom>
          <a:noFill/>
          <a:ln/>
        </p:spPr>
        <p:txBody>
          <a:bodyPr wrap="square" lIns="0" tIns="0" rIns="0" bIns="0" rtlCol="0" anchor="t"/>
          <a:lstStyle/>
          <a:p>
            <a:pPr indent="0" marL="0">
              <a:buNone/>
            </a:pPr>
            <a:r>
              <a:rPr lang="en-US" sz="2400" i="1" dirty="0">
                <a:solidFill>
                  <a:schemeClr val="accent3"/>
                </a:solidFill>
                <a:latin typeface="Cambria" pitchFamily="34" charset="0"/>
                <a:ea typeface="Cambria" pitchFamily="34" charset="-122"/>
                <a:cs typeface="Cambria" pitchFamily="34" charset="-120"/>
              </a:rPr>
              <a:t>Questions?</a:t>
            </a:r>
            <a:endParaRPr lang="en-US" sz="2400" dirty="0"/>
          </a:p>
        </p:txBody>
      </p:sp>
      <p:sp>
        <p:nvSpPr>
          <p:cNvPr id="25" name="Slide Number Placeholder 0"/>
          <p:cNvSpPr>
            <a:spLocks noGrp="1"/>
          </p:cNvSpPr>
          <p:nvPr>
            <p:ph type="sldNum" sz="quarter" idx="4294967295"/>
          </p:nvPr>
        </p:nvSpPr>
        <p:spPr>
          <a:xfrm>
            <a:off x="10881360" y="6419088"/>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9B3D9"/>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Cell Stain">
  <a:themeElements>
    <a:clrScheme name="Cell Stain">
      <a:dk1>
        <a:srgbClr val="1B1A33"/>
      </a:dk1>
      <a:lt1>
        <a:srgbClr val="FFFFFF"/>
      </a:lt1>
      <a:dk2>
        <a:srgbClr val="241B4F"/>
      </a:dk2>
      <a:lt2>
        <a:srgbClr val="F4F6F9"/>
      </a:lt2>
      <a:accent1>
        <a:srgbClr val="5B3FD1"/>
      </a:accent1>
      <a:accent2>
        <a:srgbClr val="0E9384"/>
      </a:accent2>
      <a:accent3>
        <a:srgbClr val="D6457A"/>
      </a:accent3>
      <a:accent4>
        <a:srgbClr val="E08A1E"/>
      </a:accent4>
      <a:accent5>
        <a:srgbClr val="64748B"/>
      </a:accent5>
      <a:accent6>
        <a:srgbClr val="2563EB"/>
      </a:accent6>
      <a:hlink>
        <a:srgbClr val="5B3FD1"/>
      </a:hlink>
      <a:folHlink>
        <a:srgbClr val="241B4F"/>
      </a:folHlink>
    </a:clrScheme>
    <a:fontScheme name="Cell St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Microscopic Cell Image - Adhesion Segmentation and Automatic Counting</dc:title>
  <dc:subject>Introduction to AI final project, Topic 3</dc:subject>
  <dc:creator>PptxGenJS</dc:creator>
  <cp:lastModifiedBy>PptxGenJS</cp:lastModifiedBy>
  <cp:revision>1</cp:revision>
  <dcterms:created xsi:type="dcterms:W3CDTF">2026-10-12T14:34:48Z</dcterms:created>
  <dcterms:modified xsi:type="dcterms:W3CDTF">2026-10-12T14:34:48Z</dcterms:modified>
</cp:coreProperties>
</file>